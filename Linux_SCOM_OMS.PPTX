
<file path=[Content_Types].xml><?xml version="1.0" encoding="utf-8"?>
<Types xmlns="http://schemas.openxmlformats.org/package/2006/content-types">
  <Default Extension="png" ContentType="image/png"/>
  <Default Extension="jpeg" ContentType="image/jpeg"/>
  <Default Extension="wmf" ContentType="image/x-wmf"/>
  <Default Extension="emf" ContentType="image/x-e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81" r:id="rId5"/>
    <p:sldId id="282" r:id="rId6"/>
    <p:sldId id="283" r:id="rId7"/>
    <p:sldId id="284" r:id="rId8"/>
    <p:sldId id="285" r:id="rId9"/>
    <p:sldId id="301" r:id="rId10"/>
    <p:sldId id="286" r:id="rId11"/>
    <p:sldId id="287" r:id="rId12"/>
    <p:sldId id="289" r:id="rId13"/>
    <p:sldId id="290" r:id="rId14"/>
    <p:sldId id="292" r:id="rId15"/>
    <p:sldId id="297" r:id="rId16"/>
    <p:sldId id="294" r:id="rId17"/>
    <p:sldId id="295" r:id="rId18"/>
    <p:sldId id="299" r:id="rId19"/>
    <p:sldId id="258" r:id="rId20"/>
    <p:sldId id="309" r:id="rId21"/>
    <p:sldId id="303" r:id="rId22"/>
    <p:sldId id="265" r:id="rId23"/>
    <p:sldId id="310" r:id="rId24"/>
    <p:sldId id="307" r:id="rId25"/>
    <p:sldId id="306" r:id="rId26"/>
    <p:sldId id="305" r:id="rId27"/>
    <p:sldId id="278" r:id="rId28"/>
    <p:sldId id="300" r:id="rId29"/>
    <p:sldId id="308" r:id="rId30"/>
  </p:sldIdLst>
  <p:sldSz cx="9144000" cy="5143500" type="screen16x9"/>
  <p:notesSz cx="7315200" cy="96012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orient="horz" pos="169">
          <p15:clr>
            <a:srgbClr val="A4A3A4"/>
          </p15:clr>
        </p15:guide>
        <p15:guide id="3" orient="horz" pos="2210">
          <p15:clr>
            <a:srgbClr val="A4A3A4"/>
          </p15:clr>
        </p15:guide>
        <p15:guide id="4" orient="horz" pos="2981">
          <p15:clr>
            <a:srgbClr val="A4A3A4"/>
          </p15:clr>
        </p15:guide>
        <p15:guide id="5" orient="horz" pos="758">
          <p15:clr>
            <a:srgbClr val="A4A3A4"/>
          </p15:clr>
        </p15:guide>
        <p15:guide id="6" pos="2880">
          <p15:clr>
            <a:srgbClr val="A4A3A4"/>
          </p15:clr>
        </p15:guide>
        <p15:guide id="7" pos="158">
          <p15:clr>
            <a:srgbClr val="A4A3A4"/>
          </p15:clr>
        </p15:guide>
        <p15:guide id="8" pos="5602">
          <p15:clr>
            <a:srgbClr val="A4A3A4"/>
          </p15:clr>
        </p15:guide>
        <p15:guide id="9" pos="612">
          <p15:clr>
            <a:srgbClr val="A4A3A4"/>
          </p15:clr>
        </p15:guide>
        <p15:guide id="10">
          <p15:clr>
            <a:srgbClr val="A4A3A4"/>
          </p15:clr>
        </p15:guide>
        <p15:guide id="11" pos="4876">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88F"/>
    <a:srgbClr val="0078D7"/>
    <a:srgbClr val="232323"/>
    <a:srgbClr val="1F1F1F"/>
    <a:srgbClr val="0D0D0D"/>
    <a:srgbClr val="9E0000"/>
    <a:srgbClr val="82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35" autoAdjust="0"/>
    <p:restoredTop sz="67967" autoAdjust="0"/>
  </p:normalViewPr>
  <p:slideViewPr>
    <p:cSldViewPr showGuides="1">
      <p:cViewPr varScale="1">
        <p:scale>
          <a:sx n="100" d="100"/>
          <a:sy n="100" d="100"/>
        </p:scale>
        <p:origin x="1854" y="84"/>
      </p:cViewPr>
      <p:guideLst>
        <p:guide orient="horz" pos="1620"/>
        <p:guide orient="horz" pos="169"/>
        <p:guide orient="horz" pos="2210"/>
        <p:guide orient="horz" pos="2981"/>
        <p:guide orient="horz" pos="758"/>
        <p:guide pos="2880"/>
        <p:guide pos="158"/>
        <p:guide pos="5602"/>
        <p:guide pos="612"/>
        <p:guide/>
        <p:guide pos="4876"/>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p:cViewPr varScale="1">
        <p:scale>
          <a:sx n="115" d="100"/>
          <a:sy n="115" d="100"/>
        </p:scale>
        <p:origin x="2412"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4B3A59-111E-4836-8411-D9ADC14B34BD}" type="doc">
      <dgm:prSet loTypeId="urn:microsoft.com/office/officeart/2005/8/layout/hList3" loCatId="list" qsTypeId="urn:microsoft.com/office/officeart/2005/8/quickstyle/simple1" qsCatId="simple" csTypeId="urn:microsoft.com/office/officeart/2005/8/colors/accent1_2" csCatId="accent1" phldr="1"/>
      <dgm:spPr/>
      <dgm:t>
        <a:bodyPr/>
        <a:lstStyle/>
        <a:p>
          <a:endParaRPr lang="en-US"/>
        </a:p>
      </dgm:t>
    </dgm:pt>
    <dgm:pt modelId="{76FF1465-23F7-4BD7-A7C8-85CA71B14579}">
      <dgm:prSet custT="1"/>
      <dgm:spPr>
        <a:solidFill>
          <a:srgbClr val="D0D8E8"/>
        </a:solidFill>
        <a:ln>
          <a:solidFill>
            <a:schemeClr val="tx1"/>
          </a:solidFill>
        </a:ln>
        <a:scene3d>
          <a:camera prst="orthographicFront"/>
          <a:lightRig rig="threePt" dir="t"/>
        </a:scene3d>
        <a:sp3d>
          <a:bevelT/>
        </a:sp3d>
      </dgm:spPr>
      <dgm:t>
        <a:bodyPr/>
        <a:lstStyle/>
        <a:p>
          <a:pPr rtl="0"/>
          <a:r>
            <a:rPr lang="en-US" sz="1600" dirty="0">
              <a:solidFill>
                <a:schemeClr val="tx1"/>
              </a:solidFill>
            </a:rPr>
            <a:t>Health and performance monitoring in Microsoft’s Linux/UNIX management packs</a:t>
          </a:r>
        </a:p>
      </dgm:t>
    </dgm:pt>
    <dgm:pt modelId="{12E79DB9-52E0-4EF2-89DB-EBC366C363AA}" type="parTrans" cxnId="{2CA86B19-A18B-49A2-A3D7-41504EF4CDE1}">
      <dgm:prSet/>
      <dgm:spPr/>
      <dgm:t>
        <a:bodyPr/>
        <a:lstStyle/>
        <a:p>
          <a:endParaRPr lang="en-US" sz="1000"/>
        </a:p>
      </dgm:t>
    </dgm:pt>
    <dgm:pt modelId="{79F6B9E5-1F55-4B84-8EB4-998A5657411B}" type="sibTrans" cxnId="{2CA86B19-A18B-49A2-A3D7-41504EF4CDE1}">
      <dgm:prSet/>
      <dgm:spPr/>
      <dgm:t>
        <a:bodyPr/>
        <a:lstStyle/>
        <a:p>
          <a:endParaRPr lang="en-US" sz="1000"/>
        </a:p>
      </dgm:t>
    </dgm:pt>
    <dgm:pt modelId="{F13CFCF3-AA39-44D0-B8CC-AC40F670E879}">
      <dgm:prSet custT="1"/>
      <dgm:spPr>
        <a:ln>
          <a:solidFill>
            <a:schemeClr val="tx1"/>
          </a:solidFill>
        </a:ln>
        <a:scene3d>
          <a:camera prst="orthographicFront"/>
          <a:lightRig rig="threePt" dir="t"/>
        </a:scene3d>
        <a:sp3d>
          <a:bevelT/>
        </a:sp3d>
      </dgm:spPr>
      <dgm:t>
        <a:bodyPr lIns="0" rIns="0"/>
        <a:lstStyle/>
        <a:p>
          <a:pPr rtl="0"/>
          <a:r>
            <a:rPr lang="en-US" sz="1400" dirty="0"/>
            <a:t>CPU</a:t>
          </a:r>
        </a:p>
      </dgm:t>
    </dgm:pt>
    <dgm:pt modelId="{FB283496-CBA8-40CD-A0C1-4B1ACC813DB7}" type="parTrans" cxnId="{3C68D490-8E94-4DFB-B08A-EDE07393E392}">
      <dgm:prSet/>
      <dgm:spPr/>
      <dgm:t>
        <a:bodyPr/>
        <a:lstStyle/>
        <a:p>
          <a:endParaRPr lang="en-US" sz="1000"/>
        </a:p>
      </dgm:t>
    </dgm:pt>
    <dgm:pt modelId="{D6B799A3-D754-4761-A763-0AF408A1D5A5}" type="sibTrans" cxnId="{3C68D490-8E94-4DFB-B08A-EDE07393E392}">
      <dgm:prSet/>
      <dgm:spPr/>
      <dgm:t>
        <a:bodyPr/>
        <a:lstStyle/>
        <a:p>
          <a:endParaRPr lang="en-US" sz="1000"/>
        </a:p>
      </dgm:t>
    </dgm:pt>
    <dgm:pt modelId="{E3FF7831-D505-46D1-8F0D-487FACD5CA62}">
      <dgm:prSet custT="1"/>
      <dgm:spPr>
        <a:ln>
          <a:solidFill>
            <a:schemeClr val="tx1"/>
          </a:solidFill>
        </a:ln>
        <a:scene3d>
          <a:camera prst="orthographicFront"/>
          <a:lightRig rig="threePt" dir="t"/>
        </a:scene3d>
        <a:sp3d>
          <a:bevelT/>
        </a:sp3d>
      </dgm:spPr>
      <dgm:t>
        <a:bodyPr lIns="0" rIns="0"/>
        <a:lstStyle/>
        <a:p>
          <a:pPr rtl="0"/>
          <a:r>
            <a:rPr lang="en-US" sz="1400" dirty="0"/>
            <a:t>Memory</a:t>
          </a:r>
        </a:p>
      </dgm:t>
    </dgm:pt>
    <dgm:pt modelId="{AAEB5CEA-DB60-46C6-8FB0-296648625E1B}" type="parTrans" cxnId="{5646738E-004E-44CB-BC0C-CFE13D2AA10F}">
      <dgm:prSet/>
      <dgm:spPr/>
      <dgm:t>
        <a:bodyPr/>
        <a:lstStyle/>
        <a:p>
          <a:endParaRPr lang="en-US" sz="1000"/>
        </a:p>
      </dgm:t>
    </dgm:pt>
    <dgm:pt modelId="{39C45E00-860A-4625-B262-EDD1A7ECBEED}" type="sibTrans" cxnId="{5646738E-004E-44CB-BC0C-CFE13D2AA10F}">
      <dgm:prSet/>
      <dgm:spPr/>
      <dgm:t>
        <a:bodyPr/>
        <a:lstStyle/>
        <a:p>
          <a:endParaRPr lang="en-US" sz="1000"/>
        </a:p>
      </dgm:t>
    </dgm:pt>
    <dgm:pt modelId="{67BC39AD-9A36-434F-A93E-8509E7CB6B91}">
      <dgm:prSet custT="1"/>
      <dgm:spPr>
        <a:ln>
          <a:solidFill>
            <a:schemeClr val="tx1"/>
          </a:solidFill>
        </a:ln>
        <a:scene3d>
          <a:camera prst="orthographicFront"/>
          <a:lightRig rig="threePt" dir="t"/>
        </a:scene3d>
        <a:sp3d>
          <a:bevelT/>
        </a:sp3d>
      </dgm:spPr>
      <dgm:t>
        <a:bodyPr lIns="0" rIns="0"/>
        <a:lstStyle/>
        <a:p>
          <a:pPr rtl="0"/>
          <a:r>
            <a:rPr lang="en-US" sz="1400"/>
            <a:t>Disk</a:t>
          </a:r>
        </a:p>
      </dgm:t>
    </dgm:pt>
    <dgm:pt modelId="{97EBAC1E-17E5-468E-9292-B23BAB674EE8}" type="parTrans" cxnId="{1BD6DB8E-5101-423C-9B00-AA326257816B}">
      <dgm:prSet/>
      <dgm:spPr/>
      <dgm:t>
        <a:bodyPr/>
        <a:lstStyle/>
        <a:p>
          <a:endParaRPr lang="en-US" sz="1000"/>
        </a:p>
      </dgm:t>
    </dgm:pt>
    <dgm:pt modelId="{226BD6BE-2F8E-4D93-BB3E-037BD32F267A}" type="sibTrans" cxnId="{1BD6DB8E-5101-423C-9B00-AA326257816B}">
      <dgm:prSet/>
      <dgm:spPr/>
      <dgm:t>
        <a:bodyPr/>
        <a:lstStyle/>
        <a:p>
          <a:endParaRPr lang="en-US" sz="1000"/>
        </a:p>
      </dgm:t>
    </dgm:pt>
    <dgm:pt modelId="{F35E8165-6C2A-41C6-B3F0-21A79337B3DC}">
      <dgm:prSet custT="1"/>
      <dgm:spPr>
        <a:ln>
          <a:solidFill>
            <a:schemeClr val="tx1"/>
          </a:solidFill>
        </a:ln>
        <a:scene3d>
          <a:camera prst="orthographicFront"/>
          <a:lightRig rig="threePt" dir="t"/>
        </a:scene3d>
        <a:sp3d>
          <a:bevelT/>
        </a:sp3d>
      </dgm:spPr>
      <dgm:t>
        <a:bodyPr lIns="0" rIns="0"/>
        <a:lstStyle/>
        <a:p>
          <a:pPr rtl="0"/>
          <a:r>
            <a:rPr lang="en-US" sz="1400"/>
            <a:t>Network</a:t>
          </a:r>
        </a:p>
      </dgm:t>
    </dgm:pt>
    <dgm:pt modelId="{715BFAAA-6DBD-401C-A6D2-B7B4383CC672}" type="parTrans" cxnId="{68F932A8-6F97-431D-AA9C-26F6884549D9}">
      <dgm:prSet/>
      <dgm:spPr/>
      <dgm:t>
        <a:bodyPr/>
        <a:lstStyle/>
        <a:p>
          <a:endParaRPr lang="en-US" sz="1000"/>
        </a:p>
      </dgm:t>
    </dgm:pt>
    <dgm:pt modelId="{77532E8C-3119-4C94-B1F0-815300574E35}" type="sibTrans" cxnId="{68F932A8-6F97-431D-AA9C-26F6884549D9}">
      <dgm:prSet/>
      <dgm:spPr/>
      <dgm:t>
        <a:bodyPr/>
        <a:lstStyle/>
        <a:p>
          <a:endParaRPr lang="en-US" sz="1000"/>
        </a:p>
      </dgm:t>
    </dgm:pt>
    <dgm:pt modelId="{E83D363A-7333-4062-B214-6F4B8F524E17}">
      <dgm:prSet custT="1"/>
      <dgm:spPr>
        <a:ln>
          <a:solidFill>
            <a:schemeClr val="tx1"/>
          </a:solidFill>
        </a:ln>
        <a:scene3d>
          <a:camera prst="orthographicFront"/>
          <a:lightRig rig="threePt" dir="t"/>
        </a:scene3d>
        <a:sp3d>
          <a:bevelT/>
        </a:sp3d>
      </dgm:spPr>
      <dgm:t>
        <a:bodyPr lIns="0" rIns="0"/>
        <a:lstStyle/>
        <a:p>
          <a:pPr rtl="0"/>
          <a:r>
            <a:rPr lang="en-US" sz="1400"/>
            <a:t>Processes</a:t>
          </a:r>
        </a:p>
      </dgm:t>
    </dgm:pt>
    <dgm:pt modelId="{8B52EC3A-D26F-465A-95AD-704197315ED6}" type="parTrans" cxnId="{40385328-2792-41C5-ABE8-D49CA99A0AD6}">
      <dgm:prSet/>
      <dgm:spPr/>
      <dgm:t>
        <a:bodyPr/>
        <a:lstStyle/>
        <a:p>
          <a:endParaRPr lang="en-US" sz="1000"/>
        </a:p>
      </dgm:t>
    </dgm:pt>
    <dgm:pt modelId="{3D98503D-1C0A-4EEB-816E-72441179F9E4}" type="sibTrans" cxnId="{40385328-2792-41C5-ABE8-D49CA99A0AD6}">
      <dgm:prSet/>
      <dgm:spPr/>
      <dgm:t>
        <a:bodyPr/>
        <a:lstStyle/>
        <a:p>
          <a:endParaRPr lang="en-US" sz="1000"/>
        </a:p>
      </dgm:t>
    </dgm:pt>
    <dgm:pt modelId="{6A383749-DE1B-4C84-AA10-85138B511F5C}">
      <dgm:prSet custT="1"/>
      <dgm:spPr>
        <a:ln>
          <a:solidFill>
            <a:schemeClr val="tx1"/>
          </a:solidFill>
        </a:ln>
        <a:scene3d>
          <a:camera prst="orthographicFront"/>
          <a:lightRig rig="threePt" dir="t"/>
        </a:scene3d>
        <a:sp3d>
          <a:bevelT/>
        </a:sp3d>
      </dgm:spPr>
      <dgm:t>
        <a:bodyPr lIns="0" rIns="0"/>
        <a:lstStyle/>
        <a:p>
          <a:pPr rtl="0"/>
          <a:r>
            <a:rPr lang="en-US" sz="1400"/>
            <a:t>Logfiles</a:t>
          </a:r>
        </a:p>
      </dgm:t>
    </dgm:pt>
    <dgm:pt modelId="{C34A2BE0-F4D4-4063-8A88-AB7C4220C5CC}" type="parTrans" cxnId="{40348E6B-09A1-4313-9350-6F93A7AAEB33}">
      <dgm:prSet/>
      <dgm:spPr/>
      <dgm:t>
        <a:bodyPr/>
        <a:lstStyle/>
        <a:p>
          <a:endParaRPr lang="en-US" sz="1000"/>
        </a:p>
      </dgm:t>
    </dgm:pt>
    <dgm:pt modelId="{B795E23A-4CDF-4224-BA21-37B330EEB47F}" type="sibTrans" cxnId="{40348E6B-09A1-4313-9350-6F93A7AAEB33}">
      <dgm:prSet/>
      <dgm:spPr/>
      <dgm:t>
        <a:bodyPr/>
        <a:lstStyle/>
        <a:p>
          <a:endParaRPr lang="en-US" sz="1000"/>
        </a:p>
      </dgm:t>
    </dgm:pt>
    <dgm:pt modelId="{E13FDA62-90A7-4ED8-B201-D608320EC1FE}" type="pres">
      <dgm:prSet presAssocID="{AA4B3A59-111E-4836-8411-D9ADC14B34BD}" presName="composite" presStyleCnt="0">
        <dgm:presLayoutVars>
          <dgm:chMax val="1"/>
          <dgm:dir/>
          <dgm:resizeHandles val="exact"/>
        </dgm:presLayoutVars>
      </dgm:prSet>
      <dgm:spPr/>
    </dgm:pt>
    <dgm:pt modelId="{6A6B8C70-2176-4669-8FB8-7677562B2B36}" type="pres">
      <dgm:prSet presAssocID="{76FF1465-23F7-4BD7-A7C8-85CA71B14579}" presName="roof" presStyleLbl="dkBgShp" presStyleIdx="0" presStyleCnt="2"/>
      <dgm:spPr/>
    </dgm:pt>
    <dgm:pt modelId="{747FA9A8-F672-43DC-93D8-6BE06864C017}" type="pres">
      <dgm:prSet presAssocID="{76FF1465-23F7-4BD7-A7C8-85CA71B14579}" presName="pillars" presStyleCnt="0"/>
      <dgm:spPr/>
    </dgm:pt>
    <dgm:pt modelId="{2C6D4522-76CF-45F6-926B-AB3718B0FF8F}" type="pres">
      <dgm:prSet presAssocID="{76FF1465-23F7-4BD7-A7C8-85CA71B14579}" presName="pillar1" presStyleLbl="node1" presStyleIdx="0" presStyleCnt="6">
        <dgm:presLayoutVars>
          <dgm:bulletEnabled val="1"/>
        </dgm:presLayoutVars>
      </dgm:prSet>
      <dgm:spPr/>
    </dgm:pt>
    <dgm:pt modelId="{A39B2FCF-B5CD-45C2-BE0E-071B32841F26}" type="pres">
      <dgm:prSet presAssocID="{E3FF7831-D505-46D1-8F0D-487FACD5CA62}" presName="pillarX" presStyleLbl="node1" presStyleIdx="1" presStyleCnt="6">
        <dgm:presLayoutVars>
          <dgm:bulletEnabled val="1"/>
        </dgm:presLayoutVars>
      </dgm:prSet>
      <dgm:spPr/>
    </dgm:pt>
    <dgm:pt modelId="{C16A9BD6-4ACE-400A-AE3E-13115F23B30D}" type="pres">
      <dgm:prSet presAssocID="{67BC39AD-9A36-434F-A93E-8509E7CB6B91}" presName="pillarX" presStyleLbl="node1" presStyleIdx="2" presStyleCnt="6">
        <dgm:presLayoutVars>
          <dgm:bulletEnabled val="1"/>
        </dgm:presLayoutVars>
      </dgm:prSet>
      <dgm:spPr/>
    </dgm:pt>
    <dgm:pt modelId="{460A20A2-61BE-4C76-BCB6-82DDEF141B01}" type="pres">
      <dgm:prSet presAssocID="{F35E8165-6C2A-41C6-B3F0-21A79337B3DC}" presName="pillarX" presStyleLbl="node1" presStyleIdx="3" presStyleCnt="6">
        <dgm:presLayoutVars>
          <dgm:bulletEnabled val="1"/>
        </dgm:presLayoutVars>
      </dgm:prSet>
      <dgm:spPr/>
    </dgm:pt>
    <dgm:pt modelId="{F60D8F8F-1A71-4057-9A3E-6F72A276CA74}" type="pres">
      <dgm:prSet presAssocID="{E83D363A-7333-4062-B214-6F4B8F524E17}" presName="pillarX" presStyleLbl="node1" presStyleIdx="4" presStyleCnt="6">
        <dgm:presLayoutVars>
          <dgm:bulletEnabled val="1"/>
        </dgm:presLayoutVars>
      </dgm:prSet>
      <dgm:spPr/>
    </dgm:pt>
    <dgm:pt modelId="{6D35E0A2-608A-4030-B1F9-B68EC19E4C50}" type="pres">
      <dgm:prSet presAssocID="{6A383749-DE1B-4C84-AA10-85138B511F5C}" presName="pillarX" presStyleLbl="node1" presStyleIdx="5" presStyleCnt="6">
        <dgm:presLayoutVars>
          <dgm:bulletEnabled val="1"/>
        </dgm:presLayoutVars>
      </dgm:prSet>
      <dgm:spPr/>
    </dgm:pt>
    <dgm:pt modelId="{2320E0B1-2A10-4F98-A444-6F315FD86585}" type="pres">
      <dgm:prSet presAssocID="{76FF1465-23F7-4BD7-A7C8-85CA71B14579}" presName="base" presStyleLbl="dkBgShp" presStyleIdx="1" presStyleCnt="2"/>
      <dgm:spPr>
        <a:solidFill>
          <a:srgbClr val="D0D8E8"/>
        </a:solidFill>
        <a:ln>
          <a:solidFill>
            <a:schemeClr val="tx1"/>
          </a:solidFill>
        </a:ln>
        <a:scene3d>
          <a:camera prst="orthographicFront"/>
          <a:lightRig rig="threePt" dir="t"/>
        </a:scene3d>
        <a:sp3d>
          <a:bevelT/>
        </a:sp3d>
      </dgm:spPr>
    </dgm:pt>
  </dgm:ptLst>
  <dgm:cxnLst>
    <dgm:cxn modelId="{1BD6DB8E-5101-423C-9B00-AA326257816B}" srcId="{76FF1465-23F7-4BD7-A7C8-85CA71B14579}" destId="{67BC39AD-9A36-434F-A93E-8509E7CB6B91}" srcOrd="2" destOrd="0" parTransId="{97EBAC1E-17E5-468E-9292-B23BAB674EE8}" sibTransId="{226BD6BE-2F8E-4D93-BB3E-037BD32F267A}"/>
    <dgm:cxn modelId="{3C68D490-8E94-4DFB-B08A-EDE07393E392}" srcId="{76FF1465-23F7-4BD7-A7C8-85CA71B14579}" destId="{F13CFCF3-AA39-44D0-B8CC-AC40F670E879}" srcOrd="0" destOrd="0" parTransId="{FB283496-CBA8-40CD-A0C1-4B1ACC813DB7}" sibTransId="{D6B799A3-D754-4761-A763-0AF408A1D5A5}"/>
    <dgm:cxn modelId="{2CA86B19-A18B-49A2-A3D7-41504EF4CDE1}" srcId="{AA4B3A59-111E-4836-8411-D9ADC14B34BD}" destId="{76FF1465-23F7-4BD7-A7C8-85CA71B14579}" srcOrd="0" destOrd="0" parTransId="{12E79DB9-52E0-4EF2-89DB-EBC366C363AA}" sibTransId="{79F6B9E5-1F55-4B84-8EB4-998A5657411B}"/>
    <dgm:cxn modelId="{0C886ED2-0B53-4486-A77B-4DFB162E765B}" type="presOf" srcId="{6A383749-DE1B-4C84-AA10-85138B511F5C}" destId="{6D35E0A2-608A-4030-B1F9-B68EC19E4C50}" srcOrd="0" destOrd="0" presId="urn:microsoft.com/office/officeart/2005/8/layout/hList3"/>
    <dgm:cxn modelId="{EAC2F911-C640-4BF5-9CE3-3A00A28552D3}" type="presOf" srcId="{F35E8165-6C2A-41C6-B3F0-21A79337B3DC}" destId="{460A20A2-61BE-4C76-BCB6-82DDEF141B01}" srcOrd="0" destOrd="0" presId="urn:microsoft.com/office/officeart/2005/8/layout/hList3"/>
    <dgm:cxn modelId="{6556040D-3492-44D6-B0FD-69B60FB9D5B5}" type="presOf" srcId="{E83D363A-7333-4062-B214-6F4B8F524E17}" destId="{F60D8F8F-1A71-4057-9A3E-6F72A276CA74}" srcOrd="0" destOrd="0" presId="urn:microsoft.com/office/officeart/2005/8/layout/hList3"/>
    <dgm:cxn modelId="{40385328-2792-41C5-ABE8-D49CA99A0AD6}" srcId="{76FF1465-23F7-4BD7-A7C8-85CA71B14579}" destId="{E83D363A-7333-4062-B214-6F4B8F524E17}" srcOrd="4" destOrd="0" parTransId="{8B52EC3A-D26F-465A-95AD-704197315ED6}" sibTransId="{3D98503D-1C0A-4EEB-816E-72441179F9E4}"/>
    <dgm:cxn modelId="{68F932A8-6F97-431D-AA9C-26F6884549D9}" srcId="{76FF1465-23F7-4BD7-A7C8-85CA71B14579}" destId="{F35E8165-6C2A-41C6-B3F0-21A79337B3DC}" srcOrd="3" destOrd="0" parTransId="{715BFAAA-6DBD-401C-A6D2-B7B4383CC672}" sibTransId="{77532E8C-3119-4C94-B1F0-815300574E35}"/>
    <dgm:cxn modelId="{5646738E-004E-44CB-BC0C-CFE13D2AA10F}" srcId="{76FF1465-23F7-4BD7-A7C8-85CA71B14579}" destId="{E3FF7831-D505-46D1-8F0D-487FACD5CA62}" srcOrd="1" destOrd="0" parTransId="{AAEB5CEA-DB60-46C6-8FB0-296648625E1B}" sibTransId="{39C45E00-860A-4625-B262-EDD1A7ECBEED}"/>
    <dgm:cxn modelId="{8B784FA7-F644-4B36-9BD4-66022D6717FC}" type="presOf" srcId="{E3FF7831-D505-46D1-8F0D-487FACD5CA62}" destId="{A39B2FCF-B5CD-45C2-BE0E-071B32841F26}" srcOrd="0" destOrd="0" presId="urn:microsoft.com/office/officeart/2005/8/layout/hList3"/>
    <dgm:cxn modelId="{F0A7B0FA-CFC5-4C89-88ED-D88794491AF7}" type="presOf" srcId="{76FF1465-23F7-4BD7-A7C8-85CA71B14579}" destId="{6A6B8C70-2176-4669-8FB8-7677562B2B36}" srcOrd="0" destOrd="0" presId="urn:microsoft.com/office/officeart/2005/8/layout/hList3"/>
    <dgm:cxn modelId="{71306A57-C11D-45D8-9133-8666DD1F4E11}" type="presOf" srcId="{AA4B3A59-111E-4836-8411-D9ADC14B34BD}" destId="{E13FDA62-90A7-4ED8-B201-D608320EC1FE}" srcOrd="0" destOrd="0" presId="urn:microsoft.com/office/officeart/2005/8/layout/hList3"/>
    <dgm:cxn modelId="{1FEA17A1-6472-4F37-86A6-72C32BEAF526}" type="presOf" srcId="{67BC39AD-9A36-434F-A93E-8509E7CB6B91}" destId="{C16A9BD6-4ACE-400A-AE3E-13115F23B30D}" srcOrd="0" destOrd="0" presId="urn:microsoft.com/office/officeart/2005/8/layout/hList3"/>
    <dgm:cxn modelId="{40348E6B-09A1-4313-9350-6F93A7AAEB33}" srcId="{76FF1465-23F7-4BD7-A7C8-85CA71B14579}" destId="{6A383749-DE1B-4C84-AA10-85138B511F5C}" srcOrd="5" destOrd="0" parTransId="{C34A2BE0-F4D4-4063-8A88-AB7C4220C5CC}" sibTransId="{B795E23A-4CDF-4224-BA21-37B330EEB47F}"/>
    <dgm:cxn modelId="{AC03E185-2896-43E7-9907-E1F87EB40E90}" type="presOf" srcId="{F13CFCF3-AA39-44D0-B8CC-AC40F670E879}" destId="{2C6D4522-76CF-45F6-926B-AB3718B0FF8F}" srcOrd="0" destOrd="0" presId="urn:microsoft.com/office/officeart/2005/8/layout/hList3"/>
    <dgm:cxn modelId="{3F3982A1-3256-4F93-AE12-2D9443307A51}" type="presParOf" srcId="{E13FDA62-90A7-4ED8-B201-D608320EC1FE}" destId="{6A6B8C70-2176-4669-8FB8-7677562B2B36}" srcOrd="0" destOrd="0" presId="urn:microsoft.com/office/officeart/2005/8/layout/hList3"/>
    <dgm:cxn modelId="{BC75902C-219A-4CA9-8482-C2FD487C6544}" type="presParOf" srcId="{E13FDA62-90A7-4ED8-B201-D608320EC1FE}" destId="{747FA9A8-F672-43DC-93D8-6BE06864C017}" srcOrd="1" destOrd="0" presId="urn:microsoft.com/office/officeart/2005/8/layout/hList3"/>
    <dgm:cxn modelId="{40A0BE28-1576-4E30-827A-DF234FD8D526}" type="presParOf" srcId="{747FA9A8-F672-43DC-93D8-6BE06864C017}" destId="{2C6D4522-76CF-45F6-926B-AB3718B0FF8F}" srcOrd="0" destOrd="0" presId="urn:microsoft.com/office/officeart/2005/8/layout/hList3"/>
    <dgm:cxn modelId="{4B70C26E-C34D-4F50-9AE3-83E74C446936}" type="presParOf" srcId="{747FA9A8-F672-43DC-93D8-6BE06864C017}" destId="{A39B2FCF-B5CD-45C2-BE0E-071B32841F26}" srcOrd="1" destOrd="0" presId="urn:microsoft.com/office/officeart/2005/8/layout/hList3"/>
    <dgm:cxn modelId="{BA1F1235-28FE-4015-BA95-B82C2D0B395F}" type="presParOf" srcId="{747FA9A8-F672-43DC-93D8-6BE06864C017}" destId="{C16A9BD6-4ACE-400A-AE3E-13115F23B30D}" srcOrd="2" destOrd="0" presId="urn:microsoft.com/office/officeart/2005/8/layout/hList3"/>
    <dgm:cxn modelId="{A5917544-7407-4ED5-9D3F-86B77A08EE21}" type="presParOf" srcId="{747FA9A8-F672-43DC-93D8-6BE06864C017}" destId="{460A20A2-61BE-4C76-BCB6-82DDEF141B01}" srcOrd="3" destOrd="0" presId="urn:microsoft.com/office/officeart/2005/8/layout/hList3"/>
    <dgm:cxn modelId="{BDE17ECA-D9FD-484F-8C64-338115EB678C}" type="presParOf" srcId="{747FA9A8-F672-43DC-93D8-6BE06864C017}" destId="{F60D8F8F-1A71-4057-9A3E-6F72A276CA74}" srcOrd="4" destOrd="0" presId="urn:microsoft.com/office/officeart/2005/8/layout/hList3"/>
    <dgm:cxn modelId="{37C754C7-BDE1-41F4-B9E2-388A3C51E672}" type="presParOf" srcId="{747FA9A8-F672-43DC-93D8-6BE06864C017}" destId="{6D35E0A2-608A-4030-B1F9-B68EC19E4C50}" srcOrd="5" destOrd="0" presId="urn:microsoft.com/office/officeart/2005/8/layout/hList3"/>
    <dgm:cxn modelId="{A2E944EF-4C9C-4D9B-A488-11565C4DD054}" type="presParOf" srcId="{E13FDA62-90A7-4ED8-B201-D608320EC1FE}" destId="{2320E0B1-2A10-4F98-A444-6F315FD86585}" srcOrd="2" destOrd="0" presId="urn:microsoft.com/office/officeart/2005/8/layout/hList3"/>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DBF072CD-7068-4380-8B99-EED55CD53090}"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2757593B-FF11-4A1A-8AC6-8421A0362F23}">
      <dgm:prSet custT="1"/>
      <dgm:spPr>
        <a:scene3d>
          <a:camera prst="orthographicFront"/>
          <a:lightRig rig="threePt" dir="t"/>
        </a:scene3d>
        <a:sp3d>
          <a:bevelT/>
        </a:sp3d>
      </dgm:spPr>
      <dgm:t>
        <a:bodyPr/>
        <a:lstStyle/>
        <a:p>
          <a:pPr rtl="0"/>
          <a:r>
            <a:rPr lang="en-US" sz="1600" dirty="0"/>
            <a:t>Custom </a:t>
          </a:r>
          <a:r>
            <a:rPr lang="en-US" sz="1600" dirty="0" err="1"/>
            <a:t>LogFile</a:t>
          </a:r>
          <a:r>
            <a:rPr lang="en-US" sz="1600" dirty="0"/>
            <a:t> Monitoring</a:t>
          </a:r>
        </a:p>
      </dgm:t>
    </dgm:pt>
    <dgm:pt modelId="{D97320BB-452E-4A57-BC3A-31736ECE8699}" type="parTrans" cxnId="{FCF8703E-E2C2-462C-8E56-336598678087}">
      <dgm:prSet/>
      <dgm:spPr/>
      <dgm:t>
        <a:bodyPr/>
        <a:lstStyle/>
        <a:p>
          <a:endParaRPr lang="en-US" sz="1100"/>
        </a:p>
      </dgm:t>
    </dgm:pt>
    <dgm:pt modelId="{635026F3-F4C6-42AF-932D-205D3865A192}" type="sibTrans" cxnId="{FCF8703E-E2C2-462C-8E56-336598678087}">
      <dgm:prSet/>
      <dgm:spPr/>
      <dgm:t>
        <a:bodyPr/>
        <a:lstStyle/>
        <a:p>
          <a:endParaRPr lang="en-US" sz="1100"/>
        </a:p>
      </dgm:t>
    </dgm:pt>
    <dgm:pt modelId="{3ABCF033-5140-497E-9F81-2250FFE5C247}">
      <dgm:prSet custT="1"/>
      <dgm:spPr>
        <a:scene3d>
          <a:camera prst="orthographicFront"/>
          <a:lightRig rig="threePt" dir="t"/>
        </a:scene3d>
        <a:sp3d>
          <a:bevelT/>
        </a:sp3d>
      </dgm:spPr>
      <dgm:t>
        <a:bodyPr/>
        <a:lstStyle/>
        <a:p>
          <a:pPr rtl="0"/>
          <a:r>
            <a:rPr lang="en-US" sz="1200" b="1" dirty="0"/>
            <a:t>Monitor any </a:t>
          </a:r>
          <a:r>
            <a:rPr lang="en-US" sz="1200" b="1" dirty="0" err="1"/>
            <a:t>logfile</a:t>
          </a:r>
          <a:endParaRPr lang="en-US" sz="1200" b="1" dirty="0"/>
        </a:p>
      </dgm:t>
    </dgm:pt>
    <dgm:pt modelId="{AEA13329-F4B5-4CDF-A771-18222A75EC34}" type="parTrans" cxnId="{32EE48F2-B15A-4756-82F3-E4A0C5F39458}">
      <dgm:prSet/>
      <dgm:spPr/>
      <dgm:t>
        <a:bodyPr/>
        <a:lstStyle/>
        <a:p>
          <a:endParaRPr lang="en-US" sz="1100"/>
        </a:p>
      </dgm:t>
    </dgm:pt>
    <dgm:pt modelId="{1C38C5DB-B1BE-4194-A25E-F9D5CD9EAD12}" type="sibTrans" cxnId="{32EE48F2-B15A-4756-82F3-E4A0C5F39458}">
      <dgm:prSet/>
      <dgm:spPr/>
      <dgm:t>
        <a:bodyPr/>
        <a:lstStyle/>
        <a:p>
          <a:endParaRPr lang="en-US" sz="1100"/>
        </a:p>
      </dgm:t>
    </dgm:pt>
    <dgm:pt modelId="{6020E4E0-2737-4B6A-9809-F58D8696B15B}">
      <dgm:prSet custT="1"/>
      <dgm:spPr>
        <a:scene3d>
          <a:camera prst="orthographicFront"/>
          <a:lightRig rig="threePt" dir="t"/>
        </a:scene3d>
        <a:sp3d>
          <a:bevelT/>
        </a:sp3d>
      </dgm:spPr>
      <dgm:t>
        <a:bodyPr/>
        <a:lstStyle/>
        <a:p>
          <a:pPr rtl="0"/>
          <a:r>
            <a:rPr lang="en-US" sz="1200" b="1" dirty="0"/>
            <a:t>Specify regular expression to match against</a:t>
          </a:r>
        </a:p>
      </dgm:t>
    </dgm:pt>
    <dgm:pt modelId="{9CA18933-EA83-4A99-8EE1-2616A41FE43F}" type="parTrans" cxnId="{9E8FBCE7-CEFD-402B-99B3-84B81B4D3463}">
      <dgm:prSet/>
      <dgm:spPr/>
      <dgm:t>
        <a:bodyPr/>
        <a:lstStyle/>
        <a:p>
          <a:endParaRPr lang="en-US" sz="1100"/>
        </a:p>
      </dgm:t>
    </dgm:pt>
    <dgm:pt modelId="{D8336407-62FF-4FBE-AC83-60698851F27C}" type="sibTrans" cxnId="{9E8FBCE7-CEFD-402B-99B3-84B81B4D3463}">
      <dgm:prSet/>
      <dgm:spPr/>
      <dgm:t>
        <a:bodyPr/>
        <a:lstStyle/>
        <a:p>
          <a:endParaRPr lang="en-US" sz="1100"/>
        </a:p>
      </dgm:t>
    </dgm:pt>
    <dgm:pt modelId="{A5FFA06D-C792-48F1-A138-08CA1AFDC639}">
      <dgm:prSet custT="1"/>
      <dgm:spPr>
        <a:scene3d>
          <a:camera prst="orthographicFront"/>
          <a:lightRig rig="threePt" dir="t"/>
        </a:scene3d>
        <a:sp3d>
          <a:bevelT/>
        </a:sp3d>
      </dgm:spPr>
      <dgm:t>
        <a:bodyPr/>
        <a:lstStyle/>
        <a:p>
          <a:pPr rtl="0"/>
          <a:r>
            <a:rPr lang="en-US" sz="1600" dirty="0"/>
            <a:t>Process Monitoring</a:t>
          </a:r>
        </a:p>
      </dgm:t>
    </dgm:pt>
    <dgm:pt modelId="{89D0D920-B909-4D6D-A7F1-CFA3B67311CA}" type="parTrans" cxnId="{DEA6BCAE-F636-49B0-A152-8FB1D5E72510}">
      <dgm:prSet/>
      <dgm:spPr/>
      <dgm:t>
        <a:bodyPr/>
        <a:lstStyle/>
        <a:p>
          <a:endParaRPr lang="en-US" sz="1100"/>
        </a:p>
      </dgm:t>
    </dgm:pt>
    <dgm:pt modelId="{72CE2830-D88E-4491-8110-ABE6A6FD652E}" type="sibTrans" cxnId="{DEA6BCAE-F636-49B0-A152-8FB1D5E72510}">
      <dgm:prSet/>
      <dgm:spPr/>
      <dgm:t>
        <a:bodyPr/>
        <a:lstStyle/>
        <a:p>
          <a:endParaRPr lang="en-US" sz="1100"/>
        </a:p>
      </dgm:t>
    </dgm:pt>
    <dgm:pt modelId="{54850089-CB44-468C-8DCC-82228AA5B707}">
      <dgm:prSet custT="1"/>
      <dgm:spPr>
        <a:scene3d>
          <a:camera prst="orthographicFront"/>
          <a:lightRig rig="threePt" dir="t"/>
        </a:scene3d>
        <a:sp3d>
          <a:bevelT/>
        </a:sp3d>
      </dgm:spPr>
      <dgm:t>
        <a:bodyPr/>
        <a:lstStyle/>
        <a:p>
          <a:pPr rtl="0"/>
          <a:r>
            <a:rPr lang="en-US" sz="1200" b="1" dirty="0"/>
            <a:t>Monitor by name any service, daemon or process</a:t>
          </a:r>
        </a:p>
      </dgm:t>
    </dgm:pt>
    <dgm:pt modelId="{E7CDFB0F-E54E-44C3-8AB6-8A141120586C}" type="parTrans" cxnId="{00FA7550-494C-4C1D-AABA-CD55CBAC3D63}">
      <dgm:prSet/>
      <dgm:spPr/>
      <dgm:t>
        <a:bodyPr/>
        <a:lstStyle/>
        <a:p>
          <a:endParaRPr lang="en-US" sz="1100"/>
        </a:p>
      </dgm:t>
    </dgm:pt>
    <dgm:pt modelId="{D9BD1029-2E1D-4E47-84D0-4D6AA342E5B1}" type="sibTrans" cxnId="{00FA7550-494C-4C1D-AABA-CD55CBAC3D63}">
      <dgm:prSet/>
      <dgm:spPr/>
      <dgm:t>
        <a:bodyPr/>
        <a:lstStyle/>
        <a:p>
          <a:endParaRPr lang="en-US" sz="1100"/>
        </a:p>
      </dgm:t>
    </dgm:pt>
    <dgm:pt modelId="{9314D123-1AB8-4AB3-B60A-B7E33814937A}">
      <dgm:prSet custT="1"/>
      <dgm:spPr>
        <a:scene3d>
          <a:camera prst="orthographicFront"/>
          <a:lightRig rig="threePt" dir="t"/>
        </a:scene3d>
        <a:sp3d>
          <a:bevelT/>
        </a:sp3d>
      </dgm:spPr>
      <dgm:t>
        <a:bodyPr/>
        <a:lstStyle/>
        <a:p>
          <a:pPr rtl="0"/>
          <a:r>
            <a:rPr lang="en-US" sz="1200" b="1" dirty="0"/>
            <a:t>Distinguish duplicate names with regex filter on process arguments</a:t>
          </a:r>
        </a:p>
      </dgm:t>
    </dgm:pt>
    <dgm:pt modelId="{147D845E-8AE9-4D27-9B89-E28F2D88DC27}" type="parTrans" cxnId="{546BFBA1-96D6-4F54-916D-2A3A2D2CFBC6}">
      <dgm:prSet/>
      <dgm:spPr/>
      <dgm:t>
        <a:bodyPr/>
        <a:lstStyle/>
        <a:p>
          <a:endParaRPr lang="en-US" sz="1100"/>
        </a:p>
      </dgm:t>
    </dgm:pt>
    <dgm:pt modelId="{15963C99-43F6-4C4D-A9BA-ECB69EDFA6D7}" type="sibTrans" cxnId="{546BFBA1-96D6-4F54-916D-2A3A2D2CFBC6}">
      <dgm:prSet/>
      <dgm:spPr/>
      <dgm:t>
        <a:bodyPr/>
        <a:lstStyle/>
        <a:p>
          <a:endParaRPr lang="en-US" sz="1100"/>
        </a:p>
      </dgm:t>
    </dgm:pt>
    <dgm:pt modelId="{B914A4CF-60DE-424E-B423-2AE17D83CA73}">
      <dgm:prSet custT="1"/>
      <dgm:spPr>
        <a:scene3d>
          <a:camera prst="orthographicFront"/>
          <a:lightRig rig="threePt" dir="t"/>
        </a:scene3d>
        <a:sp3d>
          <a:bevelT/>
        </a:sp3d>
      </dgm:spPr>
      <dgm:t>
        <a:bodyPr/>
        <a:lstStyle/>
        <a:p>
          <a:pPr rtl="0"/>
          <a:r>
            <a:rPr lang="en-US" sz="1200" b="1" dirty="0"/>
            <a:t>Specify minimum and maximum counts</a:t>
          </a:r>
        </a:p>
      </dgm:t>
    </dgm:pt>
    <dgm:pt modelId="{007E9B09-EB88-4FCA-A32B-3D5D7437164F}" type="parTrans" cxnId="{5F404E91-7D8F-4B1D-9E72-5BB353A27F47}">
      <dgm:prSet/>
      <dgm:spPr/>
      <dgm:t>
        <a:bodyPr/>
        <a:lstStyle/>
        <a:p>
          <a:endParaRPr lang="en-US" sz="1100"/>
        </a:p>
      </dgm:t>
    </dgm:pt>
    <dgm:pt modelId="{E019BB2D-9FE5-4B76-94D6-8D42EC5F0D33}" type="sibTrans" cxnId="{5F404E91-7D8F-4B1D-9E72-5BB353A27F47}">
      <dgm:prSet/>
      <dgm:spPr/>
      <dgm:t>
        <a:bodyPr/>
        <a:lstStyle/>
        <a:p>
          <a:endParaRPr lang="en-US" sz="1100"/>
        </a:p>
      </dgm:t>
    </dgm:pt>
    <dgm:pt modelId="{9A5706BC-7F46-476F-8202-2CD6B4652B97}">
      <dgm:prSet custT="1"/>
      <dgm:spPr>
        <a:scene3d>
          <a:camera prst="orthographicFront"/>
          <a:lightRig rig="threePt" dir="t"/>
        </a:scene3d>
        <a:sp3d>
          <a:bevelT/>
        </a:sp3d>
      </dgm:spPr>
      <dgm:t>
        <a:bodyPr/>
        <a:lstStyle/>
        <a:p>
          <a:pPr rtl="0"/>
          <a:r>
            <a:rPr lang="en-US" sz="1600" dirty="0"/>
            <a:t>Command line rules and monitors</a:t>
          </a:r>
        </a:p>
      </dgm:t>
    </dgm:pt>
    <dgm:pt modelId="{CDB13023-7CAC-4911-A12E-749A649A8054}" type="parTrans" cxnId="{E2787FCD-6925-4E8B-8A88-D18C12833DE8}">
      <dgm:prSet/>
      <dgm:spPr/>
      <dgm:t>
        <a:bodyPr/>
        <a:lstStyle/>
        <a:p>
          <a:endParaRPr lang="en-US" sz="1100"/>
        </a:p>
      </dgm:t>
    </dgm:pt>
    <dgm:pt modelId="{C7B0EEC8-578D-4752-93D8-6BD54B032854}" type="sibTrans" cxnId="{E2787FCD-6925-4E8B-8A88-D18C12833DE8}">
      <dgm:prSet/>
      <dgm:spPr/>
      <dgm:t>
        <a:bodyPr/>
        <a:lstStyle/>
        <a:p>
          <a:endParaRPr lang="en-US" sz="1100"/>
        </a:p>
      </dgm:t>
    </dgm:pt>
    <dgm:pt modelId="{D01636FA-740D-46AA-933E-3FF297AB71A6}">
      <dgm:prSet custT="1"/>
      <dgm:spPr>
        <a:scene3d>
          <a:camera prst="orthographicFront"/>
          <a:lightRig rig="threePt" dir="t"/>
        </a:scene3d>
        <a:sp3d>
          <a:bevelT/>
        </a:sp3d>
      </dgm:spPr>
      <dgm:t>
        <a:bodyPr/>
        <a:lstStyle/>
        <a:p>
          <a:pPr rtl="0"/>
          <a:r>
            <a:rPr lang="en-US" sz="1200" b="1" dirty="0"/>
            <a:t>Run any shell command line to determine health or performance</a:t>
          </a:r>
        </a:p>
      </dgm:t>
    </dgm:pt>
    <dgm:pt modelId="{0D8A1EF9-A82E-47A5-9675-BA7214C1C7CF}" type="parTrans" cxnId="{4C7AFC5D-AE51-43C0-98EC-6BDA100C91B7}">
      <dgm:prSet/>
      <dgm:spPr/>
      <dgm:t>
        <a:bodyPr/>
        <a:lstStyle/>
        <a:p>
          <a:endParaRPr lang="en-US" sz="1100"/>
        </a:p>
      </dgm:t>
    </dgm:pt>
    <dgm:pt modelId="{4507D981-822C-4C6B-AE03-C969D682A73A}" type="sibTrans" cxnId="{4C7AFC5D-AE51-43C0-98EC-6BDA100C91B7}">
      <dgm:prSet/>
      <dgm:spPr/>
      <dgm:t>
        <a:bodyPr/>
        <a:lstStyle/>
        <a:p>
          <a:endParaRPr lang="en-US" sz="1100"/>
        </a:p>
      </dgm:t>
    </dgm:pt>
    <dgm:pt modelId="{9E248FDE-AC13-48BB-AF9D-81179A093DCE}">
      <dgm:prSet custT="1"/>
      <dgm:spPr>
        <a:scene3d>
          <a:camera prst="orthographicFront"/>
          <a:lightRig rig="threePt" dir="t"/>
        </a:scene3d>
        <a:sp3d>
          <a:bevelT/>
        </a:sp3d>
      </dgm:spPr>
      <dgm:t>
        <a:bodyPr/>
        <a:lstStyle/>
        <a:p>
          <a:pPr rtl="0"/>
          <a:r>
            <a:rPr lang="en-US" sz="1200" b="1" dirty="0"/>
            <a:t>Target computer or group</a:t>
          </a:r>
        </a:p>
      </dgm:t>
    </dgm:pt>
    <dgm:pt modelId="{C93AE2F1-6066-486D-B242-6DAF525D8171}" type="parTrans" cxnId="{B769CF47-9CFF-4191-B4E2-CFFBB5AE84BE}">
      <dgm:prSet/>
      <dgm:spPr/>
      <dgm:t>
        <a:bodyPr/>
        <a:lstStyle/>
        <a:p>
          <a:endParaRPr lang="en-US"/>
        </a:p>
      </dgm:t>
    </dgm:pt>
    <dgm:pt modelId="{59DCEED2-0CA3-4478-BA94-A1C9C2C3B52F}" type="sibTrans" cxnId="{B769CF47-9CFF-4191-B4E2-CFFBB5AE84BE}">
      <dgm:prSet/>
      <dgm:spPr/>
      <dgm:t>
        <a:bodyPr/>
        <a:lstStyle/>
        <a:p>
          <a:endParaRPr lang="en-US"/>
        </a:p>
      </dgm:t>
    </dgm:pt>
    <dgm:pt modelId="{6E859791-0FB6-485C-9638-BF39E3468F51}">
      <dgm:prSet custT="1"/>
      <dgm:spPr>
        <a:scene3d>
          <a:camera prst="orthographicFront"/>
          <a:lightRig rig="threePt" dir="t"/>
        </a:scene3d>
        <a:sp3d>
          <a:bevelT/>
        </a:sp3d>
      </dgm:spPr>
      <dgm:t>
        <a:bodyPr/>
        <a:lstStyle/>
        <a:p>
          <a:r>
            <a:rPr lang="en-US" sz="1200" b="1" dirty="0"/>
            <a:t>Target computer or group</a:t>
          </a:r>
        </a:p>
      </dgm:t>
    </dgm:pt>
    <dgm:pt modelId="{6722B51C-24EB-4792-8C28-218193F2D0F1}" type="parTrans" cxnId="{8E4E51DB-C187-45C2-A9FE-9B55EB47B002}">
      <dgm:prSet/>
      <dgm:spPr/>
      <dgm:t>
        <a:bodyPr/>
        <a:lstStyle/>
        <a:p>
          <a:endParaRPr lang="en-US"/>
        </a:p>
      </dgm:t>
    </dgm:pt>
    <dgm:pt modelId="{1698BF17-2709-4A89-B3D4-BADF7BE1071D}" type="sibTrans" cxnId="{8E4E51DB-C187-45C2-A9FE-9B55EB47B002}">
      <dgm:prSet/>
      <dgm:spPr/>
      <dgm:t>
        <a:bodyPr/>
        <a:lstStyle/>
        <a:p>
          <a:endParaRPr lang="en-US"/>
        </a:p>
      </dgm:t>
    </dgm:pt>
    <dgm:pt modelId="{C1A0AD89-74FB-418E-800E-2ED4652C59A8}">
      <dgm:prSet custT="1"/>
      <dgm:spPr>
        <a:scene3d>
          <a:camera prst="orthographicFront"/>
          <a:lightRig rig="threePt" dir="t"/>
        </a:scene3d>
        <a:sp3d>
          <a:bevelT/>
        </a:sp3d>
      </dgm:spPr>
      <dgm:t>
        <a:bodyPr/>
        <a:lstStyle/>
        <a:p>
          <a:r>
            <a:rPr lang="en-US" sz="1200" b="1" dirty="0"/>
            <a:t>Target computer or group</a:t>
          </a:r>
        </a:p>
      </dgm:t>
    </dgm:pt>
    <dgm:pt modelId="{FFA5D010-E7B3-4BF3-B993-9590DBC0B797}" type="parTrans" cxnId="{A001C167-0FE2-4EFD-A107-E2E0ED8A06B3}">
      <dgm:prSet/>
      <dgm:spPr/>
      <dgm:t>
        <a:bodyPr/>
        <a:lstStyle/>
        <a:p>
          <a:endParaRPr lang="en-US"/>
        </a:p>
      </dgm:t>
    </dgm:pt>
    <dgm:pt modelId="{1DBB0058-B762-44CA-956B-B1711F6172DF}" type="sibTrans" cxnId="{A001C167-0FE2-4EFD-A107-E2E0ED8A06B3}">
      <dgm:prSet/>
      <dgm:spPr/>
      <dgm:t>
        <a:bodyPr/>
        <a:lstStyle/>
        <a:p>
          <a:endParaRPr lang="en-US"/>
        </a:p>
      </dgm:t>
    </dgm:pt>
    <dgm:pt modelId="{6DFE7DD3-426F-411D-A504-226BEE58DAD7}" type="pres">
      <dgm:prSet presAssocID="{DBF072CD-7068-4380-8B99-EED55CD53090}" presName="Name0" presStyleCnt="0">
        <dgm:presLayoutVars>
          <dgm:dir/>
          <dgm:animLvl val="lvl"/>
          <dgm:resizeHandles val="exact"/>
        </dgm:presLayoutVars>
      </dgm:prSet>
      <dgm:spPr/>
    </dgm:pt>
    <dgm:pt modelId="{4228B38C-7F42-4365-AFBE-97B37E9328E2}" type="pres">
      <dgm:prSet presAssocID="{2757593B-FF11-4A1A-8AC6-8421A0362F23}" presName="linNode" presStyleCnt="0"/>
      <dgm:spPr/>
    </dgm:pt>
    <dgm:pt modelId="{05B8B79E-483B-407F-8A42-F76D3FF7EAB1}" type="pres">
      <dgm:prSet presAssocID="{2757593B-FF11-4A1A-8AC6-8421A0362F23}" presName="parentText" presStyleLbl="node1" presStyleIdx="0" presStyleCnt="3" custScaleX="72746">
        <dgm:presLayoutVars>
          <dgm:chMax val="1"/>
          <dgm:bulletEnabled val="1"/>
        </dgm:presLayoutVars>
      </dgm:prSet>
      <dgm:spPr/>
    </dgm:pt>
    <dgm:pt modelId="{3C761307-ADCF-45AC-A53D-544CB5791076}" type="pres">
      <dgm:prSet presAssocID="{2757593B-FF11-4A1A-8AC6-8421A0362F23}" presName="descendantText" presStyleLbl="alignAccFollowNode1" presStyleIdx="0" presStyleCnt="3" custScaleX="109178" custScaleY="102052">
        <dgm:presLayoutVars>
          <dgm:bulletEnabled val="1"/>
        </dgm:presLayoutVars>
      </dgm:prSet>
      <dgm:spPr/>
    </dgm:pt>
    <dgm:pt modelId="{3391FBB6-097C-46B7-B9A3-87CB72A0BD34}" type="pres">
      <dgm:prSet presAssocID="{635026F3-F4C6-42AF-932D-205D3865A192}" presName="sp" presStyleCnt="0"/>
      <dgm:spPr/>
    </dgm:pt>
    <dgm:pt modelId="{2AE41C90-3241-459F-AD63-7FF802996FDE}" type="pres">
      <dgm:prSet presAssocID="{A5FFA06D-C792-48F1-A138-08CA1AFDC639}" presName="linNode" presStyleCnt="0"/>
      <dgm:spPr/>
    </dgm:pt>
    <dgm:pt modelId="{E222F5B1-3F1F-470F-A572-56AD5AA7A11F}" type="pres">
      <dgm:prSet presAssocID="{A5FFA06D-C792-48F1-A138-08CA1AFDC639}" presName="parentText" presStyleLbl="node1" presStyleIdx="1" presStyleCnt="3" custScaleX="72746">
        <dgm:presLayoutVars>
          <dgm:chMax val="1"/>
          <dgm:bulletEnabled val="1"/>
        </dgm:presLayoutVars>
      </dgm:prSet>
      <dgm:spPr/>
    </dgm:pt>
    <dgm:pt modelId="{9BD3ECB9-8252-4F31-BF5C-53532331C0F8}" type="pres">
      <dgm:prSet presAssocID="{A5FFA06D-C792-48F1-A138-08CA1AFDC639}" presName="descendantText" presStyleLbl="alignAccFollowNode1" presStyleIdx="1" presStyleCnt="3" custScaleX="109178" custScaleY="102052">
        <dgm:presLayoutVars>
          <dgm:bulletEnabled val="1"/>
        </dgm:presLayoutVars>
      </dgm:prSet>
      <dgm:spPr/>
    </dgm:pt>
    <dgm:pt modelId="{0F25A01E-6711-4ED5-A8A4-EF2BD6E8BC9D}" type="pres">
      <dgm:prSet presAssocID="{72CE2830-D88E-4491-8110-ABE6A6FD652E}" presName="sp" presStyleCnt="0"/>
      <dgm:spPr/>
    </dgm:pt>
    <dgm:pt modelId="{71CD2196-E588-4B59-94C2-7D10024950EB}" type="pres">
      <dgm:prSet presAssocID="{9A5706BC-7F46-476F-8202-2CD6B4652B97}" presName="linNode" presStyleCnt="0"/>
      <dgm:spPr/>
    </dgm:pt>
    <dgm:pt modelId="{F8FCF156-A058-4396-ACF8-A3DCE1E1EB25}" type="pres">
      <dgm:prSet presAssocID="{9A5706BC-7F46-476F-8202-2CD6B4652B97}" presName="parentText" presStyleLbl="node1" presStyleIdx="2" presStyleCnt="3" custScaleX="72746">
        <dgm:presLayoutVars>
          <dgm:chMax val="1"/>
          <dgm:bulletEnabled val="1"/>
        </dgm:presLayoutVars>
      </dgm:prSet>
      <dgm:spPr/>
    </dgm:pt>
    <dgm:pt modelId="{9920C70D-67C2-403C-B333-6F6EC0F2846C}" type="pres">
      <dgm:prSet presAssocID="{9A5706BC-7F46-476F-8202-2CD6B4652B97}" presName="descendantText" presStyleLbl="alignAccFollowNode1" presStyleIdx="2" presStyleCnt="3" custScaleX="109178" custScaleY="102052">
        <dgm:presLayoutVars>
          <dgm:bulletEnabled val="1"/>
        </dgm:presLayoutVars>
      </dgm:prSet>
      <dgm:spPr/>
    </dgm:pt>
  </dgm:ptLst>
  <dgm:cxnLst>
    <dgm:cxn modelId="{5F404E91-7D8F-4B1D-9E72-5BB353A27F47}" srcId="{A5FFA06D-C792-48F1-A138-08CA1AFDC639}" destId="{B914A4CF-60DE-424E-B423-2AE17D83CA73}" srcOrd="2" destOrd="0" parTransId="{007E9B09-EB88-4FCA-A32B-3D5D7437164F}" sibTransId="{E019BB2D-9FE5-4B76-94D6-8D42EC5F0D33}"/>
    <dgm:cxn modelId="{5D300C16-6232-4F04-907A-8694E80D53BA}" type="presOf" srcId="{6E859791-0FB6-485C-9638-BF39E3468F51}" destId="{9BD3ECB9-8252-4F31-BF5C-53532331C0F8}" srcOrd="0" destOrd="3" presId="urn:microsoft.com/office/officeart/2005/8/layout/vList5"/>
    <dgm:cxn modelId="{32EE48F2-B15A-4756-82F3-E4A0C5F39458}" srcId="{2757593B-FF11-4A1A-8AC6-8421A0362F23}" destId="{3ABCF033-5140-497E-9F81-2250FFE5C247}" srcOrd="0" destOrd="0" parTransId="{AEA13329-F4B5-4CDF-A771-18222A75EC34}" sibTransId="{1C38C5DB-B1BE-4194-A25E-F9D5CD9EAD12}"/>
    <dgm:cxn modelId="{64030446-81C7-4932-BEB0-AC722A6864F4}" type="presOf" srcId="{6020E4E0-2737-4B6A-9809-F58D8696B15B}" destId="{3C761307-ADCF-45AC-A53D-544CB5791076}" srcOrd="0" destOrd="1" presId="urn:microsoft.com/office/officeart/2005/8/layout/vList5"/>
    <dgm:cxn modelId="{3BF0768D-CDF3-41E0-8D6E-45093EEA76D0}" type="presOf" srcId="{B914A4CF-60DE-424E-B423-2AE17D83CA73}" destId="{9BD3ECB9-8252-4F31-BF5C-53532331C0F8}" srcOrd="0" destOrd="2" presId="urn:microsoft.com/office/officeart/2005/8/layout/vList5"/>
    <dgm:cxn modelId="{964657F1-A609-4F83-9703-370D2A7442FA}" type="presOf" srcId="{9A5706BC-7F46-476F-8202-2CD6B4652B97}" destId="{F8FCF156-A058-4396-ACF8-A3DCE1E1EB25}" srcOrd="0" destOrd="0" presId="urn:microsoft.com/office/officeart/2005/8/layout/vList5"/>
    <dgm:cxn modelId="{8E4E51DB-C187-45C2-A9FE-9B55EB47B002}" srcId="{A5FFA06D-C792-48F1-A138-08CA1AFDC639}" destId="{6E859791-0FB6-485C-9638-BF39E3468F51}" srcOrd="3" destOrd="0" parTransId="{6722B51C-24EB-4792-8C28-218193F2D0F1}" sibTransId="{1698BF17-2709-4A89-B3D4-BADF7BE1071D}"/>
    <dgm:cxn modelId="{95D75177-AB71-4167-9C01-1F3B5185B6FA}" type="presOf" srcId="{D01636FA-740D-46AA-933E-3FF297AB71A6}" destId="{9920C70D-67C2-403C-B333-6F6EC0F2846C}" srcOrd="0" destOrd="0" presId="urn:microsoft.com/office/officeart/2005/8/layout/vList5"/>
    <dgm:cxn modelId="{546BFBA1-96D6-4F54-916D-2A3A2D2CFBC6}" srcId="{A5FFA06D-C792-48F1-A138-08CA1AFDC639}" destId="{9314D123-1AB8-4AB3-B60A-B7E33814937A}" srcOrd="1" destOrd="0" parTransId="{147D845E-8AE9-4D27-9B89-E28F2D88DC27}" sibTransId="{15963C99-43F6-4C4D-A9BA-ECB69EDFA6D7}"/>
    <dgm:cxn modelId="{FCF8703E-E2C2-462C-8E56-336598678087}" srcId="{DBF072CD-7068-4380-8B99-EED55CD53090}" destId="{2757593B-FF11-4A1A-8AC6-8421A0362F23}" srcOrd="0" destOrd="0" parTransId="{D97320BB-452E-4A57-BC3A-31736ECE8699}" sibTransId="{635026F3-F4C6-42AF-932D-205D3865A192}"/>
    <dgm:cxn modelId="{44EC1BE7-16E5-43B7-A59D-AAAC6C9B04BF}" type="presOf" srcId="{3ABCF033-5140-497E-9F81-2250FFE5C247}" destId="{3C761307-ADCF-45AC-A53D-544CB5791076}" srcOrd="0" destOrd="0" presId="urn:microsoft.com/office/officeart/2005/8/layout/vList5"/>
    <dgm:cxn modelId="{DEA6BCAE-F636-49B0-A152-8FB1D5E72510}" srcId="{DBF072CD-7068-4380-8B99-EED55CD53090}" destId="{A5FFA06D-C792-48F1-A138-08CA1AFDC639}" srcOrd="1" destOrd="0" parTransId="{89D0D920-B909-4D6D-A7F1-CFA3B67311CA}" sibTransId="{72CE2830-D88E-4491-8110-ABE6A6FD652E}"/>
    <dgm:cxn modelId="{31E35B1D-6FDC-4177-B614-38CB16974F31}" type="presOf" srcId="{54850089-CB44-468C-8DCC-82228AA5B707}" destId="{9BD3ECB9-8252-4F31-BF5C-53532331C0F8}" srcOrd="0" destOrd="0" presId="urn:microsoft.com/office/officeart/2005/8/layout/vList5"/>
    <dgm:cxn modelId="{2BF17ED5-71EE-4A27-8F5A-C10AD40EFBDC}" type="presOf" srcId="{DBF072CD-7068-4380-8B99-EED55CD53090}" destId="{6DFE7DD3-426F-411D-A504-226BEE58DAD7}" srcOrd="0" destOrd="0" presId="urn:microsoft.com/office/officeart/2005/8/layout/vList5"/>
    <dgm:cxn modelId="{9E8FBCE7-CEFD-402B-99B3-84B81B4D3463}" srcId="{2757593B-FF11-4A1A-8AC6-8421A0362F23}" destId="{6020E4E0-2737-4B6A-9809-F58D8696B15B}" srcOrd="1" destOrd="0" parTransId="{9CA18933-EA83-4A99-8EE1-2616A41FE43F}" sibTransId="{D8336407-62FF-4FBE-AC83-60698851F27C}"/>
    <dgm:cxn modelId="{7E86528F-3F05-421E-90EC-9FA5084C5DA1}" type="presOf" srcId="{A5FFA06D-C792-48F1-A138-08CA1AFDC639}" destId="{E222F5B1-3F1F-470F-A572-56AD5AA7A11F}" srcOrd="0" destOrd="0" presId="urn:microsoft.com/office/officeart/2005/8/layout/vList5"/>
    <dgm:cxn modelId="{4C7AFC5D-AE51-43C0-98EC-6BDA100C91B7}" srcId="{9A5706BC-7F46-476F-8202-2CD6B4652B97}" destId="{D01636FA-740D-46AA-933E-3FF297AB71A6}" srcOrd="0" destOrd="0" parTransId="{0D8A1EF9-A82E-47A5-9675-BA7214C1C7CF}" sibTransId="{4507D981-822C-4C6B-AE03-C969D682A73A}"/>
    <dgm:cxn modelId="{00FA7550-494C-4C1D-AABA-CD55CBAC3D63}" srcId="{A5FFA06D-C792-48F1-A138-08CA1AFDC639}" destId="{54850089-CB44-468C-8DCC-82228AA5B707}" srcOrd="0" destOrd="0" parTransId="{E7CDFB0F-E54E-44C3-8AB6-8A141120586C}" sibTransId="{D9BD1029-2E1D-4E47-84D0-4D6AA342E5B1}"/>
    <dgm:cxn modelId="{B769CF47-9CFF-4191-B4E2-CFFBB5AE84BE}" srcId="{2757593B-FF11-4A1A-8AC6-8421A0362F23}" destId="{9E248FDE-AC13-48BB-AF9D-81179A093DCE}" srcOrd="2" destOrd="0" parTransId="{C93AE2F1-6066-486D-B242-6DAF525D8171}" sibTransId="{59DCEED2-0CA3-4478-BA94-A1C9C2C3B52F}"/>
    <dgm:cxn modelId="{A001C167-0FE2-4EFD-A107-E2E0ED8A06B3}" srcId="{9A5706BC-7F46-476F-8202-2CD6B4652B97}" destId="{C1A0AD89-74FB-418E-800E-2ED4652C59A8}" srcOrd="1" destOrd="0" parTransId="{FFA5D010-E7B3-4BF3-B993-9590DBC0B797}" sibTransId="{1DBB0058-B762-44CA-956B-B1711F6172DF}"/>
    <dgm:cxn modelId="{D51D755C-BA0A-416E-B33F-87ECF8082163}" type="presOf" srcId="{9E248FDE-AC13-48BB-AF9D-81179A093DCE}" destId="{3C761307-ADCF-45AC-A53D-544CB5791076}" srcOrd="0" destOrd="2" presId="urn:microsoft.com/office/officeart/2005/8/layout/vList5"/>
    <dgm:cxn modelId="{BBC9EF31-9120-428F-B64D-547722746F0B}" type="presOf" srcId="{9314D123-1AB8-4AB3-B60A-B7E33814937A}" destId="{9BD3ECB9-8252-4F31-BF5C-53532331C0F8}" srcOrd="0" destOrd="1" presId="urn:microsoft.com/office/officeart/2005/8/layout/vList5"/>
    <dgm:cxn modelId="{E2787FCD-6925-4E8B-8A88-D18C12833DE8}" srcId="{DBF072CD-7068-4380-8B99-EED55CD53090}" destId="{9A5706BC-7F46-476F-8202-2CD6B4652B97}" srcOrd="2" destOrd="0" parTransId="{CDB13023-7CAC-4911-A12E-749A649A8054}" sibTransId="{C7B0EEC8-578D-4752-93D8-6BD54B032854}"/>
    <dgm:cxn modelId="{6EEF9531-1BC7-4863-9665-5B4276CF8D99}" type="presOf" srcId="{C1A0AD89-74FB-418E-800E-2ED4652C59A8}" destId="{9920C70D-67C2-403C-B333-6F6EC0F2846C}" srcOrd="0" destOrd="1" presId="urn:microsoft.com/office/officeart/2005/8/layout/vList5"/>
    <dgm:cxn modelId="{B130357D-81B0-49A7-9FA6-C5BBB6297C3F}" type="presOf" srcId="{2757593B-FF11-4A1A-8AC6-8421A0362F23}" destId="{05B8B79E-483B-407F-8A42-F76D3FF7EAB1}" srcOrd="0" destOrd="0" presId="urn:microsoft.com/office/officeart/2005/8/layout/vList5"/>
    <dgm:cxn modelId="{6FE20846-AF8B-4C67-92AC-B12FD70E2CDB}" type="presParOf" srcId="{6DFE7DD3-426F-411D-A504-226BEE58DAD7}" destId="{4228B38C-7F42-4365-AFBE-97B37E9328E2}" srcOrd="0" destOrd="0" presId="urn:microsoft.com/office/officeart/2005/8/layout/vList5"/>
    <dgm:cxn modelId="{AAC0A22A-6747-4257-A3AE-E68F49317B06}" type="presParOf" srcId="{4228B38C-7F42-4365-AFBE-97B37E9328E2}" destId="{05B8B79E-483B-407F-8A42-F76D3FF7EAB1}" srcOrd="0" destOrd="0" presId="urn:microsoft.com/office/officeart/2005/8/layout/vList5"/>
    <dgm:cxn modelId="{2995E58D-40FC-4F59-86B6-F82B3DF9F666}" type="presParOf" srcId="{4228B38C-7F42-4365-AFBE-97B37E9328E2}" destId="{3C761307-ADCF-45AC-A53D-544CB5791076}" srcOrd="1" destOrd="0" presId="urn:microsoft.com/office/officeart/2005/8/layout/vList5"/>
    <dgm:cxn modelId="{319AD864-899C-4679-B771-E0C36596FD4C}" type="presParOf" srcId="{6DFE7DD3-426F-411D-A504-226BEE58DAD7}" destId="{3391FBB6-097C-46B7-B9A3-87CB72A0BD34}" srcOrd="1" destOrd="0" presId="urn:microsoft.com/office/officeart/2005/8/layout/vList5"/>
    <dgm:cxn modelId="{F26FB7B4-744B-4902-B285-1AEEB17B5685}" type="presParOf" srcId="{6DFE7DD3-426F-411D-A504-226BEE58DAD7}" destId="{2AE41C90-3241-459F-AD63-7FF802996FDE}" srcOrd="2" destOrd="0" presId="urn:microsoft.com/office/officeart/2005/8/layout/vList5"/>
    <dgm:cxn modelId="{FEC7B4AE-BCA3-427F-8B00-CB22950B0D87}" type="presParOf" srcId="{2AE41C90-3241-459F-AD63-7FF802996FDE}" destId="{E222F5B1-3F1F-470F-A572-56AD5AA7A11F}" srcOrd="0" destOrd="0" presId="urn:microsoft.com/office/officeart/2005/8/layout/vList5"/>
    <dgm:cxn modelId="{84DA405C-56F5-4D6E-8106-3EC3415DD751}" type="presParOf" srcId="{2AE41C90-3241-459F-AD63-7FF802996FDE}" destId="{9BD3ECB9-8252-4F31-BF5C-53532331C0F8}" srcOrd="1" destOrd="0" presId="urn:microsoft.com/office/officeart/2005/8/layout/vList5"/>
    <dgm:cxn modelId="{EE193153-E8B5-4B23-B18F-A3F1EB6F2B01}" type="presParOf" srcId="{6DFE7DD3-426F-411D-A504-226BEE58DAD7}" destId="{0F25A01E-6711-4ED5-A8A4-EF2BD6E8BC9D}" srcOrd="3" destOrd="0" presId="urn:microsoft.com/office/officeart/2005/8/layout/vList5"/>
    <dgm:cxn modelId="{CF121B3B-A934-4252-922B-B35B88276FD2}" type="presParOf" srcId="{6DFE7DD3-426F-411D-A504-226BEE58DAD7}" destId="{71CD2196-E588-4B59-94C2-7D10024950EB}" srcOrd="4" destOrd="0" presId="urn:microsoft.com/office/officeart/2005/8/layout/vList5"/>
    <dgm:cxn modelId="{4B8762C1-50E0-4C9F-8C7F-129C59C9DA4B}" type="presParOf" srcId="{71CD2196-E588-4B59-94C2-7D10024950EB}" destId="{F8FCF156-A058-4396-ACF8-A3DCE1E1EB25}" srcOrd="0" destOrd="0" presId="urn:microsoft.com/office/officeart/2005/8/layout/vList5"/>
    <dgm:cxn modelId="{FED5BE89-065D-42B0-8332-B08FC1CE2A5D}" type="presParOf" srcId="{71CD2196-E588-4B59-94C2-7D10024950EB}" destId="{9920C70D-67C2-403C-B333-6F6EC0F2846C}" srcOrd="1" destOrd="0" presId="urn:microsoft.com/office/officeart/2005/8/layout/vList5"/>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6B8C70-2176-4669-8FB8-7677562B2B36}">
      <dsp:nvSpPr>
        <dsp:cNvPr id="0" name=""/>
        <dsp:cNvSpPr/>
      </dsp:nvSpPr>
      <dsp:spPr>
        <a:xfrm>
          <a:off x="0" y="0"/>
          <a:ext cx="8858374" cy="252167"/>
        </a:xfrm>
        <a:prstGeom prst="rect">
          <a:avLst/>
        </a:prstGeom>
        <a:solidFill>
          <a:srgbClr val="D0D8E8"/>
        </a:solidFill>
        <a:ln>
          <a:solidFill>
            <a:schemeClr val="tx1"/>
          </a:solidFill>
        </a:ln>
        <a:effectLst/>
        <a:scene3d>
          <a:camera prst="orthographicFront"/>
          <a:lightRig rig="threePt" dir="t"/>
        </a:scene3d>
        <a:sp3d>
          <a:bevelT/>
        </a:sp3d>
      </dsp:spPr>
      <dsp:style>
        <a:lnRef idx="0">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rtl="0">
            <a:lnSpc>
              <a:spcPct val="90000"/>
            </a:lnSpc>
            <a:spcBef>
              <a:spcPct val="0"/>
            </a:spcBef>
            <a:spcAft>
              <a:spcPct val="35000"/>
            </a:spcAft>
            <a:buNone/>
          </a:pPr>
          <a:r>
            <a:rPr lang="en-US" sz="1600" kern="1200" dirty="0">
              <a:solidFill>
                <a:schemeClr val="tx1"/>
              </a:solidFill>
            </a:rPr>
            <a:t>Health and performance monitoring in Microsoft’s Linux/UNIX management packs</a:t>
          </a:r>
        </a:p>
      </dsp:txBody>
      <dsp:txXfrm>
        <a:off x="0" y="0"/>
        <a:ext cx="8858374" cy="252167"/>
      </dsp:txXfrm>
    </dsp:sp>
    <dsp:sp modelId="{2C6D4522-76CF-45F6-926B-AB3718B0FF8F}">
      <dsp:nvSpPr>
        <dsp:cNvPr id="0" name=""/>
        <dsp:cNvSpPr/>
      </dsp:nvSpPr>
      <dsp:spPr>
        <a:xfrm>
          <a:off x="4325"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t>CPU</a:t>
          </a:r>
        </a:p>
      </dsp:txBody>
      <dsp:txXfrm>
        <a:off x="4325" y="252167"/>
        <a:ext cx="1474953" cy="529550"/>
      </dsp:txXfrm>
    </dsp:sp>
    <dsp:sp modelId="{A39B2FCF-B5CD-45C2-BE0E-071B32841F26}">
      <dsp:nvSpPr>
        <dsp:cNvPr id="0" name=""/>
        <dsp:cNvSpPr/>
      </dsp:nvSpPr>
      <dsp:spPr>
        <a:xfrm>
          <a:off x="1479279"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dirty="0"/>
            <a:t>Memory</a:t>
          </a:r>
        </a:p>
      </dsp:txBody>
      <dsp:txXfrm>
        <a:off x="1479279" y="252167"/>
        <a:ext cx="1474953" cy="529550"/>
      </dsp:txXfrm>
    </dsp:sp>
    <dsp:sp modelId="{C16A9BD6-4ACE-400A-AE3E-13115F23B30D}">
      <dsp:nvSpPr>
        <dsp:cNvPr id="0" name=""/>
        <dsp:cNvSpPr/>
      </dsp:nvSpPr>
      <dsp:spPr>
        <a:xfrm>
          <a:off x="2954233"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a:t>Disk</a:t>
          </a:r>
        </a:p>
      </dsp:txBody>
      <dsp:txXfrm>
        <a:off x="2954233" y="252167"/>
        <a:ext cx="1474953" cy="529550"/>
      </dsp:txXfrm>
    </dsp:sp>
    <dsp:sp modelId="{460A20A2-61BE-4C76-BCB6-82DDEF141B01}">
      <dsp:nvSpPr>
        <dsp:cNvPr id="0" name=""/>
        <dsp:cNvSpPr/>
      </dsp:nvSpPr>
      <dsp:spPr>
        <a:xfrm>
          <a:off x="4429187"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a:t>Network</a:t>
          </a:r>
        </a:p>
      </dsp:txBody>
      <dsp:txXfrm>
        <a:off x="4429187" y="252167"/>
        <a:ext cx="1474953" cy="529550"/>
      </dsp:txXfrm>
    </dsp:sp>
    <dsp:sp modelId="{F60D8F8F-1A71-4057-9A3E-6F72A276CA74}">
      <dsp:nvSpPr>
        <dsp:cNvPr id="0" name=""/>
        <dsp:cNvSpPr/>
      </dsp:nvSpPr>
      <dsp:spPr>
        <a:xfrm>
          <a:off x="5904140"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a:t>Processes</a:t>
          </a:r>
        </a:p>
      </dsp:txBody>
      <dsp:txXfrm>
        <a:off x="5904140" y="252167"/>
        <a:ext cx="1474953" cy="529550"/>
      </dsp:txXfrm>
    </dsp:sp>
    <dsp:sp modelId="{6D35E0A2-608A-4030-B1F9-B68EC19E4C50}">
      <dsp:nvSpPr>
        <dsp:cNvPr id="0" name=""/>
        <dsp:cNvSpPr/>
      </dsp:nvSpPr>
      <dsp:spPr>
        <a:xfrm>
          <a:off x="7379094" y="252167"/>
          <a:ext cx="1474953" cy="529550"/>
        </a:xfrm>
        <a:prstGeom prst="rect">
          <a:avLst/>
        </a:prstGeom>
        <a:solidFill>
          <a:schemeClr val="accent1">
            <a:hueOff val="0"/>
            <a:satOff val="0"/>
            <a:lumOff val="0"/>
            <a:alphaOff val="0"/>
          </a:schemeClr>
        </a:solidFill>
        <a:ln w="25400" cap="flat" cmpd="sng" algn="ctr">
          <a:solidFill>
            <a:schemeClr val="tx1"/>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0" tIns="53340" rIns="0" bIns="53340" numCol="1" spcCol="1270" anchor="ctr" anchorCtr="0">
          <a:noAutofit/>
        </a:bodyPr>
        <a:lstStyle/>
        <a:p>
          <a:pPr marL="0" lvl="0" indent="0" algn="ctr" defTabSz="622300" rtl="0">
            <a:lnSpc>
              <a:spcPct val="90000"/>
            </a:lnSpc>
            <a:spcBef>
              <a:spcPct val="0"/>
            </a:spcBef>
            <a:spcAft>
              <a:spcPct val="35000"/>
            </a:spcAft>
            <a:buNone/>
          </a:pPr>
          <a:r>
            <a:rPr lang="en-US" sz="1400" kern="1200"/>
            <a:t>Logfiles</a:t>
          </a:r>
        </a:p>
      </dsp:txBody>
      <dsp:txXfrm>
        <a:off x="7379094" y="252167"/>
        <a:ext cx="1474953" cy="529550"/>
      </dsp:txXfrm>
    </dsp:sp>
    <dsp:sp modelId="{2320E0B1-2A10-4F98-A444-6F315FD86585}">
      <dsp:nvSpPr>
        <dsp:cNvPr id="0" name=""/>
        <dsp:cNvSpPr/>
      </dsp:nvSpPr>
      <dsp:spPr>
        <a:xfrm>
          <a:off x="0" y="781718"/>
          <a:ext cx="8858374" cy="58838"/>
        </a:xfrm>
        <a:prstGeom prst="rect">
          <a:avLst/>
        </a:prstGeom>
        <a:solidFill>
          <a:srgbClr val="D0D8E8"/>
        </a:solidFill>
        <a:ln>
          <a:solidFill>
            <a:schemeClr val="tx1"/>
          </a:solidFill>
        </a:ln>
        <a:effectLst/>
        <a:scene3d>
          <a:camera prst="orthographicFront"/>
          <a:lightRig rig="threePt" dir="t"/>
        </a:scene3d>
        <a:sp3d>
          <a:bevelT/>
        </a:sp3d>
      </dsp:spPr>
      <dsp:style>
        <a:lnRef idx="0">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761307-ADCF-45AC-A53D-544CB5791076}">
      <dsp:nvSpPr>
        <dsp:cNvPr id="0" name=""/>
        <dsp:cNvSpPr/>
      </dsp:nvSpPr>
      <dsp:spPr>
        <a:xfrm rot="5400000">
          <a:off x="4062754" y="-1987868"/>
          <a:ext cx="775832" cy="4928907"/>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rtl="0">
            <a:lnSpc>
              <a:spcPct val="90000"/>
            </a:lnSpc>
            <a:spcBef>
              <a:spcPct val="0"/>
            </a:spcBef>
            <a:spcAft>
              <a:spcPct val="15000"/>
            </a:spcAft>
            <a:buChar char="•"/>
          </a:pPr>
          <a:r>
            <a:rPr lang="en-US" sz="1200" b="1" kern="1200" dirty="0"/>
            <a:t>Monitor any </a:t>
          </a:r>
          <a:r>
            <a:rPr lang="en-US" sz="1200" b="1" kern="1200" dirty="0" err="1"/>
            <a:t>logfile</a:t>
          </a:r>
          <a:endParaRPr lang="en-US" sz="1200" b="1" kern="1200" dirty="0"/>
        </a:p>
        <a:p>
          <a:pPr marL="114300" lvl="1" indent="-114300" algn="l" defTabSz="533400" rtl="0">
            <a:lnSpc>
              <a:spcPct val="90000"/>
            </a:lnSpc>
            <a:spcBef>
              <a:spcPct val="0"/>
            </a:spcBef>
            <a:spcAft>
              <a:spcPct val="15000"/>
            </a:spcAft>
            <a:buChar char="•"/>
          </a:pPr>
          <a:r>
            <a:rPr lang="en-US" sz="1200" b="1" kern="1200" dirty="0"/>
            <a:t>Specify regular expression to match against</a:t>
          </a:r>
        </a:p>
        <a:p>
          <a:pPr marL="114300" lvl="1" indent="-114300" algn="l" defTabSz="533400" rtl="0">
            <a:lnSpc>
              <a:spcPct val="90000"/>
            </a:lnSpc>
            <a:spcBef>
              <a:spcPct val="0"/>
            </a:spcBef>
            <a:spcAft>
              <a:spcPct val="15000"/>
            </a:spcAft>
            <a:buChar char="•"/>
          </a:pPr>
          <a:r>
            <a:rPr lang="en-US" sz="1200" b="1" kern="1200" dirty="0"/>
            <a:t>Target computer or group</a:t>
          </a:r>
        </a:p>
      </dsp:txBody>
      <dsp:txXfrm rot="-5400000">
        <a:off x="1986217" y="126542"/>
        <a:ext cx="4891034" cy="700086"/>
      </dsp:txXfrm>
    </dsp:sp>
    <dsp:sp modelId="{05B8B79E-483B-407F-8A42-F76D3FF7EAB1}">
      <dsp:nvSpPr>
        <dsp:cNvPr id="0" name=""/>
        <dsp:cNvSpPr/>
      </dsp:nvSpPr>
      <dsp:spPr>
        <a:xfrm>
          <a:off x="138876" y="1439"/>
          <a:ext cx="1847341" cy="9502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rtl="0">
            <a:lnSpc>
              <a:spcPct val="90000"/>
            </a:lnSpc>
            <a:spcBef>
              <a:spcPct val="0"/>
            </a:spcBef>
            <a:spcAft>
              <a:spcPct val="35000"/>
            </a:spcAft>
            <a:buNone/>
          </a:pPr>
          <a:r>
            <a:rPr lang="en-US" sz="1600" kern="1200" dirty="0"/>
            <a:t>Custom </a:t>
          </a:r>
          <a:r>
            <a:rPr lang="en-US" sz="1600" kern="1200" dirty="0" err="1"/>
            <a:t>LogFile</a:t>
          </a:r>
          <a:r>
            <a:rPr lang="en-US" sz="1600" kern="1200" dirty="0"/>
            <a:t> Monitoring</a:t>
          </a:r>
        </a:p>
      </dsp:txBody>
      <dsp:txXfrm>
        <a:off x="185265" y="47828"/>
        <a:ext cx="1754563" cy="857512"/>
      </dsp:txXfrm>
    </dsp:sp>
    <dsp:sp modelId="{9BD3ECB9-8252-4F31-BF5C-53532331C0F8}">
      <dsp:nvSpPr>
        <dsp:cNvPr id="0" name=""/>
        <dsp:cNvSpPr/>
      </dsp:nvSpPr>
      <dsp:spPr>
        <a:xfrm rot="5400000">
          <a:off x="4062754" y="-990063"/>
          <a:ext cx="775832" cy="4928907"/>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rtl="0">
            <a:lnSpc>
              <a:spcPct val="90000"/>
            </a:lnSpc>
            <a:spcBef>
              <a:spcPct val="0"/>
            </a:spcBef>
            <a:spcAft>
              <a:spcPct val="15000"/>
            </a:spcAft>
            <a:buChar char="•"/>
          </a:pPr>
          <a:r>
            <a:rPr lang="en-US" sz="1200" b="1" kern="1200" dirty="0"/>
            <a:t>Monitor by name any service, daemon or process</a:t>
          </a:r>
        </a:p>
        <a:p>
          <a:pPr marL="114300" lvl="1" indent="-114300" algn="l" defTabSz="533400" rtl="0">
            <a:lnSpc>
              <a:spcPct val="90000"/>
            </a:lnSpc>
            <a:spcBef>
              <a:spcPct val="0"/>
            </a:spcBef>
            <a:spcAft>
              <a:spcPct val="15000"/>
            </a:spcAft>
            <a:buChar char="•"/>
          </a:pPr>
          <a:r>
            <a:rPr lang="en-US" sz="1200" b="1" kern="1200" dirty="0"/>
            <a:t>Distinguish duplicate names with regex filter on process arguments</a:t>
          </a:r>
        </a:p>
        <a:p>
          <a:pPr marL="114300" lvl="1" indent="-114300" algn="l" defTabSz="533400" rtl="0">
            <a:lnSpc>
              <a:spcPct val="90000"/>
            </a:lnSpc>
            <a:spcBef>
              <a:spcPct val="0"/>
            </a:spcBef>
            <a:spcAft>
              <a:spcPct val="15000"/>
            </a:spcAft>
            <a:buChar char="•"/>
          </a:pPr>
          <a:r>
            <a:rPr lang="en-US" sz="1200" b="1" kern="1200" dirty="0"/>
            <a:t>Specify minimum and maximum counts</a:t>
          </a:r>
        </a:p>
        <a:p>
          <a:pPr marL="114300" lvl="1" indent="-114300" algn="l" defTabSz="533400">
            <a:lnSpc>
              <a:spcPct val="90000"/>
            </a:lnSpc>
            <a:spcBef>
              <a:spcPct val="0"/>
            </a:spcBef>
            <a:spcAft>
              <a:spcPct val="15000"/>
            </a:spcAft>
            <a:buChar char="•"/>
          </a:pPr>
          <a:r>
            <a:rPr lang="en-US" sz="1200" b="1" kern="1200" dirty="0"/>
            <a:t>Target computer or group</a:t>
          </a:r>
        </a:p>
      </dsp:txBody>
      <dsp:txXfrm rot="-5400000">
        <a:off x="1986217" y="1124347"/>
        <a:ext cx="4891034" cy="700086"/>
      </dsp:txXfrm>
    </dsp:sp>
    <dsp:sp modelId="{E222F5B1-3F1F-470F-A572-56AD5AA7A11F}">
      <dsp:nvSpPr>
        <dsp:cNvPr id="0" name=""/>
        <dsp:cNvSpPr/>
      </dsp:nvSpPr>
      <dsp:spPr>
        <a:xfrm>
          <a:off x="138876" y="999245"/>
          <a:ext cx="1847341" cy="9502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rtl="0">
            <a:lnSpc>
              <a:spcPct val="90000"/>
            </a:lnSpc>
            <a:spcBef>
              <a:spcPct val="0"/>
            </a:spcBef>
            <a:spcAft>
              <a:spcPct val="35000"/>
            </a:spcAft>
            <a:buNone/>
          </a:pPr>
          <a:r>
            <a:rPr lang="en-US" sz="1600" kern="1200" dirty="0"/>
            <a:t>Process Monitoring</a:t>
          </a:r>
        </a:p>
      </dsp:txBody>
      <dsp:txXfrm>
        <a:off x="185265" y="1045634"/>
        <a:ext cx="1754563" cy="857512"/>
      </dsp:txXfrm>
    </dsp:sp>
    <dsp:sp modelId="{9920C70D-67C2-403C-B333-6F6EC0F2846C}">
      <dsp:nvSpPr>
        <dsp:cNvPr id="0" name=""/>
        <dsp:cNvSpPr/>
      </dsp:nvSpPr>
      <dsp:spPr>
        <a:xfrm rot="5400000">
          <a:off x="4062754" y="7742"/>
          <a:ext cx="775832" cy="4928907"/>
        </a:xfrm>
        <a:prstGeom prst="round2SameRect">
          <a:avLst/>
        </a:prstGeom>
        <a:solidFill>
          <a:schemeClr val="accent1">
            <a:alpha val="90000"/>
            <a:tint val="40000"/>
            <a:hueOff val="0"/>
            <a:satOff val="0"/>
            <a:lumOff val="0"/>
            <a:alphaOff val="0"/>
          </a:schemeClr>
        </a:solidFill>
        <a:ln w="25400" cap="flat" cmpd="sng" algn="ctr">
          <a:solidFill>
            <a:schemeClr val="accent1">
              <a:alpha val="90000"/>
              <a:tint val="40000"/>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14300" lvl="1" indent="-114300" algn="l" defTabSz="533400" rtl="0">
            <a:lnSpc>
              <a:spcPct val="90000"/>
            </a:lnSpc>
            <a:spcBef>
              <a:spcPct val="0"/>
            </a:spcBef>
            <a:spcAft>
              <a:spcPct val="15000"/>
            </a:spcAft>
            <a:buChar char="•"/>
          </a:pPr>
          <a:r>
            <a:rPr lang="en-US" sz="1200" b="1" kern="1200" dirty="0"/>
            <a:t>Run any shell command line to determine health or performance</a:t>
          </a:r>
        </a:p>
        <a:p>
          <a:pPr marL="114300" lvl="1" indent="-114300" algn="l" defTabSz="533400">
            <a:lnSpc>
              <a:spcPct val="90000"/>
            </a:lnSpc>
            <a:spcBef>
              <a:spcPct val="0"/>
            </a:spcBef>
            <a:spcAft>
              <a:spcPct val="15000"/>
            </a:spcAft>
            <a:buChar char="•"/>
          </a:pPr>
          <a:r>
            <a:rPr lang="en-US" sz="1200" b="1" kern="1200" dirty="0"/>
            <a:t>Target computer or group</a:t>
          </a:r>
        </a:p>
      </dsp:txBody>
      <dsp:txXfrm rot="-5400000">
        <a:off x="1986217" y="2122153"/>
        <a:ext cx="4891034" cy="700086"/>
      </dsp:txXfrm>
    </dsp:sp>
    <dsp:sp modelId="{F8FCF156-A058-4396-ACF8-A3DCE1E1EB25}">
      <dsp:nvSpPr>
        <dsp:cNvPr id="0" name=""/>
        <dsp:cNvSpPr/>
      </dsp:nvSpPr>
      <dsp:spPr>
        <a:xfrm>
          <a:off x="138876" y="1997050"/>
          <a:ext cx="1847341" cy="9502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a:scene3d>
          <a:camera prst="orthographicFront"/>
          <a:lightRig rig="threePt" dir="t"/>
        </a:scene3d>
        <a:sp3d>
          <a:bevelT/>
        </a:sp3d>
      </dsp:spPr>
      <dsp:style>
        <a:lnRef idx="2">
          <a:scrgbClr r="0" g="0" b="0"/>
        </a:lnRef>
        <a:fillRef idx="1">
          <a:scrgbClr r="0" g="0" b="0"/>
        </a:fillRef>
        <a:effectRef idx="0">
          <a:scrgbClr r="0" g="0" b="0"/>
        </a:effectRef>
        <a:fontRef idx="minor">
          <a:schemeClr val="lt1"/>
        </a:fontRef>
      </dsp:style>
      <dsp:txBody>
        <a:bodyPr spcFirstLastPara="0" vert="horz" wrap="square" lIns="60960" tIns="30480" rIns="60960" bIns="30480" numCol="1" spcCol="1270" anchor="ctr" anchorCtr="0">
          <a:noAutofit/>
        </a:bodyPr>
        <a:lstStyle/>
        <a:p>
          <a:pPr marL="0" lvl="0" indent="0" algn="ctr" defTabSz="711200" rtl="0">
            <a:lnSpc>
              <a:spcPct val="90000"/>
            </a:lnSpc>
            <a:spcBef>
              <a:spcPct val="0"/>
            </a:spcBef>
            <a:spcAft>
              <a:spcPct val="35000"/>
            </a:spcAft>
            <a:buNone/>
          </a:pPr>
          <a:r>
            <a:rPr lang="en-US" sz="1600" kern="1200" dirty="0"/>
            <a:t>Command line rules and monitors</a:t>
          </a:r>
        </a:p>
      </dsp:txBody>
      <dsp:txXfrm>
        <a:off x="185265" y="2043439"/>
        <a:ext cx="1754563" cy="857512"/>
      </dsp:txXfrm>
    </dsp:sp>
  </dsp:spTree>
</dsp:drawing>
</file>

<file path=ppt/diagrams/layout1.xml><?xml version="1.0" encoding="utf-8"?>
<dgm:layoutDef xmlns:dgm="http://schemas.openxmlformats.org/drawingml/2006/diagram" xmlns:a="http://schemas.openxmlformats.org/drawingml/2006/main" uniqueId="urn:microsoft.com/office/officeart/2005/8/layout/hList3">
  <dgm:title val=""/>
  <dgm:desc val=""/>
  <dgm:catLst>
    <dgm:cat type="list" pri="1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1" destId="2" srcOrd="0" destOrd="0"/>
        <dgm:cxn modelId="7" srcId="1" destId="3" srcOrd="1" destOrd="0"/>
        <dgm:cxn modelId="8" srcId="1" destId="4" srcOrd="2" destOrd="0"/>
      </dgm:cxnLst>
      <dgm:bg/>
      <dgm:whole/>
    </dgm:dataModel>
  </dgm:sampData>
  <dgm:styleData>
    <dgm:dataModel>
      <dgm:ptLst>
        <dgm:pt modelId="0" type="doc"/>
        <dgm:pt modelId="1"/>
        <dgm:pt modelId="2"/>
        <dgm:pt modelId="3"/>
      </dgm:ptLst>
      <dgm:cxnLst>
        <dgm:cxn modelId="5" srcId="0" destId="1" srcOrd="0" destOrd="0"/>
        <dgm:cxn modelId="6" srcId="1" destId="2" srcOrd="0" destOrd="0"/>
        <dgm:cxn modelId="7" srcId="1" destId="3" srcOrd="1" destOrd="0"/>
      </dgm:cxnLst>
      <dgm:bg/>
      <dgm:whole/>
    </dgm:dataModel>
  </dgm:styleData>
  <dgm:clrData>
    <dgm:dataModel>
      <dgm:ptLst>
        <dgm:pt modelId="0" type="doc"/>
        <dgm:pt modelId="1"/>
        <dgm:pt modelId="2"/>
        <dgm:pt modelId="3"/>
        <dgm:pt modelId="4"/>
        <dgm:pt modelId="5"/>
      </dgm:ptLst>
      <dgm:cxnLst>
        <dgm:cxn modelId="6" srcId="0" destId="1" srcOrd="0" destOrd="0"/>
        <dgm:cxn modelId="7" srcId="1" destId="2" srcOrd="0" destOrd="0"/>
        <dgm:cxn modelId="8" srcId="1" destId="3" srcOrd="1" destOrd="0"/>
        <dgm:cxn modelId="9" srcId="1" destId="4" srcOrd="2" destOrd="0"/>
        <dgm:cxn modelId="10" srcId="1" destId="5" srcOrd="3" destOrd="0"/>
      </dgm:cxnLst>
      <dgm:bg/>
      <dgm:whole/>
    </dgm:dataModel>
  </dgm:clrData>
  <dgm:layoutNode name="composite">
    <dgm:varLst>
      <dgm:chMax val="1"/>
      <dgm:dir/>
      <dgm:resizeHandles val="exact"/>
    </dgm:varLst>
    <dgm:alg type="composite"/>
    <dgm:shape xmlns:r="http://schemas.openxmlformats.org/officeDocument/2006/relationships" r:blip="">
      <dgm:adjLst/>
    </dgm:shape>
    <dgm:presOf/>
    <dgm:constrLst>
      <dgm:constr type="w" for="ch" forName="roof" refType="w"/>
      <dgm:constr type="h" for="ch" forName="roof" refType="h" fact="0.3"/>
      <dgm:constr type="primFontSz" for="ch" forName="roof" val="65"/>
      <dgm:constr type="w" for="ch" forName="pillars" refType="w"/>
      <dgm:constr type="h" for="ch" forName="pillars" refType="h" fact="0.63"/>
      <dgm:constr type="t" for="ch" forName="pillars" refType="h" fact="0.3"/>
      <dgm:constr type="primFontSz" for="des" forName="pillar1" val="65"/>
      <dgm:constr type="primFontSz" for="des" forName="pillarX" refType="primFontSz" refFor="des" refForName="pillar1" op="equ"/>
      <dgm:constr type="w" for="ch" forName="base" refType="w"/>
      <dgm:constr type="h" for="ch" forName="base" refType="h" fact="0.07"/>
      <dgm:constr type="t" for="ch" forName="base" refType="h" fact="0.93"/>
    </dgm:constrLst>
    <dgm:ruleLst/>
    <dgm:forEach name="Name0" axis="ch" ptType="node" cnt="1">
      <dgm:layoutNode name="roof" styleLbl="dkBgShp">
        <dgm:alg type="tx"/>
        <dgm:shape xmlns:r="http://schemas.openxmlformats.org/officeDocument/2006/relationships" type="rect" r:blip="">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illars" styleLbl="node1">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pillar1" refType="w"/>
          <dgm:constr type="h" for="ch" forName="pillar1" refType="h"/>
          <dgm:constr type="w" for="ch" forName="pillarX" refType="w"/>
          <dgm:constr type="h" for="ch" forName="pillarX" refType="h"/>
        </dgm:constrLst>
        <dgm:ruleLst/>
        <dgm:layoutNode name="pillar1" styleLbl="node1">
          <dgm:varLst>
            <dgm:bulletEnabled val="1"/>
          </dgm:varLst>
          <dgm:alg type="tx"/>
          <dgm:shape xmlns:r="http://schemas.openxmlformats.org/officeDocument/2006/relationships" type="rect" r:blip="">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ch" ptType="node" st="2">
          <dgm:layoutNode name="pillarX" styleLbl="node1">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layoutNode>
      <dgm:layoutNode name="base" styleLbl="dkBgShp">
        <dgm:alg type="sp"/>
        <dgm:shape xmlns:r="http://schemas.openxmlformats.org/officeDocument/2006/relationships" type="rect" r:blip="">
          <dgm:adjLst/>
        </dgm:shape>
        <dgm:presOf/>
        <dgm:constrLst/>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169920" cy="481727"/>
          </a:xfrm>
          <a:prstGeom prst="rect">
            <a:avLst/>
          </a:prstGeom>
        </p:spPr>
        <p:txBody>
          <a:bodyPr vert="horz" lIns="96661" tIns="48331" rIns="96661" bIns="48331" rtlCol="0"/>
          <a:lstStyle>
            <a:lvl1pPr algn="l">
              <a:defRPr sz="1300"/>
            </a:lvl1pPr>
          </a:lstStyle>
          <a:p>
            <a:endParaRPr lang="de-CH"/>
          </a:p>
        </p:txBody>
      </p:sp>
      <p:sp>
        <p:nvSpPr>
          <p:cNvPr id="3" name="Date Placeholder 2"/>
          <p:cNvSpPr>
            <a:spLocks noGrp="1"/>
          </p:cNvSpPr>
          <p:nvPr>
            <p:ph type="dt" sz="quarter" idx="1"/>
          </p:nvPr>
        </p:nvSpPr>
        <p:spPr>
          <a:xfrm>
            <a:off x="4143587" y="1"/>
            <a:ext cx="3169920" cy="481727"/>
          </a:xfrm>
          <a:prstGeom prst="rect">
            <a:avLst/>
          </a:prstGeom>
        </p:spPr>
        <p:txBody>
          <a:bodyPr vert="horz" lIns="96661" tIns="48331" rIns="96661" bIns="48331" rtlCol="0"/>
          <a:lstStyle>
            <a:lvl1pPr algn="r">
              <a:defRPr sz="1300"/>
            </a:lvl1pPr>
          </a:lstStyle>
          <a:p>
            <a:fld id="{5E8CA84D-A50C-462A-A76F-EF429BD955C2}" type="datetimeFigureOut">
              <a:rPr lang="de-CH" smtClean="0"/>
              <a:t>24.08.2016</a:t>
            </a:fld>
            <a:endParaRPr lang="de-CH"/>
          </a:p>
        </p:txBody>
      </p:sp>
      <p:sp>
        <p:nvSpPr>
          <p:cNvPr id="4" name="Footer Placeholder 3"/>
          <p:cNvSpPr>
            <a:spLocks noGrp="1"/>
          </p:cNvSpPr>
          <p:nvPr>
            <p:ph type="ftr" sz="quarter" idx="2"/>
          </p:nvPr>
        </p:nvSpPr>
        <p:spPr>
          <a:xfrm>
            <a:off x="0" y="9119474"/>
            <a:ext cx="3169920" cy="481726"/>
          </a:xfrm>
          <a:prstGeom prst="rect">
            <a:avLst/>
          </a:prstGeom>
        </p:spPr>
        <p:txBody>
          <a:bodyPr vert="horz" lIns="96661" tIns="48331" rIns="96661" bIns="48331" rtlCol="0" anchor="b"/>
          <a:lstStyle>
            <a:lvl1pPr algn="l">
              <a:defRPr sz="1300"/>
            </a:lvl1pPr>
          </a:lstStyle>
          <a:p>
            <a:endParaRPr lang="de-CH"/>
          </a:p>
        </p:txBody>
      </p:sp>
      <p:sp>
        <p:nvSpPr>
          <p:cNvPr id="5" name="Slide Number Placeholder 4"/>
          <p:cNvSpPr>
            <a:spLocks noGrp="1"/>
          </p:cNvSpPr>
          <p:nvPr>
            <p:ph type="sldNum" sz="quarter" idx="3"/>
          </p:nvPr>
        </p:nvSpPr>
        <p:spPr>
          <a:xfrm>
            <a:off x="4143587" y="9119474"/>
            <a:ext cx="3169920" cy="481726"/>
          </a:xfrm>
          <a:prstGeom prst="rect">
            <a:avLst/>
          </a:prstGeom>
        </p:spPr>
        <p:txBody>
          <a:bodyPr vert="horz" lIns="96661" tIns="48331" rIns="96661" bIns="48331" rtlCol="0" anchor="b"/>
          <a:lstStyle>
            <a:lvl1pPr algn="r">
              <a:defRPr sz="1300"/>
            </a:lvl1pPr>
          </a:lstStyle>
          <a:p>
            <a:fld id="{0CF4702F-5E2A-4E23-A276-899C753A7152}" type="slidenum">
              <a:rPr lang="de-CH" smtClean="0"/>
              <a:t>‹#›</a:t>
            </a:fld>
            <a:endParaRPr lang="de-CH"/>
          </a:p>
        </p:txBody>
      </p:sp>
    </p:spTree>
    <p:extLst>
      <p:ext uri="{BB962C8B-B14F-4D97-AF65-F5344CB8AC3E}">
        <p14:creationId xmlns:p14="http://schemas.microsoft.com/office/powerpoint/2010/main" val="30302005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1"/>
            <a:ext cx="3169920" cy="481727"/>
          </a:xfrm>
          <a:prstGeom prst="rect">
            <a:avLst/>
          </a:prstGeom>
        </p:spPr>
        <p:txBody>
          <a:bodyPr vert="horz" lIns="96661" tIns="48331" rIns="96661" bIns="48331" rtlCol="0"/>
          <a:lstStyle>
            <a:lvl1pPr algn="r">
              <a:defRPr sz="1300"/>
            </a:lvl1pPr>
          </a:lstStyle>
          <a:p>
            <a:fld id="{C404AC08-4B83-4007-AD8C-3327B426147E}" type="datetimeFigureOut">
              <a:rPr lang="en-US" smtClean="0"/>
              <a:t>8/24/2016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4"/>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F776870B-36E6-45AA-AB02-E2A09D4A3228}" type="slidenum">
              <a:rPr lang="en-US" smtClean="0"/>
              <a:t>‹#›</a:t>
            </a:fld>
            <a:endParaRPr lang="en-US"/>
          </a:p>
        </p:txBody>
      </p:sp>
    </p:spTree>
    <p:extLst>
      <p:ext uri="{BB962C8B-B14F-4D97-AF65-F5344CB8AC3E}">
        <p14:creationId xmlns:p14="http://schemas.microsoft.com/office/powerpoint/2010/main" val="41434194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azure.microsoft.com/en-us/documentation/articles/log-analytics-windows-agents/" TargetMode="External"/><Relationship Id="rId7" Type="http://schemas.openxmlformats.org/officeDocument/2006/relationships/hyperlink" Target="https://azure.microsoft.com/en-us/documentation/articles/storage-introduction/" TargetMode="External"/><Relationship Id="rId2" Type="http://schemas.openxmlformats.org/officeDocument/2006/relationships/slide" Target="../slides/slide17.xml"/><Relationship Id="rId1" Type="http://schemas.openxmlformats.org/officeDocument/2006/relationships/notesMaster" Target="../notesMasters/notesMaster1.xml"/><Relationship Id="rId6" Type="http://schemas.openxmlformats.org/officeDocument/2006/relationships/hyperlink" Target="https://azure.microsoft.com/en-us/documentation/articles/log-analytics-get-started/" TargetMode="External"/><Relationship Id="rId5" Type="http://schemas.openxmlformats.org/officeDocument/2006/relationships/hyperlink" Target="https://azure.microsoft.com/en-us/documentation/articles/log-analytics-om-agents/" TargetMode="External"/><Relationship Id="rId4" Type="http://schemas.openxmlformats.org/officeDocument/2006/relationships/hyperlink" Target="https://azure.microsoft.com/en-us/documentation/articles/log-analytics-linux-agents/"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en.wikipedia.org/wiki/Ruby_MRI"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en.wikipedia.org/wiki/Microsoft" TargetMode="External"/><Relationship Id="rId5" Type="http://schemas.openxmlformats.org/officeDocument/2006/relationships/hyperlink" Target="https://en.wikipedia.org/wiki/Common_Information_Model_(computing)" TargetMode="External"/><Relationship Id="rId4" Type="http://schemas.openxmlformats.org/officeDocument/2006/relationships/hyperlink" Target="http://fluentd.org/"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collectd.org/"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76870B-36E6-45AA-AB02-E2A09D4A3228}" type="slidenum">
              <a:rPr lang="en-US" smtClean="0"/>
              <a:t>1</a:t>
            </a:fld>
            <a:endParaRPr lang="en-US"/>
          </a:p>
        </p:txBody>
      </p:sp>
    </p:spTree>
    <p:extLst>
      <p:ext uri="{BB962C8B-B14F-4D97-AF65-F5344CB8AC3E}">
        <p14:creationId xmlns:p14="http://schemas.microsoft.com/office/powerpoint/2010/main" val="2082214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2</a:t>
            </a:fld>
            <a:endParaRPr lang="en-US"/>
          </a:p>
        </p:txBody>
      </p:sp>
    </p:spTree>
    <p:extLst>
      <p:ext uri="{BB962C8B-B14F-4D97-AF65-F5344CB8AC3E}">
        <p14:creationId xmlns:p14="http://schemas.microsoft.com/office/powerpoint/2010/main" val="30116050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is who </a:t>
            </a:r>
            <a:r>
              <a:rPr lang="en-US">
                <a:sym typeface="Wingdings" panose="05000000000000000000" pitchFamily="2" charset="2"/>
              </a:rPr>
              <a:t></a:t>
            </a:r>
            <a:endParaRPr lang="en-US"/>
          </a:p>
        </p:txBody>
      </p:sp>
      <p:sp>
        <p:nvSpPr>
          <p:cNvPr id="4" name="Slide Number Placeholder 3"/>
          <p:cNvSpPr>
            <a:spLocks noGrp="1"/>
          </p:cNvSpPr>
          <p:nvPr>
            <p:ph type="sldNum" sz="quarter" idx="10"/>
          </p:nvPr>
        </p:nvSpPr>
        <p:spPr/>
        <p:txBody>
          <a:bodyPr/>
          <a:lstStyle/>
          <a:p>
            <a:fld id="{CA43AB38-36EE-45F7-A0D1-2216852CBA12}" type="slidenum">
              <a:rPr lang="en-US" smtClean="0"/>
              <a:t>3</a:t>
            </a:fld>
            <a:endParaRPr lang="en-US"/>
          </a:p>
        </p:txBody>
      </p:sp>
    </p:spTree>
    <p:extLst>
      <p:ext uri="{BB962C8B-B14F-4D97-AF65-F5344CB8AC3E}">
        <p14:creationId xmlns:p14="http://schemas.microsoft.com/office/powerpoint/2010/main" val="1464700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Who is who </a:t>
            </a:r>
            <a:r>
              <a:rPr lang="en-US">
                <a:sym typeface="Wingdings" panose="05000000000000000000" pitchFamily="2" charset="2"/>
              </a:rPr>
              <a:t></a:t>
            </a:r>
            <a:endParaRPr lang="en-US"/>
          </a:p>
        </p:txBody>
      </p:sp>
      <p:sp>
        <p:nvSpPr>
          <p:cNvPr id="4" name="Slide Number Placeholder 3"/>
          <p:cNvSpPr>
            <a:spLocks noGrp="1"/>
          </p:cNvSpPr>
          <p:nvPr>
            <p:ph type="sldNum" sz="quarter" idx="10"/>
          </p:nvPr>
        </p:nvSpPr>
        <p:spPr/>
        <p:txBody>
          <a:bodyPr/>
          <a:lstStyle/>
          <a:p>
            <a:fld id="{CA43AB38-36EE-45F7-A0D1-2216852CBA12}" type="slidenum">
              <a:rPr lang="en-US" smtClean="0"/>
              <a:t>4</a:t>
            </a:fld>
            <a:endParaRPr lang="en-US"/>
          </a:p>
        </p:txBody>
      </p:sp>
    </p:spTree>
    <p:extLst>
      <p:ext uri="{BB962C8B-B14F-4D97-AF65-F5344CB8AC3E}">
        <p14:creationId xmlns:p14="http://schemas.microsoft.com/office/powerpoint/2010/main" val="19395855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76870B-36E6-45AA-AB02-E2A09D4A3228}" type="slidenum">
              <a:rPr lang="en-US" smtClean="0"/>
              <a:t>5</a:t>
            </a:fld>
            <a:endParaRPr lang="en-US"/>
          </a:p>
        </p:txBody>
      </p:sp>
    </p:spTree>
    <p:extLst>
      <p:ext uri="{BB962C8B-B14F-4D97-AF65-F5344CB8AC3E}">
        <p14:creationId xmlns:p14="http://schemas.microsoft.com/office/powerpoint/2010/main" val="2341993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a:t>
            </a:r>
            <a:r>
              <a:rPr lang="en-US" baseline="0" dirty="0"/>
              <a:t> remembers this gentlemen? It was not so long ago this former CEO of Microsoft used to say things like this QUOTE. Or even in a bit shorter form QUOTE. My </a:t>
            </a:r>
            <a:r>
              <a:rPr lang="en-US" baseline="0" dirty="0" err="1"/>
              <a:t>favourtie</a:t>
            </a:r>
            <a:r>
              <a:rPr lang="en-US" baseline="0" dirty="0"/>
              <a:t> Quote is like the last one QUOTE. Back those days cross-platform  support was limited to certain products only. But all of a sudden a Linux Liberator appeared…this man NEXT Slide.</a:t>
            </a:r>
            <a:endParaRPr lang="en-US" dirty="0"/>
          </a:p>
        </p:txBody>
      </p:sp>
      <p:sp>
        <p:nvSpPr>
          <p:cNvPr id="4" name="Header Placeholder 3"/>
          <p:cNvSpPr>
            <a:spLocks noGrp="1"/>
          </p:cNvSpPr>
          <p:nvPr>
            <p:ph type="hdr" sz="quarter" idx="10"/>
          </p:nvPr>
        </p:nvSpPr>
        <p:spPr/>
        <p:txBody>
          <a:bodyPr/>
          <a:lstStyle/>
          <a:p>
            <a:r>
              <a:rPr lang="en-US"/>
              <a:t>Microsoft Ignite 2015</a:t>
            </a:r>
            <a:endParaRPr lang="en-US" dirty="0"/>
          </a:p>
        </p:txBody>
      </p:sp>
      <p:sp>
        <p:nvSpPr>
          <p:cNvPr id="5" name="Footer Placeholder 4"/>
          <p:cNvSpPr>
            <a:spLocks noGrp="1"/>
          </p:cNvSpPr>
          <p:nvPr>
            <p:ph type="ftr" sz="quarter" idx="11"/>
          </p:nvPr>
        </p:nvSpPr>
        <p:spPr/>
        <p:txBody>
          <a:bodyPr/>
          <a:lstStyle/>
          <a:p>
            <a:pPr defTabSz="96629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2015 Microsoft Corporation. All rights reserved.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38EEC551-8CDA-4EB6-89BB-2A86C9F091C8}" type="datetime8">
              <a:rPr lang="en-US" smtClean="0"/>
              <a:t>8/24/2016 9:53 AM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22858483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since</a:t>
            </a:r>
            <a:r>
              <a:rPr lang="en-US" baseline="0" dirty="0"/>
              <a:t> this gentleman came to the throne, everything changed to the opposite. There were covers like this CLICK, or like this CLICK or like this CLICK. Also the Wallpapers changed to some penguin like pictures and finally Microsoft fell definitely in love. But as you can imagine some Windows Admins looked like that (last slide)</a:t>
            </a:r>
          </a:p>
        </p:txBody>
      </p:sp>
      <p:sp>
        <p:nvSpPr>
          <p:cNvPr id="4" name="Header Placeholder 3"/>
          <p:cNvSpPr>
            <a:spLocks noGrp="1"/>
          </p:cNvSpPr>
          <p:nvPr>
            <p:ph type="hdr" sz="quarter" idx="10"/>
          </p:nvPr>
        </p:nvSpPr>
        <p:spPr/>
        <p:txBody>
          <a:bodyPr/>
          <a:lstStyle/>
          <a:p>
            <a:r>
              <a:rPr lang="en-US"/>
              <a:t>Microsoft Ignite 2015</a:t>
            </a:r>
            <a:endParaRPr lang="en-US" dirty="0"/>
          </a:p>
        </p:txBody>
      </p:sp>
      <p:sp>
        <p:nvSpPr>
          <p:cNvPr id="5" name="Footer Placeholder 4"/>
          <p:cNvSpPr>
            <a:spLocks noGrp="1"/>
          </p:cNvSpPr>
          <p:nvPr>
            <p:ph type="ftr" sz="quarter" idx="11"/>
          </p:nvPr>
        </p:nvSpPr>
        <p:spPr/>
        <p:txBody>
          <a:bodyPr/>
          <a:lstStyle/>
          <a:p>
            <a:pPr defTabSz="96629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2015 Microsoft Corporation. All rights reserved.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38EEC551-8CDA-4EB6-89BB-2A86C9F091C8}" type="datetime8">
              <a:rPr lang="en-US" smtClean="0"/>
              <a:t>8/24/2016 9:53 AM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30949209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a:t>
            </a:r>
            <a:r>
              <a:rPr lang="en-US" baseline="0" dirty="0"/>
              <a:t> was and is an increasing momentum. If we look back in terms of </a:t>
            </a:r>
            <a:r>
              <a:rPr lang="en-US" baseline="0" dirty="0" err="1"/>
              <a:t>on-premise</a:t>
            </a:r>
            <a:r>
              <a:rPr lang="en-US" baseline="0" dirty="0"/>
              <a:t> System Center products SCOM was one of the first product </a:t>
            </a:r>
            <a:r>
              <a:rPr lang="en-US" baseline="0" dirty="0" err="1"/>
              <a:t>havin</a:t>
            </a:r>
            <a:r>
              <a:rPr lang="en-US" baseline="0" dirty="0"/>
              <a:t> Linux/UNIX support. And the support increase getting JEE support. Almost in parallel </a:t>
            </a:r>
            <a:r>
              <a:rPr lang="en-US" baseline="0" dirty="0" err="1"/>
              <a:t>ConfigMgr</a:t>
            </a:r>
            <a:r>
              <a:rPr lang="en-US" baseline="0" dirty="0"/>
              <a:t> supported also cross-platform products in, followed by VMM and DPM and finally there is a yet not finalized MP for Apache and MySQL for SCOM 2016 (at least SCOM 2016 TP2). To get started let’s have an overview how the SCOM agent works.</a:t>
            </a:r>
          </a:p>
        </p:txBody>
      </p:sp>
      <p:sp>
        <p:nvSpPr>
          <p:cNvPr id="4" name="Slide Number Placeholder 3"/>
          <p:cNvSpPr>
            <a:spLocks noGrp="1"/>
          </p:cNvSpPr>
          <p:nvPr>
            <p:ph type="sldNum" sz="quarter" idx="10"/>
          </p:nvPr>
        </p:nvSpPr>
        <p:spPr/>
        <p:txBody>
          <a:bodyPr/>
          <a:lstStyle/>
          <a:p>
            <a:pPr>
              <a:defRPr/>
            </a:pPr>
            <a:fld id="{0DDD1004-CDF9-4DFB-AB77-2785DE7911C4}" type="slidenum">
              <a:rPr lang="en-US" smtClean="0"/>
              <a:pPr>
                <a:defRPr/>
              </a:pPr>
              <a:t>8</a:t>
            </a:fld>
            <a:endParaRPr lang="en-US" dirty="0"/>
          </a:p>
        </p:txBody>
      </p:sp>
    </p:spTree>
    <p:extLst>
      <p:ext uri="{BB962C8B-B14F-4D97-AF65-F5344CB8AC3E}">
        <p14:creationId xmlns:p14="http://schemas.microsoft.com/office/powerpoint/2010/main" val="38257711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are not familiar how the Linux agent</a:t>
            </a:r>
            <a:r>
              <a:rPr lang="en-US" baseline="0" dirty="0"/>
              <a:t> works, here a short overview of the Windows and Linux agent. On the left side there is the management server having SDK service, </a:t>
            </a:r>
            <a:r>
              <a:rPr lang="en-US" baseline="0" dirty="0" err="1"/>
              <a:t>config</a:t>
            </a:r>
            <a:r>
              <a:rPr lang="en-US" baseline="0" dirty="0"/>
              <a:t> service and health service. On the right side there is a windows computer having the agent installed. The agent will pull the MPs from the management server, getting all the configuration and the it will start executing the workflows on the agent, running discoveries, rules and monitors and finally sending back the event, state and performance data.</a:t>
            </a:r>
          </a:p>
          <a:p>
            <a:endParaRPr lang="en-US" baseline="0" dirty="0"/>
          </a:p>
          <a:p>
            <a:r>
              <a:rPr lang="en-US" baseline="0" dirty="0"/>
              <a:t>On the Linux side there is a lightweight agent </a:t>
            </a:r>
            <a:r>
              <a:rPr lang="en-US" baseline="0" dirty="0" err="1"/>
              <a:t>inplace</a:t>
            </a:r>
            <a:r>
              <a:rPr lang="en-US" baseline="0" dirty="0"/>
              <a:t> a OMI CIM Server which is similar to WMI on Windows. It is a very lightweight agent, which can be extended adding providers. There are two key protocols in place, the first one is SSH it is for agent maintenance like installing / uninstalling, upgrading the agent. There are several authentication </a:t>
            </a:r>
            <a:r>
              <a:rPr lang="en-US" baseline="0" dirty="0" err="1"/>
              <a:t>ssh</a:t>
            </a:r>
            <a:r>
              <a:rPr lang="en-US" baseline="0" dirty="0"/>
              <a:t> authentication possible for connecting like SSH key authentication SUDO elevation and SU elevation. Anything else than agent maintenance, like monitoring will use WS-Man (Web Service Management Protocol) a standard SOAP protocol.</a:t>
            </a:r>
          </a:p>
          <a:p>
            <a:endParaRPr lang="en-US" baseline="0" dirty="0"/>
          </a:p>
          <a:p>
            <a:r>
              <a:rPr lang="en-US" baseline="0" dirty="0"/>
              <a:t>If you managed to install the agent, there will be a lot of ways you can monitor your UNIX/Linux computer.</a:t>
            </a:r>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9</a:t>
            </a:fld>
            <a:endParaRPr lang="en-US"/>
          </a:p>
        </p:txBody>
      </p:sp>
    </p:spTree>
    <p:extLst>
      <p:ext uri="{BB962C8B-B14F-4D97-AF65-F5344CB8AC3E}">
        <p14:creationId xmlns:p14="http://schemas.microsoft.com/office/powerpoint/2010/main" val="21726383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there are</a:t>
            </a:r>
            <a:r>
              <a:rPr lang="en-US" baseline="0" dirty="0"/>
              <a:t> the following distributions supported.</a:t>
            </a:r>
          </a:p>
          <a:p>
            <a:endParaRPr lang="en-US" baseline="0" dirty="0"/>
          </a:p>
          <a:p>
            <a:r>
              <a:rPr lang="en-US" baseline="0" dirty="0"/>
              <a:t>Out of the box the MP’s will collect CPU performance, memory statistic, disk performance / availability (free space and </a:t>
            </a:r>
            <a:r>
              <a:rPr lang="en-US" baseline="0" dirty="0" err="1"/>
              <a:t>inode</a:t>
            </a:r>
            <a:r>
              <a:rPr lang="en-US" baseline="0" dirty="0"/>
              <a:t>) information, network statistics, running processes and of course certain </a:t>
            </a:r>
            <a:r>
              <a:rPr lang="en-US" baseline="0" dirty="0" err="1"/>
              <a:t>logfiles</a:t>
            </a:r>
            <a:r>
              <a:rPr lang="en-US" baseline="0" dirty="0"/>
              <a:t> will be monitored.</a:t>
            </a:r>
          </a:p>
          <a:p>
            <a:endParaRPr lang="en-US" baseline="0" dirty="0"/>
          </a:p>
          <a:p>
            <a:r>
              <a:rPr lang="en-US" baseline="0" dirty="0"/>
              <a:t>If this is not enough you are able to use built-in templates which are very easy to use without any authoring for custom log file monitoring to parse certain for certain expressions using Regex. Or process monitoring processes or daemons how many instances are running, and setting certain thresholds if these exceed the minimum or maximum count. In then there are command line rules and monitors where you can provide a shell command and it will execute it on the agent. You could also just use this command to execute a script on the agent and returning the result to the monitor or rule.</a:t>
            </a:r>
          </a:p>
          <a:p>
            <a:endParaRPr lang="en-US" baseline="0" dirty="0"/>
          </a:p>
          <a:p>
            <a:r>
              <a:rPr lang="en-US" baseline="0" dirty="0"/>
              <a:t>Since SCOM 2012 we are capable of monitoring JEE Java Enterprise application servers like Tomcat, </a:t>
            </a:r>
            <a:r>
              <a:rPr lang="en-US" baseline="0" dirty="0" err="1"/>
              <a:t>Weblogic</a:t>
            </a:r>
            <a:r>
              <a:rPr lang="en-US" baseline="0" dirty="0"/>
              <a:t>, </a:t>
            </a:r>
            <a:r>
              <a:rPr lang="en-US" baseline="0" dirty="0" err="1"/>
              <a:t>JBoss</a:t>
            </a:r>
            <a:r>
              <a:rPr lang="en-US" baseline="0" dirty="0"/>
              <a:t> and IBM </a:t>
            </a:r>
            <a:r>
              <a:rPr lang="en-US" baseline="0" dirty="0" err="1"/>
              <a:t>Websphere</a:t>
            </a:r>
            <a:r>
              <a:rPr lang="en-US" baseline="0" dirty="0"/>
              <a:t>. There two kind of monitoring states like the basic monitoring which discovers essential components that could be candidates for deep monitoring where we get very detailed </a:t>
            </a:r>
            <a:r>
              <a:rPr lang="en-US" baseline="0" dirty="0" err="1"/>
              <a:t>infos</a:t>
            </a:r>
            <a:r>
              <a:rPr lang="en-US" baseline="0" dirty="0"/>
              <a:t> about JVM memory, garbage collector etc.</a:t>
            </a:r>
          </a:p>
          <a:p>
            <a:endParaRPr lang="en-US" baseline="0" dirty="0"/>
          </a:p>
          <a:p>
            <a:r>
              <a:rPr lang="en-US" baseline="0" dirty="0"/>
              <a:t>So this is the stack which is available today. Since SCOM 2016 TP2 you are able to monitor Apache.</a:t>
            </a:r>
          </a:p>
        </p:txBody>
      </p:sp>
      <p:sp>
        <p:nvSpPr>
          <p:cNvPr id="4" name="Slide Number Placeholder 3"/>
          <p:cNvSpPr>
            <a:spLocks noGrp="1"/>
          </p:cNvSpPr>
          <p:nvPr>
            <p:ph type="sldNum" sz="quarter" idx="10"/>
          </p:nvPr>
        </p:nvSpPr>
        <p:spPr/>
        <p:txBody>
          <a:bodyPr/>
          <a:lstStyle/>
          <a:p>
            <a:fld id="{F776870B-36E6-45AA-AB02-E2A09D4A3228}" type="slidenum">
              <a:rPr lang="en-US" smtClean="0"/>
              <a:t>10</a:t>
            </a:fld>
            <a:endParaRPr lang="en-US"/>
          </a:p>
        </p:txBody>
      </p:sp>
    </p:spTree>
    <p:extLst>
      <p:ext uri="{BB962C8B-B14F-4D97-AF65-F5344CB8AC3E}">
        <p14:creationId xmlns:p14="http://schemas.microsoft.com/office/powerpoint/2010/main" val="38772297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40" indent="-181240">
              <a:buFont typeface="Arial" panose="020B0604020202020204" pitchFamily="34" charset="0"/>
              <a:buChar char="•"/>
            </a:pPr>
            <a:r>
              <a:rPr lang="en-US" dirty="0"/>
              <a:t>Apache</a:t>
            </a:r>
            <a:r>
              <a:rPr lang="en-US" baseline="0" dirty="0"/>
              <a:t> can be </a:t>
            </a:r>
            <a:r>
              <a:rPr lang="en-US" baseline="0" dirty="0" err="1"/>
              <a:t>extendend</a:t>
            </a:r>
            <a:r>
              <a:rPr lang="en-US" baseline="0" dirty="0"/>
              <a:t> adding modules, and Microsoft has written a </a:t>
            </a:r>
            <a:r>
              <a:rPr lang="en-US" baseline="0" dirty="0" err="1"/>
              <a:t>cim</a:t>
            </a:r>
            <a:r>
              <a:rPr lang="en-US" baseline="0" dirty="0"/>
              <a:t> provider which needs to be loaded e.g. through a SCOM task or some </a:t>
            </a:r>
            <a:r>
              <a:rPr lang="en-US" baseline="0"/>
              <a:t>scripts provided. </a:t>
            </a:r>
            <a:r>
              <a:rPr lang="en-US" baseline="0" dirty="0"/>
              <a:t>On the agent side the OMI CIM Server will also receive a provider for Apache and this will be installed automatically if Apache server is being discovered. If both providers are installed they will talk in a </a:t>
            </a:r>
            <a:r>
              <a:rPr lang="en-US" baseline="0" dirty="0" err="1"/>
              <a:t>separat</a:t>
            </a:r>
            <a:r>
              <a:rPr lang="en-US" baseline="0" dirty="0"/>
              <a:t> shared memory space</a:t>
            </a:r>
            <a:endParaRPr lang="en-US" dirty="0"/>
          </a:p>
        </p:txBody>
      </p:sp>
      <p:sp>
        <p:nvSpPr>
          <p:cNvPr id="4" name="Footer Placeholder 3"/>
          <p:cNvSpPr>
            <a:spLocks noGrp="1"/>
          </p:cNvSpPr>
          <p:nvPr>
            <p:ph type="ftr" sz="quarter" idx="10"/>
          </p:nvPr>
        </p:nvSpPr>
        <p:spPr/>
        <p:txBody>
          <a:bodyPr/>
          <a:lstStyle/>
          <a:p>
            <a:pPr defTabSz="96629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2014 Microsoft Corporation. All rights reserved. Microsoft, Windows,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5" name="Date Placeholder 4"/>
          <p:cNvSpPr>
            <a:spLocks noGrp="1"/>
          </p:cNvSpPr>
          <p:nvPr>
            <p:ph type="dt" idx="11"/>
          </p:nvPr>
        </p:nvSpPr>
        <p:spPr/>
        <p:txBody>
          <a:bodyPr/>
          <a:lstStyle/>
          <a:p>
            <a:fld id="{E74353ED-ACB2-44BF-A903-985B0AF962B7}" type="datetime1">
              <a:rPr lang="en-US" smtClean="0">
                <a:solidFill>
                  <a:prstClr val="black"/>
                </a:solidFill>
              </a:rPr>
              <a:pPr/>
              <a:t>8/24/2016</a:t>
            </a:fld>
            <a:endParaRPr lang="en-US" dirty="0">
              <a:solidFill>
                <a:prstClr val="black"/>
              </a:solidFill>
            </a:endParaRPr>
          </a:p>
        </p:txBody>
      </p:sp>
      <p:sp>
        <p:nvSpPr>
          <p:cNvPr id="6" name="Slide Number Placeholder 5"/>
          <p:cNvSpPr>
            <a:spLocks noGrp="1"/>
          </p:cNvSpPr>
          <p:nvPr>
            <p:ph type="sldNum" sz="quarter" idx="12"/>
          </p:nvPr>
        </p:nvSpPr>
        <p:spPr/>
        <p:txBody>
          <a:bodyPr/>
          <a:lstStyle/>
          <a:p>
            <a:fld id="{B4008EB6-D09E-4580-8CD6-DDB14511944F}" type="slidenum">
              <a:rPr lang="en-US" smtClean="0">
                <a:solidFill>
                  <a:prstClr val="black"/>
                </a:solidFill>
              </a:rPr>
              <a:pPr/>
              <a:t>11</a:t>
            </a:fld>
            <a:endParaRPr lang="en-US" dirty="0">
              <a:solidFill>
                <a:prstClr val="black"/>
              </a:solidFill>
            </a:endParaRPr>
          </a:p>
        </p:txBody>
      </p:sp>
    </p:spTree>
    <p:extLst>
      <p:ext uri="{BB962C8B-B14F-4D97-AF65-F5344CB8AC3E}">
        <p14:creationId xmlns:p14="http://schemas.microsoft.com/office/powerpoint/2010/main" val="4029394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Wingdings" panose="05000000000000000000" pitchFamily="2" charset="2"/>
              <a:buChar char="§"/>
            </a:pPr>
            <a:r>
              <a:rPr lang="en-US" sz="2100" b="1" dirty="0"/>
              <a:t>New Apache HTTP Server Management Pack</a:t>
            </a:r>
          </a:p>
          <a:p>
            <a:pPr lvl="1">
              <a:buFont typeface="Wingdings" panose="05000000000000000000" pitchFamily="2" charset="2"/>
              <a:buChar char="§"/>
            </a:pPr>
            <a:r>
              <a:rPr lang="en-US" sz="1900" dirty="0"/>
              <a:t>Uses Apache Module and OMI Provider</a:t>
            </a:r>
          </a:p>
          <a:p>
            <a:pPr lvl="1">
              <a:buFont typeface="Wingdings" panose="05000000000000000000" pitchFamily="2" charset="2"/>
              <a:buChar char="§"/>
            </a:pPr>
            <a:r>
              <a:rPr lang="en-US" sz="1900" dirty="0"/>
              <a:t>Module &amp; provider auto-installed with </a:t>
            </a:r>
            <a:r>
              <a:rPr lang="en-US" sz="1900" dirty="0" err="1"/>
              <a:t>OpsMgr</a:t>
            </a:r>
            <a:r>
              <a:rPr lang="en-US" sz="1900" dirty="0"/>
              <a:t> agent if Apache is present</a:t>
            </a:r>
          </a:p>
          <a:p>
            <a:pPr>
              <a:buFont typeface="Wingdings" panose="05000000000000000000" pitchFamily="2" charset="2"/>
              <a:buChar char="§"/>
            </a:pPr>
            <a:r>
              <a:rPr lang="en-US" sz="2100" b="1" dirty="0"/>
              <a:t>Dynamically discover Apache HTTP Servers</a:t>
            </a:r>
          </a:p>
          <a:p>
            <a:pPr>
              <a:buFont typeface="Wingdings" panose="05000000000000000000" pitchFamily="2" charset="2"/>
              <a:buChar char="§"/>
            </a:pPr>
            <a:r>
              <a:rPr lang="en-US" sz="2100" b="1" dirty="0"/>
              <a:t>Monitor Apache server, Virtual Hosts, and SSL certs</a:t>
            </a:r>
          </a:p>
          <a:p>
            <a:pPr lvl="1">
              <a:buFont typeface="Wingdings" panose="05000000000000000000" pitchFamily="2" charset="2"/>
              <a:buChar char="§"/>
            </a:pPr>
            <a:r>
              <a:rPr lang="en-US" sz="1900" dirty="0"/>
              <a:t>Optional URL Probe rules/monitors defined in the MP for remote polling of availability and response time</a:t>
            </a:r>
          </a:p>
          <a:p>
            <a:pPr>
              <a:buFont typeface="Wingdings" panose="05000000000000000000" pitchFamily="2" charset="2"/>
              <a:buChar char="§"/>
            </a:pPr>
            <a:r>
              <a:rPr lang="en-US" sz="2100" b="1" dirty="0"/>
              <a:t>Standards-based management interface for Apache</a:t>
            </a:r>
          </a:p>
          <a:p>
            <a:pPr lvl="1">
              <a:buFont typeface="Wingdings" panose="05000000000000000000" pitchFamily="2" charset="2"/>
              <a:buChar char="§"/>
            </a:pPr>
            <a:r>
              <a:rPr lang="en-US" sz="1900" dirty="0"/>
              <a:t>CIM provider for OMI exposes Apache health and performance via WS-Man</a:t>
            </a:r>
          </a:p>
          <a:p>
            <a:pPr lvl="1">
              <a:buFont typeface="Wingdings" panose="05000000000000000000" pitchFamily="2" charset="2"/>
              <a:buChar char="§"/>
            </a:pPr>
            <a:r>
              <a:rPr lang="en-US" sz="1900" dirty="0"/>
              <a:t>Provider to be open sourced</a:t>
            </a:r>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12</a:t>
            </a:fld>
            <a:endParaRPr lang="en-US"/>
          </a:p>
        </p:txBody>
      </p:sp>
    </p:spTree>
    <p:extLst>
      <p:ext uri="{BB962C8B-B14F-4D97-AF65-F5344CB8AC3E}">
        <p14:creationId xmlns:p14="http://schemas.microsoft.com/office/powerpoint/2010/main" val="25260694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81240" indent="-181240">
              <a:buFont typeface="Arial" panose="020B0604020202020204" pitchFamily="34" charset="0"/>
              <a:buChar char="•"/>
            </a:pPr>
            <a:endParaRPr lang="en-US" dirty="0"/>
          </a:p>
        </p:txBody>
      </p:sp>
      <p:sp>
        <p:nvSpPr>
          <p:cNvPr id="4" name="Footer Placeholder 3"/>
          <p:cNvSpPr>
            <a:spLocks noGrp="1"/>
          </p:cNvSpPr>
          <p:nvPr>
            <p:ph type="ftr" sz="quarter" idx="10"/>
          </p:nvPr>
        </p:nvSpPr>
        <p:spPr/>
        <p:txBody>
          <a:bodyPr/>
          <a:lstStyle/>
          <a:p>
            <a:pPr defTabSz="966294"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2014 Microsoft Corporation. All rights reserved. Microsoft, Windows,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5" name="Date Placeholder 4"/>
          <p:cNvSpPr>
            <a:spLocks noGrp="1"/>
          </p:cNvSpPr>
          <p:nvPr>
            <p:ph type="dt" idx="11"/>
          </p:nvPr>
        </p:nvSpPr>
        <p:spPr/>
        <p:txBody>
          <a:bodyPr/>
          <a:lstStyle/>
          <a:p>
            <a:fld id="{E74353ED-ACB2-44BF-A903-985B0AF962B7}" type="datetime1">
              <a:rPr lang="en-US" smtClean="0">
                <a:solidFill>
                  <a:prstClr val="black"/>
                </a:solidFill>
              </a:rPr>
              <a:pPr/>
              <a:t>8/24/2016</a:t>
            </a:fld>
            <a:endParaRPr lang="en-US" dirty="0">
              <a:solidFill>
                <a:prstClr val="black"/>
              </a:solidFill>
            </a:endParaRPr>
          </a:p>
        </p:txBody>
      </p:sp>
      <p:sp>
        <p:nvSpPr>
          <p:cNvPr id="6" name="Slide Number Placeholder 5"/>
          <p:cNvSpPr>
            <a:spLocks noGrp="1"/>
          </p:cNvSpPr>
          <p:nvPr>
            <p:ph type="sldNum" sz="quarter" idx="12"/>
          </p:nvPr>
        </p:nvSpPr>
        <p:spPr/>
        <p:txBody>
          <a:bodyPr/>
          <a:lstStyle/>
          <a:p>
            <a:fld id="{B4008EB6-D09E-4580-8CD6-DDB14511944F}" type="slidenum">
              <a:rPr lang="en-US" smtClean="0">
                <a:solidFill>
                  <a:prstClr val="black"/>
                </a:solidFill>
              </a:rPr>
              <a:pPr/>
              <a:t>13</a:t>
            </a:fld>
            <a:endParaRPr lang="en-US" dirty="0">
              <a:solidFill>
                <a:prstClr val="black"/>
              </a:solidFill>
            </a:endParaRPr>
          </a:p>
        </p:txBody>
      </p:sp>
    </p:spTree>
    <p:extLst>
      <p:ext uri="{BB962C8B-B14F-4D97-AF65-F5344CB8AC3E}">
        <p14:creationId xmlns:p14="http://schemas.microsoft.com/office/powerpoint/2010/main" val="1610057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Wingdings" panose="05000000000000000000" pitchFamily="2" charset="2"/>
              <a:buChar char="§"/>
            </a:pPr>
            <a:r>
              <a:rPr lang="en-US" b="1" dirty="0"/>
              <a:t>New MySQL Server Management Pack</a:t>
            </a:r>
          </a:p>
          <a:p>
            <a:pPr lvl="1">
              <a:buFont typeface="Wingdings" panose="05000000000000000000" pitchFamily="2" charset="2"/>
              <a:buChar char="§"/>
            </a:pPr>
            <a:r>
              <a:rPr lang="en-US" dirty="0"/>
              <a:t>Uses deployable MySQL provider</a:t>
            </a:r>
          </a:p>
          <a:p>
            <a:pPr lvl="1">
              <a:buFont typeface="Wingdings" panose="05000000000000000000" pitchFamily="2" charset="2"/>
              <a:buChar char="§"/>
            </a:pPr>
            <a:r>
              <a:rPr lang="en-US" dirty="0"/>
              <a:t>Provider auto-installed with </a:t>
            </a:r>
            <a:r>
              <a:rPr lang="en-US" dirty="0" err="1"/>
              <a:t>OpsMgr</a:t>
            </a:r>
            <a:r>
              <a:rPr lang="en-US" dirty="0"/>
              <a:t> agent if MySQL is present</a:t>
            </a:r>
          </a:p>
          <a:p>
            <a:pPr lvl="1">
              <a:buFont typeface="Wingdings" panose="05000000000000000000" pitchFamily="2" charset="2"/>
              <a:buChar char="§"/>
            </a:pPr>
            <a:endParaRPr lang="en-US" dirty="0"/>
          </a:p>
          <a:p>
            <a:pPr>
              <a:buFont typeface="Wingdings" panose="05000000000000000000" pitchFamily="2" charset="2"/>
              <a:buChar char="§"/>
            </a:pPr>
            <a:r>
              <a:rPr lang="en-US" b="1" dirty="0"/>
              <a:t>Dynamically discover MySQL Servers</a:t>
            </a:r>
          </a:p>
          <a:p>
            <a:pPr lvl="1">
              <a:buFont typeface="Wingdings" panose="05000000000000000000" pitchFamily="2" charset="2"/>
              <a:buChar char="§"/>
            </a:pPr>
            <a:r>
              <a:rPr lang="en-US" dirty="0"/>
              <a:t>Supports MySQL (5.0, 5.1, 5.5, 5.6, and 5.7) &amp; </a:t>
            </a:r>
            <a:r>
              <a:rPr lang="en-US" dirty="0" err="1"/>
              <a:t>MariaDB</a:t>
            </a:r>
            <a:r>
              <a:rPr lang="en-US" dirty="0"/>
              <a:t> (5.5 and 10.0)</a:t>
            </a:r>
          </a:p>
          <a:p>
            <a:pPr lvl="1">
              <a:buFont typeface="Wingdings" panose="05000000000000000000" pitchFamily="2" charset="2"/>
              <a:buChar char="§"/>
            </a:pPr>
            <a:endParaRPr lang="en-US" dirty="0"/>
          </a:p>
          <a:p>
            <a:pPr>
              <a:buFont typeface="Wingdings" panose="05000000000000000000" pitchFamily="2" charset="2"/>
              <a:buChar char="§"/>
            </a:pPr>
            <a:r>
              <a:rPr lang="en-US" b="1" dirty="0"/>
              <a:t>Monitor MySQL Server, and Databases</a:t>
            </a:r>
          </a:p>
          <a:p>
            <a:pPr lvl="1">
              <a:buFont typeface="Wingdings" panose="05000000000000000000" pitchFamily="2" charset="2"/>
              <a:buChar char="§"/>
            </a:pPr>
            <a:r>
              <a:rPr lang="en-US" dirty="0"/>
              <a:t>Performance metrics for key cache, query cache, table cache, and optional metrics for </a:t>
            </a:r>
            <a:r>
              <a:rPr lang="en-US" dirty="0" err="1"/>
              <a:t>InnoDB</a:t>
            </a:r>
            <a:r>
              <a:rPr lang="en-US" dirty="0"/>
              <a:t> buffer pool</a:t>
            </a:r>
          </a:p>
          <a:p>
            <a:pPr lvl="1">
              <a:buFont typeface="Wingdings" panose="05000000000000000000" pitchFamily="2" charset="2"/>
              <a:buChar char="§"/>
            </a:pPr>
            <a:r>
              <a:rPr lang="en-US" dirty="0"/>
              <a:t>Extend monitoring with custom stored procedure monitoring</a:t>
            </a:r>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14</a:t>
            </a:fld>
            <a:endParaRPr lang="en-US"/>
          </a:p>
        </p:txBody>
      </p:sp>
    </p:spTree>
    <p:extLst>
      <p:ext uri="{BB962C8B-B14F-4D97-AF65-F5344CB8AC3E}">
        <p14:creationId xmlns:p14="http://schemas.microsoft.com/office/powerpoint/2010/main" val="2983302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088"/>
              </a:spcBef>
              <a:buFont typeface="Wingdings" panose="05000000000000000000" pitchFamily="2" charset="2"/>
              <a:buChar char="§"/>
            </a:pPr>
            <a:r>
              <a:rPr lang="en-US" sz="1300" dirty="0"/>
              <a:t>Option to use default (stored) </a:t>
            </a:r>
            <a:r>
              <a:rPr lang="en-US" sz="1300" dirty="0" err="1"/>
              <a:t>RunAs</a:t>
            </a:r>
            <a:r>
              <a:rPr lang="en-US" sz="1300" dirty="0"/>
              <a:t> Credentials in Discovery Wizard and PowerShell discovery </a:t>
            </a:r>
          </a:p>
          <a:p>
            <a:pPr>
              <a:lnSpc>
                <a:spcPct val="85000"/>
              </a:lnSpc>
              <a:spcBef>
                <a:spcPts val="1088"/>
              </a:spcBef>
              <a:spcAft>
                <a:spcPts val="1057"/>
              </a:spcAft>
              <a:buFont typeface="Wingdings" panose="05000000000000000000" pitchFamily="2" charset="2"/>
              <a:buChar char="§"/>
            </a:pPr>
            <a:r>
              <a:rPr lang="en-US" sz="1300" dirty="0"/>
              <a:t>Run any script to get health or performance (shell, Python, PERL, etc.)</a:t>
            </a:r>
          </a:p>
          <a:p>
            <a:pPr>
              <a:lnSpc>
                <a:spcPct val="85000"/>
              </a:lnSpc>
              <a:spcBef>
                <a:spcPts val="1088"/>
              </a:spcBef>
              <a:spcAft>
                <a:spcPts val="1057"/>
              </a:spcAft>
              <a:buFont typeface="Wingdings" panose="05000000000000000000" pitchFamily="2" charset="2"/>
              <a:buChar char="§"/>
            </a:pPr>
            <a:r>
              <a:rPr lang="en-US" sz="1300" dirty="0"/>
              <a:t>Shell Command/Script executions are multi-threaded </a:t>
            </a:r>
          </a:p>
          <a:p>
            <a:pPr>
              <a:lnSpc>
                <a:spcPct val="85000"/>
              </a:lnSpc>
              <a:spcBef>
                <a:spcPts val="1088"/>
              </a:spcBef>
              <a:spcAft>
                <a:spcPts val="1057"/>
              </a:spcAft>
              <a:buFont typeface="Wingdings" panose="05000000000000000000" pitchFamily="2" charset="2"/>
              <a:buChar char="§"/>
            </a:pPr>
            <a:r>
              <a:rPr lang="en-US" sz="1300" dirty="0"/>
              <a:t>Create Shell Command or Script diagnostic or recovery task</a:t>
            </a:r>
          </a:p>
          <a:p>
            <a:pPr>
              <a:lnSpc>
                <a:spcPct val="85000"/>
              </a:lnSpc>
              <a:spcBef>
                <a:spcPts val="1088"/>
              </a:spcBef>
              <a:spcAft>
                <a:spcPts val="1057"/>
              </a:spcAft>
              <a:buFont typeface="Wingdings" panose="05000000000000000000" pitchFamily="2" charset="2"/>
              <a:buChar char="§"/>
            </a:pPr>
            <a:r>
              <a:rPr lang="en-US" sz="1300" dirty="0"/>
              <a:t>Scalability improvement with Unix/Linux agents monitoring (2x)</a:t>
            </a:r>
          </a:p>
          <a:p>
            <a:pPr>
              <a:lnSpc>
                <a:spcPct val="85000"/>
              </a:lnSpc>
              <a:spcBef>
                <a:spcPts val="1088"/>
              </a:spcBef>
              <a:spcAft>
                <a:spcPts val="1057"/>
              </a:spcAft>
              <a:buFont typeface="Wingdings" panose="05000000000000000000" pitchFamily="2" charset="2"/>
              <a:buChar char="§"/>
            </a:pPr>
            <a:r>
              <a:rPr lang="en-US" sz="1300" dirty="0"/>
              <a:t>File System discovery can be filtered by type or name in MP overrides</a:t>
            </a:r>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15</a:t>
            </a:fld>
            <a:endParaRPr lang="en-US"/>
          </a:p>
        </p:txBody>
      </p:sp>
    </p:spTree>
    <p:extLst>
      <p:ext uri="{BB962C8B-B14F-4D97-AF65-F5344CB8AC3E}">
        <p14:creationId xmlns:p14="http://schemas.microsoft.com/office/powerpoint/2010/main" val="10780250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FFFF00"/>
                </a:solidFill>
              </a:rPr>
              <a:t> </a:t>
            </a:r>
            <a:r>
              <a:rPr lang="en-US" dirty="0" err="1">
                <a:solidFill>
                  <a:srgbClr val="FFFF00"/>
                </a:solidFill>
              </a:rPr>
              <a:t>Übersicht</a:t>
            </a:r>
            <a:r>
              <a:rPr lang="en-US" dirty="0">
                <a:solidFill>
                  <a:srgbClr val="FFFF00"/>
                </a:solidFill>
              </a:rPr>
              <a:t> </a:t>
            </a:r>
            <a:r>
              <a:rPr lang="en-US" dirty="0" err="1">
                <a:solidFill>
                  <a:srgbClr val="FFFF00"/>
                </a:solidFill>
              </a:rPr>
              <a:t>wie</a:t>
            </a:r>
            <a:r>
              <a:rPr lang="en-US" dirty="0">
                <a:solidFill>
                  <a:srgbClr val="FFFF00"/>
                </a:solidFill>
              </a:rPr>
              <a:t> der Agent </a:t>
            </a:r>
            <a:r>
              <a:rPr lang="en-US" dirty="0" err="1">
                <a:solidFill>
                  <a:srgbClr val="FFFF00"/>
                </a:solidFill>
              </a:rPr>
              <a:t>mit</a:t>
            </a:r>
            <a:r>
              <a:rPr lang="en-US" dirty="0">
                <a:solidFill>
                  <a:srgbClr val="FFFF00"/>
                </a:solidFill>
              </a:rPr>
              <a:t> OMS </a:t>
            </a:r>
            <a:r>
              <a:rPr lang="en-US" dirty="0" err="1">
                <a:solidFill>
                  <a:srgbClr val="FFFF00"/>
                </a:solidFill>
              </a:rPr>
              <a:t>kommuniziert</a:t>
            </a:r>
            <a:r>
              <a:rPr lang="en-US" dirty="0">
                <a:solidFill>
                  <a:srgbClr val="FFFF00"/>
                </a:solidFill>
              </a:rPr>
              <a:t> Ports, </a:t>
            </a:r>
            <a:r>
              <a:rPr lang="en-US" dirty="0" err="1">
                <a:solidFill>
                  <a:srgbClr val="FFFF00"/>
                </a:solidFill>
              </a:rPr>
              <a:t>Netzwerk</a:t>
            </a:r>
            <a:r>
              <a:rPr lang="en-US" dirty="0">
                <a:solidFill>
                  <a:srgbClr val="FFFF00"/>
                </a:solidFill>
              </a:rPr>
              <a:t>, Proxy</a:t>
            </a:r>
          </a:p>
          <a:p>
            <a:r>
              <a:rPr lang="en-US" dirty="0">
                <a:solidFill>
                  <a:srgbClr val="FFFF00"/>
                </a:solidFill>
              </a:rPr>
              <a:t>NICHT </a:t>
            </a:r>
            <a:r>
              <a:rPr lang="en-US" dirty="0" err="1">
                <a:solidFill>
                  <a:srgbClr val="FFFF00"/>
                </a:solidFill>
              </a:rPr>
              <a:t>erklären</a:t>
            </a:r>
            <a:r>
              <a:rPr lang="en-US" dirty="0">
                <a:solidFill>
                  <a:srgbClr val="FFFF00"/>
                </a:solidFill>
              </a:rPr>
              <a:t> was OMS </a:t>
            </a:r>
            <a:r>
              <a:rPr lang="en-US" dirty="0" err="1">
                <a:solidFill>
                  <a:srgbClr val="FFFF00"/>
                </a:solidFill>
              </a:rPr>
              <a:t>ist</a:t>
            </a:r>
            <a:r>
              <a:rPr lang="en-US" dirty="0">
                <a:solidFill>
                  <a:srgbClr val="FFFF00"/>
                </a:solidFill>
              </a:rPr>
              <a:t>, </a:t>
            </a:r>
            <a:r>
              <a:rPr lang="en-US" dirty="0" err="1">
                <a:solidFill>
                  <a:srgbClr val="FFFF00"/>
                </a:solidFill>
              </a:rPr>
              <a:t>sollten</a:t>
            </a:r>
            <a:r>
              <a:rPr lang="en-US" dirty="0">
                <a:solidFill>
                  <a:srgbClr val="FFFF00"/>
                </a:solidFill>
              </a:rPr>
              <a:t> </a:t>
            </a:r>
            <a:r>
              <a:rPr lang="en-US" dirty="0" err="1">
                <a:solidFill>
                  <a:srgbClr val="FFFF00"/>
                </a:solidFill>
              </a:rPr>
              <a:t>mittlerweile</a:t>
            </a:r>
            <a:r>
              <a:rPr lang="en-US" dirty="0">
                <a:solidFill>
                  <a:srgbClr val="FFFF00"/>
                </a:solidFill>
              </a:rPr>
              <a:t> </a:t>
            </a:r>
            <a:r>
              <a:rPr lang="en-US" dirty="0" err="1">
                <a:solidFill>
                  <a:srgbClr val="FFFF00"/>
                </a:solidFill>
              </a:rPr>
              <a:t>alle</a:t>
            </a:r>
            <a:r>
              <a:rPr lang="en-US" dirty="0">
                <a:solidFill>
                  <a:srgbClr val="FFFF00"/>
                </a:solidFill>
              </a:rPr>
              <a:t> </a:t>
            </a:r>
            <a:r>
              <a:rPr lang="en-US" dirty="0" err="1">
                <a:solidFill>
                  <a:srgbClr val="FFFF00"/>
                </a:solidFill>
              </a:rPr>
              <a:t>wissen</a:t>
            </a:r>
            <a:r>
              <a:rPr lang="en-US" dirty="0">
                <a:solidFill>
                  <a:srgbClr val="FFFF00"/>
                </a:solidFill>
              </a:rPr>
              <a:t>. </a:t>
            </a:r>
            <a:r>
              <a:rPr lang="en-US" dirty="0" err="1">
                <a:solidFill>
                  <a:srgbClr val="FFFF00"/>
                </a:solidFill>
              </a:rPr>
              <a:t>Verweis</a:t>
            </a:r>
            <a:r>
              <a:rPr lang="en-US" dirty="0">
                <a:solidFill>
                  <a:srgbClr val="FFFF00"/>
                </a:solidFill>
              </a:rPr>
              <a:t> auf </a:t>
            </a:r>
            <a:r>
              <a:rPr lang="en-US" dirty="0" err="1">
                <a:solidFill>
                  <a:srgbClr val="FFFF00"/>
                </a:solidFill>
              </a:rPr>
              <a:t>andere</a:t>
            </a:r>
            <a:r>
              <a:rPr lang="en-US" dirty="0">
                <a:solidFill>
                  <a:srgbClr val="FFFF00"/>
                </a:solidFill>
              </a:rPr>
              <a:t> Sessions.</a:t>
            </a:r>
          </a:p>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16</a:t>
            </a:fld>
            <a:endParaRPr lang="en-US"/>
          </a:p>
        </p:txBody>
      </p:sp>
    </p:spTree>
    <p:extLst>
      <p:ext uri="{BB962C8B-B14F-4D97-AF65-F5344CB8AC3E}">
        <p14:creationId xmlns:p14="http://schemas.microsoft.com/office/powerpoint/2010/main" val="14026972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must install agents on </a:t>
            </a:r>
            <a:r>
              <a:rPr lang="en-US" dirty="0">
                <a:hlinkClick r:id="rId3"/>
              </a:rPr>
              <a:t>Windows</a:t>
            </a:r>
            <a:r>
              <a:rPr lang="en-US" dirty="0"/>
              <a:t> and </a:t>
            </a:r>
            <a:r>
              <a:rPr lang="en-US" dirty="0">
                <a:hlinkClick r:id="rId4"/>
              </a:rPr>
              <a:t>Linux</a:t>
            </a:r>
            <a:r>
              <a:rPr lang="en-US" dirty="0"/>
              <a:t> computers, but there is </a:t>
            </a:r>
            <a:r>
              <a:rPr lang="en-US" dirty="0">
                <a:highlight>
                  <a:srgbClr val="FFFF00"/>
                </a:highlight>
              </a:rPr>
              <a:t>no additional agent required for computers that are already members of a </a:t>
            </a:r>
            <a:r>
              <a:rPr lang="en-US" dirty="0">
                <a:highlight>
                  <a:srgbClr val="FFFF00"/>
                </a:highlight>
                <a:hlinkClick r:id="rId5"/>
              </a:rPr>
              <a:t>connected SCOM management group</a:t>
            </a:r>
            <a:r>
              <a:rPr lang="en-US" dirty="0">
                <a:highlight>
                  <a:srgbClr val="FFFF00"/>
                </a:highlight>
              </a:rPr>
              <a:t>. </a:t>
            </a:r>
            <a:r>
              <a:rPr lang="en-US" dirty="0"/>
              <a:t>SCOM agents will continue to communicate with management servers which will forward their data to Log Analytics. Some solutions though will require agents to communicate directly with Log Analytics. The documentation for each solution will specify its communication requirements.</a:t>
            </a:r>
          </a:p>
          <a:p>
            <a:endParaRPr lang="en-US" dirty="0"/>
          </a:p>
          <a:p>
            <a:r>
              <a:rPr lang="en-US" dirty="0"/>
              <a:t>When you </a:t>
            </a:r>
            <a:r>
              <a:rPr lang="en-US" dirty="0">
                <a:hlinkClick r:id="rId6"/>
              </a:rPr>
              <a:t>sign up for Log Analytics</a:t>
            </a:r>
            <a:r>
              <a:rPr lang="en-US" dirty="0"/>
              <a:t>, you will create an OMS workspace. You can think of the workspace as a unique OMS environment with its own data repository, data sources, and solutions. You may create multiple workspaces in your subscription to support multiple environments such as production and test.</a:t>
            </a:r>
          </a:p>
          <a:p>
            <a:endParaRPr lang="en-US" dirty="0"/>
          </a:p>
          <a:p>
            <a:r>
              <a:rPr lang="en-US" dirty="0"/>
              <a:t>You register all agent types with an enrollment key and a secure connection is established between the agent and the Log Analytics service using certificate-based authentication and SSL with port 443. OMS uses a secret store to generate and maintain keys. Private keys are rotated every 90 days</a:t>
            </a:r>
          </a:p>
          <a:p>
            <a:r>
              <a:rPr lang="en-US" dirty="0"/>
              <a:t>If any agent is unable to communicate to the service for any reason, the collected data is stored locally in a temporary cache and the management server tries to resend the data every 8 minutes for 2 hours. The agent's cached data is protected by the operating system's credential store.</a:t>
            </a:r>
          </a:p>
          <a:p>
            <a:endParaRPr lang="en-US" dirty="0"/>
          </a:p>
          <a:p>
            <a:r>
              <a:rPr lang="en-US" dirty="0"/>
              <a:t>The Log Analytics service ensures that incoming data is from a trusted source by validating certificates and the data integrity with Azure authentication. The unprocessed raw data is then stored as a blob in </a:t>
            </a:r>
            <a:r>
              <a:rPr lang="en-US" dirty="0">
                <a:hlinkClick r:id="rId7"/>
              </a:rPr>
              <a:t>Microsoft Azure Storage</a:t>
            </a:r>
            <a:r>
              <a:rPr lang="en-US" dirty="0"/>
              <a:t> and is not encrypted.</a:t>
            </a:r>
          </a:p>
          <a:p>
            <a:pPr defTabSz="966612">
              <a:defRPr/>
            </a:pPr>
            <a:endParaRPr lang="en-US" dirty="0"/>
          </a:p>
          <a:p>
            <a:pPr defTabSz="966612">
              <a:defRPr/>
            </a:pPr>
            <a:r>
              <a:rPr lang="en-US" dirty="0"/>
              <a:t>For the Microsoft Monitoring Agent to connect to and register with the OMS service, it must have access to the following URLs.</a:t>
            </a:r>
            <a:endParaRPr lang="de-CH" dirty="0"/>
          </a:p>
          <a:p>
            <a:pPr marL="181240" indent="-181240" fontAlgn="ctr">
              <a:buFontTx/>
              <a:buChar char="-"/>
            </a:pPr>
            <a:r>
              <a:rPr lang="de-CH" sz="1300" dirty="0"/>
              <a:t>*.ods.opinsights.azure.com Port 443</a:t>
            </a:r>
          </a:p>
          <a:p>
            <a:pPr marL="181240" indent="-181240" defTabSz="966612" fontAlgn="ctr">
              <a:buFontTx/>
              <a:buChar char="-"/>
              <a:defRPr/>
            </a:pPr>
            <a:r>
              <a:rPr lang="de-CH" dirty="0"/>
              <a:t>*.oms.opinsights.azure.com </a:t>
            </a:r>
            <a:r>
              <a:rPr lang="de-CH" sz="1300" dirty="0"/>
              <a:t>Port 443</a:t>
            </a:r>
            <a:endParaRPr lang="de-CH" dirty="0"/>
          </a:p>
          <a:p>
            <a:pPr marL="181240" indent="-181240" defTabSz="966612" fontAlgn="ctr">
              <a:buFontTx/>
              <a:buChar char="-"/>
              <a:defRPr/>
            </a:pPr>
            <a:r>
              <a:rPr lang="de-CH" dirty="0"/>
              <a:t>*.blob.core.windows.net </a:t>
            </a:r>
            <a:r>
              <a:rPr lang="de-CH" sz="1300" dirty="0"/>
              <a:t>Port 443</a:t>
            </a:r>
          </a:p>
          <a:p>
            <a:pPr marL="181240" indent="-181240" defTabSz="966612" fontAlgn="ctr">
              <a:buFontTx/>
              <a:buChar char="-"/>
              <a:defRPr/>
            </a:pPr>
            <a:endParaRPr lang="de-CH" sz="1300" dirty="0"/>
          </a:p>
          <a:p>
            <a:pPr marL="181240" indent="-181240" defTabSz="966612" fontAlgn="ctr">
              <a:buFontTx/>
              <a:buChar char="-"/>
              <a:defRPr/>
            </a:pPr>
            <a:endParaRPr lang="de-CH" dirty="0"/>
          </a:p>
          <a:p>
            <a:pPr marL="181240" indent="-181240" fontAlgn="ctr">
              <a:buFontTx/>
              <a:buChar char="-"/>
            </a:pPr>
            <a:endParaRPr lang="de-CH" sz="1300" dirty="0"/>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17</a:t>
            </a:fld>
            <a:endParaRPr lang="en-US"/>
          </a:p>
        </p:txBody>
      </p:sp>
    </p:spTree>
    <p:extLst>
      <p:ext uri="{BB962C8B-B14F-4D97-AF65-F5344CB8AC3E}">
        <p14:creationId xmlns:p14="http://schemas.microsoft.com/office/powerpoint/2010/main" val="29051927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Linux 2012.09 --&gt; 2015.09 (x86/x64)</a:t>
            </a:r>
          </a:p>
          <a:p>
            <a:r>
              <a:rPr lang="en-US" dirty="0"/>
              <a:t>CentOS Linux 5,6, and 7 (x86/x64)</a:t>
            </a:r>
          </a:p>
          <a:p>
            <a:r>
              <a:rPr lang="en-US" dirty="0"/>
              <a:t>Oracle Linux 5,6, and 7 (x86/x64)</a:t>
            </a:r>
          </a:p>
          <a:p>
            <a:r>
              <a:rPr lang="en-US" dirty="0"/>
              <a:t>Red Hat Enterprise Linux Server 5,6 and 7 (x86/x64)</a:t>
            </a:r>
          </a:p>
          <a:p>
            <a:r>
              <a:rPr lang="en-US" dirty="0" err="1"/>
              <a:t>Debian</a:t>
            </a:r>
            <a:r>
              <a:rPr lang="en-US" dirty="0"/>
              <a:t> GNU/Linux 6, 7, and 8 (x86/x64)</a:t>
            </a:r>
          </a:p>
          <a:p>
            <a:r>
              <a:rPr lang="en-US" dirty="0"/>
              <a:t>Ubuntu 12.04 LTS, 14.04 LTS, 15.04, 15.10, 16.04 LTS (x86/x64)</a:t>
            </a:r>
          </a:p>
          <a:p>
            <a:r>
              <a:rPr lang="en-US" dirty="0"/>
              <a:t>SUSE Linux </a:t>
            </a:r>
            <a:r>
              <a:rPr lang="en-US" dirty="0" err="1"/>
              <a:t>Enteprise</a:t>
            </a:r>
            <a:r>
              <a:rPr lang="en-US" dirty="0"/>
              <a:t> Server 11 and 12 (x86/x64)</a:t>
            </a:r>
          </a:p>
          <a:p>
            <a:endParaRPr lang="en-US" dirty="0"/>
          </a:p>
          <a:p>
            <a:r>
              <a:rPr lang="en-US" dirty="0" err="1"/>
              <a:t>Fluentd</a:t>
            </a:r>
            <a:r>
              <a:rPr lang="en-US" dirty="0"/>
              <a:t> is a </a:t>
            </a:r>
            <a:r>
              <a:rPr lang="en-US" dirty="0" err="1">
                <a:hlinkClick r:id="rId3"/>
              </a:rPr>
              <a:t>CRuby</a:t>
            </a:r>
            <a:r>
              <a:rPr lang="en-US" dirty="0"/>
              <a:t> application which requires Ruby 1.9.2 or later. There is an open-source version, </a:t>
            </a:r>
            <a:r>
              <a:rPr lang="en-US" dirty="0" err="1"/>
              <a:t>fluentd</a:t>
            </a:r>
            <a:r>
              <a:rPr lang="en-US" dirty="0"/>
              <a:t>, as well as a commercial version. </a:t>
            </a:r>
            <a:r>
              <a:rPr lang="en-US" dirty="0" err="1">
                <a:hlinkClick r:id="rId4"/>
              </a:rPr>
              <a:t>Fluentd</a:t>
            </a:r>
            <a:r>
              <a:rPr lang="en-US" dirty="0"/>
              <a:t> collects events from various data sources and writes them to files, RDBMS, NoSQL, IaaS, SaaS, Hadoop and so on. It is a fully free and fully open-source log collector. Often used together with </a:t>
            </a:r>
            <a:r>
              <a:rPr lang="en-US" dirty="0" err="1"/>
              <a:t>ElasticSearch</a:t>
            </a:r>
            <a:r>
              <a:rPr lang="en-US" dirty="0"/>
              <a:t> and </a:t>
            </a:r>
            <a:r>
              <a:rPr lang="en-US" dirty="0" err="1"/>
              <a:t>Kibana</a:t>
            </a:r>
            <a:r>
              <a:rPr lang="en-US" dirty="0"/>
              <a:t> (EFK) to collect, index, search, and visualize log data. This is a great alternative to proprietary software such as </a:t>
            </a:r>
            <a:r>
              <a:rPr lang="en-US" dirty="0" err="1"/>
              <a:t>Splunk</a:t>
            </a:r>
            <a:r>
              <a:rPr lang="en-US" dirty="0"/>
              <a:t> -&gt; In terms of OMS, the agent (</a:t>
            </a:r>
            <a:r>
              <a:rPr lang="en-US" dirty="0" err="1"/>
              <a:t>FluentD</a:t>
            </a:r>
            <a:r>
              <a:rPr lang="en-US" dirty="0"/>
              <a:t>) collects and </a:t>
            </a:r>
            <a:r>
              <a:rPr lang="en-US" dirty="0" err="1"/>
              <a:t>Loganalytics</a:t>
            </a:r>
            <a:r>
              <a:rPr lang="en-US" dirty="0"/>
              <a:t> does the indexing and visualization of log data</a:t>
            </a:r>
          </a:p>
          <a:p>
            <a:endParaRPr lang="en-US" dirty="0"/>
          </a:p>
          <a:p>
            <a:pPr rtl="0" eaLnBrk="1" fontAlgn="ctr" latinLnBrk="0" hangingPunct="1"/>
            <a:r>
              <a:rPr lang="de-CH" dirty="0"/>
              <a:t>- </a:t>
            </a:r>
            <a:r>
              <a:rPr lang="de-CH" dirty="0" err="1"/>
              <a:t>Omsagent</a:t>
            </a:r>
            <a:r>
              <a:rPr lang="de-CH" dirty="0"/>
              <a:t> - </a:t>
            </a:r>
            <a:r>
              <a:rPr lang="en-US" dirty="0"/>
              <a:t>The Operations Management Suite Agent for Linux</a:t>
            </a:r>
            <a:endParaRPr lang="de-CH" dirty="0"/>
          </a:p>
          <a:p>
            <a:pPr rtl="0" eaLnBrk="1" fontAlgn="ctr" latinLnBrk="0" hangingPunct="1"/>
            <a:r>
              <a:rPr lang="de-CH" dirty="0"/>
              <a:t>- </a:t>
            </a:r>
            <a:r>
              <a:rPr lang="de-CH" dirty="0" err="1"/>
              <a:t>Omsconfig</a:t>
            </a:r>
            <a:r>
              <a:rPr lang="de-CH" dirty="0"/>
              <a:t> - </a:t>
            </a:r>
            <a:r>
              <a:rPr lang="en-US" dirty="0"/>
              <a:t>Configuration agent for the OMS Agent</a:t>
            </a:r>
            <a:endParaRPr lang="de-CH" dirty="0"/>
          </a:p>
          <a:p>
            <a:pPr marL="181240" indent="-181240" fontAlgn="ctr">
              <a:buFontTx/>
              <a:buChar char="-"/>
            </a:pPr>
            <a:r>
              <a:rPr lang="de-CH" dirty="0"/>
              <a:t>Omi - Open Management Infrastructure (OMI) CIM </a:t>
            </a:r>
            <a:r>
              <a:rPr lang="de-CH" dirty="0" err="1"/>
              <a:t>server</a:t>
            </a:r>
            <a:r>
              <a:rPr lang="de-CH" dirty="0"/>
              <a:t>. </a:t>
            </a:r>
            <a:r>
              <a:rPr lang="en-US" dirty="0"/>
              <a:t>The Open Management Infrastructure stack (OMI) is an open-source </a:t>
            </a:r>
            <a:r>
              <a:rPr lang="en-US" dirty="0">
                <a:hlinkClick r:id="rId5" tooltip="Common Information Model (computing)"/>
              </a:rPr>
              <a:t>CIM</a:t>
            </a:r>
            <a:r>
              <a:rPr lang="en-US" dirty="0"/>
              <a:t> management server. OMI was contributed to The Open Group by </a:t>
            </a:r>
            <a:r>
              <a:rPr lang="en-US" dirty="0">
                <a:hlinkClick r:id="rId6" tooltip="Microsoft"/>
              </a:rPr>
              <a:t>Microsoft</a:t>
            </a:r>
            <a:r>
              <a:rPr lang="en-US" dirty="0"/>
              <a:t> on June 28, 2012 with the goal "to remove all obstacles that stand in the way of implementing standards-based management so that every device in the world can be managed in a clear, consistent, coherent way and to nurture [and] spur a rich ecosystem of standards-based management products.“ OMI uses a provider model to enable developers to extend OMI to their specific device or platform. https://blogs.technet.microsoft.com/windowsserver/2012/06/28/open-management-infrastructure/</a:t>
            </a:r>
          </a:p>
          <a:p>
            <a:pPr defTabSz="966612" fontAlgn="ctr">
              <a:defRPr/>
            </a:pPr>
            <a:r>
              <a:rPr lang="de-CH" dirty="0"/>
              <a:t>- </a:t>
            </a:r>
            <a:r>
              <a:rPr lang="de-CH" dirty="0" err="1"/>
              <a:t>Scx</a:t>
            </a:r>
            <a:r>
              <a:rPr lang="de-CH" dirty="0"/>
              <a:t> - OMI CIM Providers </a:t>
            </a:r>
            <a:r>
              <a:rPr lang="de-CH" dirty="0" err="1"/>
              <a:t>for</a:t>
            </a:r>
            <a:r>
              <a:rPr lang="de-CH" dirty="0"/>
              <a:t> </a:t>
            </a:r>
            <a:r>
              <a:rPr lang="de-CH" dirty="0" err="1"/>
              <a:t>operating</a:t>
            </a:r>
            <a:r>
              <a:rPr lang="de-CH" dirty="0"/>
              <a:t> </a:t>
            </a:r>
            <a:r>
              <a:rPr lang="de-CH" dirty="0" err="1"/>
              <a:t>system</a:t>
            </a:r>
            <a:r>
              <a:rPr lang="de-CH" dirty="0"/>
              <a:t> </a:t>
            </a:r>
            <a:r>
              <a:rPr lang="de-CH" dirty="0" err="1"/>
              <a:t>performance</a:t>
            </a:r>
            <a:r>
              <a:rPr lang="de-CH" dirty="0"/>
              <a:t> </a:t>
            </a:r>
            <a:r>
              <a:rPr lang="de-CH" dirty="0" err="1"/>
              <a:t>metrics</a:t>
            </a:r>
            <a:r>
              <a:rPr lang="de-CH" dirty="0"/>
              <a:t> - </a:t>
            </a:r>
            <a:r>
              <a:rPr lang="en-US" dirty="0"/>
              <a:t>Operations Manager Providers for Linux and UNIX, same as used in SCOM agent. https://scx.codeplex.com/ </a:t>
            </a:r>
            <a:endParaRPr lang="de-CH" dirty="0"/>
          </a:p>
          <a:p>
            <a:pPr rtl="0" eaLnBrk="1" fontAlgn="ctr" latinLnBrk="0" hangingPunct="1"/>
            <a:r>
              <a:rPr lang="de-CH" dirty="0"/>
              <a:t>- </a:t>
            </a:r>
            <a:r>
              <a:rPr lang="de-CH" dirty="0" err="1"/>
              <a:t>apache-cimprov</a:t>
            </a:r>
            <a:r>
              <a:rPr lang="de-CH" dirty="0"/>
              <a:t> - </a:t>
            </a:r>
            <a:r>
              <a:rPr lang="en-US" dirty="0"/>
              <a:t>Apache HTTP Server performance monitoring provider for OMI. Only installed if Apache HTTP Server is detected.</a:t>
            </a:r>
            <a:endParaRPr lang="de-CH" dirty="0"/>
          </a:p>
          <a:p>
            <a:pPr rtl="0" eaLnBrk="1" fontAlgn="ctr" latinLnBrk="0" hangingPunct="1"/>
            <a:r>
              <a:rPr lang="de-CH" dirty="0"/>
              <a:t>- </a:t>
            </a:r>
            <a:r>
              <a:rPr lang="de-CH" dirty="0" err="1"/>
              <a:t>mysql-cimprov</a:t>
            </a:r>
            <a:r>
              <a:rPr lang="de-CH" dirty="0"/>
              <a:t> - </a:t>
            </a:r>
            <a:r>
              <a:rPr lang="en-US" dirty="0"/>
              <a:t>MySQL Server performance monitoring provider for OMI. Only installed if MySQL/</a:t>
            </a:r>
            <a:r>
              <a:rPr lang="en-US" dirty="0" err="1"/>
              <a:t>MariaDB</a:t>
            </a:r>
            <a:r>
              <a:rPr lang="en-US" dirty="0"/>
              <a:t> server is detected.</a:t>
            </a:r>
            <a:endParaRPr lang="de-CH" dirty="0"/>
          </a:p>
          <a:p>
            <a:pPr rtl="0" eaLnBrk="1" fontAlgn="ctr" latinLnBrk="0" hangingPunct="1"/>
            <a:r>
              <a:rPr lang="de-CH" dirty="0"/>
              <a:t>- </a:t>
            </a:r>
            <a:r>
              <a:rPr lang="de-CH" dirty="0" err="1"/>
              <a:t>docker-cimprov</a:t>
            </a:r>
            <a:r>
              <a:rPr lang="de-CH" dirty="0"/>
              <a:t> - </a:t>
            </a:r>
            <a:r>
              <a:rPr lang="en-US" dirty="0"/>
              <a:t>Docker provider for OMI. Only installed if Docker is detected.</a:t>
            </a:r>
          </a:p>
          <a:p>
            <a:pPr rtl="0" eaLnBrk="1" fontAlgn="ctr" latinLnBrk="0" hangingPunct="1"/>
            <a:endParaRPr lang="en-US" dirty="0"/>
          </a:p>
          <a:p>
            <a:pPr rtl="0" eaLnBrk="1" fontAlgn="ctr" latinLnBrk="0" hangingPunct="1"/>
            <a:r>
              <a:rPr lang="en-US" dirty="0"/>
              <a:t>Requirements:</a:t>
            </a:r>
          </a:p>
          <a:p>
            <a:pPr rtl="0" eaLnBrk="1" fontAlgn="ctr" latinLnBrk="0" hangingPunct="1"/>
            <a:r>
              <a:rPr lang="de-CH" dirty="0" err="1"/>
              <a:t>Glibc</a:t>
            </a:r>
            <a:endParaRPr lang="de-CH" dirty="0"/>
          </a:p>
          <a:p>
            <a:pPr rtl="0" eaLnBrk="1" fontAlgn="ctr" latinLnBrk="0" hangingPunct="1"/>
            <a:r>
              <a:rPr lang="de-CH" dirty="0" err="1"/>
              <a:t>Openssl</a:t>
            </a:r>
            <a:endParaRPr lang="de-CH" dirty="0"/>
          </a:p>
          <a:p>
            <a:pPr rtl="0" eaLnBrk="1" fontAlgn="ctr" latinLnBrk="0" hangingPunct="1"/>
            <a:r>
              <a:rPr lang="de-CH" dirty="0" err="1"/>
              <a:t>Curl</a:t>
            </a:r>
            <a:endParaRPr lang="de-CH" dirty="0"/>
          </a:p>
          <a:p>
            <a:pPr rtl="0" eaLnBrk="1" fontAlgn="ctr" latinLnBrk="0" hangingPunct="1"/>
            <a:r>
              <a:rPr lang="de-CH" dirty="0"/>
              <a:t>Python-</a:t>
            </a:r>
            <a:r>
              <a:rPr lang="de-CH" dirty="0" err="1"/>
              <a:t>ctypes</a:t>
            </a:r>
            <a:endParaRPr lang="de-CH" dirty="0"/>
          </a:p>
          <a:p>
            <a:pPr rtl="0" eaLnBrk="1" fontAlgn="ctr" latinLnBrk="0" hangingPunct="1"/>
            <a:r>
              <a:rPr lang="de-CH" dirty="0"/>
              <a:t>PAM</a:t>
            </a:r>
            <a:endParaRPr lang="en-US" dirty="0"/>
          </a:p>
          <a:p>
            <a:pPr rtl="0" eaLnBrk="1" fontAlgn="ctr" latinLnBrk="0" hangingPunct="1"/>
            <a:endParaRPr lang="en-US" dirty="0"/>
          </a:p>
          <a:p>
            <a:r>
              <a:rPr lang="en-US" dirty="0"/>
              <a:t>Note: Either </a:t>
            </a:r>
            <a:r>
              <a:rPr lang="en-US" dirty="0" err="1"/>
              <a:t>rsyslog</a:t>
            </a:r>
            <a:r>
              <a:rPr lang="en-US" dirty="0"/>
              <a:t> or syslog-ng are required to collect syslog messages. The default syslog daemon on version 5 of Red Hat Enterprise Linux, CentOS, and Oracle Linux version (</a:t>
            </a:r>
            <a:r>
              <a:rPr lang="en-US" dirty="0" err="1"/>
              <a:t>sysklog</a:t>
            </a:r>
            <a:r>
              <a:rPr lang="en-US" dirty="0"/>
              <a:t>) is not supported for syslog event collection. To collect syslog data from this version of these distributions, the </a:t>
            </a:r>
            <a:r>
              <a:rPr lang="en-US" dirty="0" err="1"/>
              <a:t>rsyslog</a:t>
            </a:r>
            <a:r>
              <a:rPr lang="en-US" dirty="0"/>
              <a:t> daemon should be installed and configured to replace </a:t>
            </a:r>
            <a:r>
              <a:rPr lang="en-US" dirty="0" err="1"/>
              <a:t>sysklog</a:t>
            </a:r>
            <a:endParaRPr lang="en-US" dirty="0"/>
          </a:p>
          <a:p>
            <a:endParaRPr lang="en-US" dirty="0"/>
          </a:p>
          <a:p>
            <a:r>
              <a:rPr lang="en-US" dirty="0"/>
              <a:t>Deployment</a:t>
            </a:r>
            <a:r>
              <a:rPr lang="en-US" baseline="0" dirty="0"/>
              <a:t> Methods</a:t>
            </a:r>
          </a:p>
          <a:p>
            <a:pPr marL="181240" indent="-181240">
              <a:buFontTx/>
              <a:buChar char="-"/>
            </a:pPr>
            <a:r>
              <a:rPr lang="en-US" baseline="0" dirty="0" err="1"/>
              <a:t>Github</a:t>
            </a:r>
            <a:endParaRPr lang="en-US" baseline="0" dirty="0"/>
          </a:p>
          <a:p>
            <a:pPr marL="181240" indent="-181240">
              <a:buFontTx/>
              <a:buChar char="-"/>
            </a:pPr>
            <a:r>
              <a:rPr lang="en-US" baseline="0" dirty="0"/>
              <a:t>Azure VM Extension</a:t>
            </a:r>
            <a:endParaRPr lang="en-US" dirty="0"/>
          </a:p>
          <a:p>
            <a:pPr rtl="0" eaLnBrk="1" fontAlgn="ctr" latinLnBrk="0" hangingPunct="1"/>
            <a:endParaRPr lang="de-CH" dirty="0"/>
          </a:p>
          <a:p>
            <a:endParaRPr lang="en-US" dirty="0"/>
          </a:p>
        </p:txBody>
      </p:sp>
      <p:sp>
        <p:nvSpPr>
          <p:cNvPr id="4" name="Slide Number Placeholder 3"/>
          <p:cNvSpPr>
            <a:spLocks noGrp="1"/>
          </p:cNvSpPr>
          <p:nvPr>
            <p:ph type="sldNum" sz="quarter" idx="10"/>
          </p:nvPr>
        </p:nvSpPr>
        <p:spPr/>
        <p:txBody>
          <a:bodyPr/>
          <a:lstStyle/>
          <a:p>
            <a:fld id="{F776870B-36E6-45AA-AB02-E2A09D4A3228}" type="slidenum">
              <a:rPr lang="en-US" smtClean="0"/>
              <a:t>18</a:t>
            </a:fld>
            <a:endParaRPr lang="en-US"/>
          </a:p>
        </p:txBody>
      </p:sp>
    </p:spTree>
    <p:extLst>
      <p:ext uri="{BB962C8B-B14F-4D97-AF65-F5344CB8AC3E}">
        <p14:creationId xmlns:p14="http://schemas.microsoft.com/office/powerpoint/2010/main" val="2203492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hlinkClick r:id="rId3"/>
              </a:rPr>
              <a:t>CollectD</a:t>
            </a:r>
            <a:r>
              <a:rPr lang="en-US" dirty="0"/>
              <a:t> is an open source Linux daemon that periodically collects data from applications and system level information. Example applications </a:t>
            </a:r>
            <a:r>
              <a:rPr lang="en-US" dirty="0" err="1"/>
              <a:t>CollectD</a:t>
            </a:r>
            <a:r>
              <a:rPr lang="en-US" dirty="0"/>
              <a:t> can collect metrics from include the Java Virtual Machine (JVM), MySQL Server, Nginx, etc. Current support for </a:t>
            </a:r>
            <a:r>
              <a:rPr lang="en-US" dirty="0" err="1"/>
              <a:t>CollectD</a:t>
            </a:r>
            <a:r>
              <a:rPr lang="en-US" dirty="0"/>
              <a:t> includes version 4.8+.</a:t>
            </a:r>
          </a:p>
          <a:p>
            <a:endParaRPr lang="en-US" dirty="0"/>
          </a:p>
          <a:p>
            <a:r>
              <a:rPr lang="en-US" dirty="0"/>
              <a:t>This </a:t>
            </a:r>
            <a:r>
              <a:rPr lang="en-US" dirty="0" err="1"/>
              <a:t>CollectD</a:t>
            </a:r>
            <a:r>
              <a:rPr lang="en-US" dirty="0"/>
              <a:t> configuration uses the default </a:t>
            </a:r>
            <a:r>
              <a:rPr lang="en-US" dirty="0" err="1"/>
              <a:t>write_http</a:t>
            </a:r>
            <a:r>
              <a:rPr lang="en-US" dirty="0"/>
              <a:t> plugin to send metric data over port 26000 to OMS Agent for Linux. </a:t>
            </a:r>
            <a:r>
              <a:rPr lang="en-US" b="1" dirty="0"/>
              <a:t>Note:</a:t>
            </a:r>
            <a:r>
              <a:rPr lang="en-US" dirty="0"/>
              <a:t> This port can be configured to another port if needed.</a:t>
            </a:r>
          </a:p>
          <a:p>
            <a:r>
              <a:rPr lang="en-US" dirty="0"/>
              <a:t>The OMS Agent for Linux also listens on port 26000 for </a:t>
            </a:r>
            <a:r>
              <a:rPr lang="en-US" dirty="0" err="1"/>
              <a:t>CollectD</a:t>
            </a:r>
            <a:r>
              <a:rPr lang="en-US" dirty="0"/>
              <a:t> metrics and then converts them to OMS schema metrics.</a:t>
            </a:r>
          </a:p>
          <a:p>
            <a:endParaRPr lang="en-US" dirty="0"/>
          </a:p>
          <a:p>
            <a:r>
              <a:rPr lang="en-US" dirty="0"/>
              <a:t>Schema Mapping</a:t>
            </a:r>
          </a:p>
          <a:p>
            <a:pPr rtl="0" eaLnBrk="1" fontAlgn="ctr" latinLnBrk="0" hangingPunct="1"/>
            <a:r>
              <a:rPr lang="de-CH" sz="1300" b="1" i="1" dirty="0" err="1"/>
              <a:t>CollectD</a:t>
            </a:r>
            <a:r>
              <a:rPr lang="de-CH" sz="1300" b="1" i="1" dirty="0"/>
              <a:t> </a:t>
            </a:r>
            <a:r>
              <a:rPr lang="de-CH" sz="1300" i="1" dirty="0"/>
              <a:t>OMS</a:t>
            </a:r>
          </a:p>
          <a:p>
            <a:pPr rtl="0" eaLnBrk="1" fontAlgn="ctr" latinLnBrk="0" hangingPunct="1"/>
            <a:r>
              <a:rPr lang="de-CH" sz="1300" b="1" dirty="0"/>
              <a:t>Host</a:t>
            </a:r>
            <a:r>
              <a:rPr lang="de-CH" sz="1300" dirty="0"/>
              <a:t> Computer</a:t>
            </a:r>
          </a:p>
          <a:p>
            <a:pPr rtl="0" eaLnBrk="1" fontAlgn="ctr" latinLnBrk="0" hangingPunct="1"/>
            <a:r>
              <a:rPr lang="de-CH" sz="1300" b="1" dirty="0" err="1"/>
              <a:t>Plugin</a:t>
            </a:r>
            <a:r>
              <a:rPr lang="de-CH" sz="1300" dirty="0"/>
              <a:t> None</a:t>
            </a:r>
          </a:p>
          <a:p>
            <a:pPr rtl="0" eaLnBrk="1" fontAlgn="ctr" latinLnBrk="0" hangingPunct="1"/>
            <a:r>
              <a:rPr lang="de-CH" sz="1300" b="1" dirty="0" err="1"/>
              <a:t>plugin_instance</a:t>
            </a:r>
            <a:r>
              <a:rPr lang="de-CH" sz="1300" dirty="0"/>
              <a:t> </a:t>
            </a:r>
            <a:r>
              <a:rPr lang="en-US" sz="1300" dirty="0"/>
              <a:t>Instance Name -- if </a:t>
            </a:r>
            <a:r>
              <a:rPr lang="en-US" sz="1300" dirty="0" err="1"/>
              <a:t>plugin_instance</a:t>
            </a:r>
            <a:r>
              <a:rPr lang="en-US" sz="1300" dirty="0"/>
              <a:t> is null then </a:t>
            </a:r>
            <a:r>
              <a:rPr lang="en-US" sz="1300" dirty="0" err="1"/>
              <a:t>InstanceName</a:t>
            </a:r>
            <a:r>
              <a:rPr lang="en-US" sz="1300" dirty="0"/>
              <a:t>="_Total"</a:t>
            </a:r>
            <a:endParaRPr lang="de-CH" sz="1300" dirty="0"/>
          </a:p>
          <a:p>
            <a:pPr rtl="0" eaLnBrk="1" fontAlgn="ctr" latinLnBrk="0" hangingPunct="1"/>
            <a:r>
              <a:rPr lang="de-CH" sz="1300" b="1" dirty="0"/>
              <a:t>Type</a:t>
            </a:r>
            <a:r>
              <a:rPr lang="de-CH" sz="1300" dirty="0"/>
              <a:t> </a:t>
            </a:r>
            <a:r>
              <a:rPr lang="de-CH" sz="1300" dirty="0" err="1"/>
              <a:t>ObjectName</a:t>
            </a:r>
            <a:endParaRPr lang="de-CH" sz="1300" dirty="0"/>
          </a:p>
          <a:p>
            <a:pPr rtl="0" eaLnBrk="1" fontAlgn="ctr" latinLnBrk="0" hangingPunct="1"/>
            <a:r>
              <a:rPr lang="de-CH" sz="1300" b="1" dirty="0" err="1"/>
              <a:t>type_instance</a:t>
            </a:r>
            <a:r>
              <a:rPr lang="de-CH" sz="1300" dirty="0"/>
              <a:t> </a:t>
            </a:r>
            <a:r>
              <a:rPr lang="en-US" sz="1300" dirty="0" err="1"/>
              <a:t>CounterName</a:t>
            </a:r>
            <a:r>
              <a:rPr lang="en-US" sz="1300" dirty="0"/>
              <a:t> -- if </a:t>
            </a:r>
            <a:r>
              <a:rPr lang="en-US" sz="1300" dirty="0" err="1"/>
              <a:t>type_instance</a:t>
            </a:r>
            <a:r>
              <a:rPr lang="en-US" sz="1300" dirty="0"/>
              <a:t> is null then </a:t>
            </a:r>
            <a:r>
              <a:rPr lang="en-US" sz="1300" dirty="0" err="1"/>
              <a:t>CounterName</a:t>
            </a:r>
            <a:r>
              <a:rPr lang="en-US" sz="1300" dirty="0"/>
              <a:t>=blank</a:t>
            </a:r>
            <a:endParaRPr lang="de-CH" sz="1300" dirty="0"/>
          </a:p>
          <a:p>
            <a:pPr rtl="0" eaLnBrk="1" fontAlgn="ctr" latinLnBrk="0" hangingPunct="1"/>
            <a:r>
              <a:rPr lang="de-CH" sz="1300" b="1" dirty="0" err="1"/>
              <a:t>dsnames</a:t>
            </a:r>
            <a:r>
              <a:rPr lang="de-CH" sz="1300" b="1" dirty="0"/>
              <a:t>[]</a:t>
            </a:r>
            <a:r>
              <a:rPr lang="de-CH" sz="1300" dirty="0"/>
              <a:t> </a:t>
            </a:r>
            <a:r>
              <a:rPr lang="de-CH" sz="1300" dirty="0" err="1"/>
              <a:t>CounterName</a:t>
            </a:r>
            <a:endParaRPr lang="de-CH" sz="1300" dirty="0"/>
          </a:p>
          <a:p>
            <a:pPr rtl="0" eaLnBrk="1" fontAlgn="ctr" latinLnBrk="0" hangingPunct="1"/>
            <a:r>
              <a:rPr lang="de-CH" sz="1300" b="1" dirty="0" err="1"/>
              <a:t>Dstypes</a:t>
            </a:r>
            <a:r>
              <a:rPr lang="de-CH" sz="1300" dirty="0"/>
              <a:t> None</a:t>
            </a:r>
          </a:p>
          <a:p>
            <a:pPr rtl="0" eaLnBrk="1" fontAlgn="ctr" latinLnBrk="0" hangingPunct="1"/>
            <a:r>
              <a:rPr lang="de-CH" sz="1300" b="1" dirty="0" err="1"/>
              <a:t>values</a:t>
            </a:r>
            <a:r>
              <a:rPr lang="de-CH" sz="1300" b="1" dirty="0"/>
              <a:t>[]</a:t>
            </a:r>
            <a:r>
              <a:rPr lang="de-CH" sz="1300" dirty="0"/>
              <a:t> </a:t>
            </a:r>
            <a:r>
              <a:rPr lang="de-CH" sz="1300" dirty="0" err="1"/>
              <a:t>CounterValue</a:t>
            </a:r>
            <a:endParaRPr lang="de-CH" sz="1300" dirty="0"/>
          </a:p>
          <a:p>
            <a:endParaRPr lang="en-US" dirty="0"/>
          </a:p>
          <a:p>
            <a:endParaRPr lang="de-CH" dirty="0"/>
          </a:p>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19</a:t>
            </a:fld>
            <a:endParaRPr lang="en-US"/>
          </a:p>
        </p:txBody>
      </p:sp>
    </p:spTree>
    <p:extLst>
      <p:ext uri="{BB962C8B-B14F-4D97-AF65-F5344CB8AC3E}">
        <p14:creationId xmlns:p14="http://schemas.microsoft.com/office/powerpoint/2010/main" val="5413797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 </a:t>
            </a:r>
            <a:r>
              <a:rPr lang="de-CH" dirty="0" err="1"/>
              <a:t>Install</a:t>
            </a:r>
            <a:r>
              <a:rPr lang="de-CH" dirty="0"/>
              <a:t> </a:t>
            </a:r>
            <a:r>
              <a:rPr lang="de-CH" dirty="0" err="1"/>
              <a:t>collectd</a:t>
            </a:r>
            <a:r>
              <a:rPr lang="de-CH" dirty="0"/>
              <a:t> </a:t>
            </a:r>
            <a:r>
              <a:rPr lang="de-CH" dirty="0" err="1"/>
              <a:t>ubuntu</a:t>
            </a:r>
            <a:endParaRPr lang="de-CH" dirty="0"/>
          </a:p>
          <a:p>
            <a:r>
              <a:rPr lang="de-CH" dirty="0" err="1"/>
              <a:t>apt-get</a:t>
            </a:r>
            <a:r>
              <a:rPr lang="de-CH" dirty="0"/>
              <a:t> </a:t>
            </a:r>
            <a:r>
              <a:rPr lang="de-CH" dirty="0" err="1"/>
              <a:t>install</a:t>
            </a:r>
            <a:r>
              <a:rPr lang="de-CH" dirty="0"/>
              <a:t> </a:t>
            </a:r>
            <a:r>
              <a:rPr lang="de-CH" dirty="0" err="1"/>
              <a:t>collectd</a:t>
            </a:r>
            <a:r>
              <a:rPr lang="de-CH" dirty="0"/>
              <a:t> --</a:t>
            </a:r>
            <a:r>
              <a:rPr lang="de-CH" dirty="0" err="1"/>
              <a:t>no-install-recommends</a:t>
            </a:r>
            <a:r>
              <a:rPr lang="de-CH" dirty="0"/>
              <a:t> </a:t>
            </a:r>
            <a:r>
              <a:rPr lang="de-CH" dirty="0" err="1"/>
              <a:t>collectd</a:t>
            </a:r>
            <a:endParaRPr lang="de-CH" dirty="0"/>
          </a:p>
          <a:p>
            <a:endParaRPr lang="de-CH" dirty="0"/>
          </a:p>
          <a:p>
            <a:r>
              <a:rPr lang="de-CH" dirty="0"/>
              <a:t># Modify </a:t>
            </a:r>
            <a:r>
              <a:rPr lang="de-CH" dirty="0" err="1"/>
              <a:t>config</a:t>
            </a:r>
            <a:r>
              <a:rPr lang="de-CH" dirty="0"/>
              <a:t> /</a:t>
            </a:r>
            <a:r>
              <a:rPr lang="de-CH" dirty="0" err="1"/>
              <a:t>etc</a:t>
            </a:r>
            <a:r>
              <a:rPr lang="de-CH" dirty="0"/>
              <a:t>/</a:t>
            </a:r>
            <a:r>
              <a:rPr lang="de-CH" dirty="0" err="1"/>
              <a:t>collectd</a:t>
            </a:r>
            <a:r>
              <a:rPr lang="de-CH" dirty="0"/>
              <a:t>/</a:t>
            </a:r>
            <a:r>
              <a:rPr lang="de-CH" dirty="0" err="1"/>
              <a:t>collectd.conf</a:t>
            </a:r>
            <a:endParaRPr lang="de-CH" dirty="0"/>
          </a:p>
          <a:p>
            <a:r>
              <a:rPr lang="de-CH" dirty="0"/>
              <a:t># </a:t>
            </a:r>
            <a:r>
              <a:rPr lang="de-CH" dirty="0" err="1"/>
              <a:t>Uncomment</a:t>
            </a:r>
            <a:r>
              <a:rPr lang="de-CH" dirty="0"/>
              <a:t> </a:t>
            </a:r>
            <a:r>
              <a:rPr lang="de-CH" dirty="0" err="1"/>
              <a:t>uptime</a:t>
            </a:r>
            <a:r>
              <a:rPr lang="de-CH" dirty="0"/>
              <a:t> </a:t>
            </a:r>
            <a:r>
              <a:rPr lang="de-CH" dirty="0" err="1"/>
              <a:t>and</a:t>
            </a:r>
            <a:r>
              <a:rPr lang="de-CH" dirty="0"/>
              <a:t> </a:t>
            </a:r>
            <a:r>
              <a:rPr lang="de-CH" dirty="0" err="1"/>
              <a:t>users</a:t>
            </a:r>
            <a:endParaRPr lang="de-CH" dirty="0"/>
          </a:p>
          <a:p>
            <a:endParaRPr lang="de-CH" dirty="0"/>
          </a:p>
          <a:p>
            <a:r>
              <a:rPr lang="de-CH" dirty="0"/>
              <a:t>## </a:t>
            </a:r>
            <a:r>
              <a:rPr lang="de-CH" dirty="0" err="1"/>
              <a:t>Install</a:t>
            </a:r>
            <a:r>
              <a:rPr lang="de-CH" dirty="0"/>
              <a:t> OMS </a:t>
            </a:r>
            <a:r>
              <a:rPr lang="de-CH" dirty="0" err="1"/>
              <a:t>agent</a:t>
            </a:r>
            <a:endParaRPr lang="de-CH" dirty="0"/>
          </a:p>
          <a:p>
            <a:endParaRPr lang="de-CH" dirty="0"/>
          </a:p>
          <a:p>
            <a:r>
              <a:rPr lang="de-CH" dirty="0"/>
              <a:t># Download </a:t>
            </a:r>
            <a:r>
              <a:rPr lang="de-CH" dirty="0" err="1"/>
              <a:t>source</a:t>
            </a:r>
            <a:endParaRPr lang="de-CH" dirty="0"/>
          </a:p>
          <a:p>
            <a:r>
              <a:rPr lang="de-CH" dirty="0" err="1"/>
              <a:t>wget</a:t>
            </a:r>
            <a:r>
              <a:rPr lang="de-CH" dirty="0"/>
              <a:t> https://github.com/Microsoft/OMS-Agent-for-Linux/releases/download/v1.1.0-217/omsagent-1.1.0-217.universal.x64.sh</a:t>
            </a:r>
          </a:p>
          <a:p>
            <a:endParaRPr lang="de-CH" dirty="0"/>
          </a:p>
          <a:p>
            <a:r>
              <a:rPr lang="de-CH" dirty="0"/>
              <a:t># </a:t>
            </a:r>
            <a:r>
              <a:rPr lang="de-CH" dirty="0" err="1"/>
              <a:t>Extract</a:t>
            </a:r>
            <a:r>
              <a:rPr lang="de-CH" dirty="0"/>
              <a:t> </a:t>
            </a:r>
            <a:r>
              <a:rPr lang="de-CH" dirty="0" err="1"/>
              <a:t>oms</a:t>
            </a:r>
            <a:r>
              <a:rPr lang="de-CH" dirty="0"/>
              <a:t> </a:t>
            </a:r>
            <a:r>
              <a:rPr lang="de-CH" dirty="0" err="1"/>
              <a:t>agent</a:t>
            </a:r>
            <a:endParaRPr lang="de-CH" dirty="0"/>
          </a:p>
          <a:p>
            <a:r>
              <a:rPr lang="de-CH" dirty="0" err="1"/>
              <a:t>sudo</a:t>
            </a:r>
            <a:r>
              <a:rPr lang="de-CH" dirty="0"/>
              <a:t> sh omsagent-1.1.0-217.universal.x64.sh --</a:t>
            </a:r>
            <a:r>
              <a:rPr lang="de-CH" dirty="0" err="1"/>
              <a:t>extract</a:t>
            </a:r>
            <a:endParaRPr lang="de-CH" dirty="0"/>
          </a:p>
          <a:p>
            <a:endParaRPr lang="de-CH" dirty="0"/>
          </a:p>
          <a:p>
            <a:r>
              <a:rPr lang="de-CH" dirty="0"/>
              <a:t>~/omsbundle.5520$ </a:t>
            </a:r>
            <a:r>
              <a:rPr lang="de-CH" dirty="0" err="1"/>
              <a:t>ls</a:t>
            </a:r>
            <a:r>
              <a:rPr lang="de-CH" dirty="0"/>
              <a:t> -la</a:t>
            </a:r>
          </a:p>
          <a:p>
            <a:r>
              <a:rPr lang="de-CH" dirty="0"/>
              <a:t>total 20</a:t>
            </a:r>
          </a:p>
          <a:p>
            <a:r>
              <a:rPr lang="de-CH" dirty="0" err="1"/>
              <a:t>drwxr</a:t>
            </a:r>
            <a:r>
              <a:rPr lang="de-CH" dirty="0"/>
              <a:t>-</a:t>
            </a:r>
            <a:r>
              <a:rPr lang="de-CH" dirty="0" err="1"/>
              <a:t>xr</a:t>
            </a:r>
            <a:r>
              <a:rPr lang="de-CH" dirty="0"/>
              <a:t>-x 5 </a:t>
            </a:r>
            <a:r>
              <a:rPr lang="de-CH" dirty="0" err="1"/>
              <a:t>root</a:t>
            </a:r>
            <a:r>
              <a:rPr lang="de-CH" dirty="0"/>
              <a:t>    </a:t>
            </a:r>
            <a:r>
              <a:rPr lang="de-CH" dirty="0" err="1"/>
              <a:t>root</a:t>
            </a:r>
            <a:r>
              <a:rPr lang="de-CH" dirty="0"/>
              <a:t>    4096 Aug 21 21:50 .</a:t>
            </a:r>
          </a:p>
          <a:p>
            <a:r>
              <a:rPr lang="de-CH" dirty="0" err="1"/>
              <a:t>drwxr</a:t>
            </a:r>
            <a:r>
              <a:rPr lang="de-CH" dirty="0"/>
              <a:t>-</a:t>
            </a:r>
            <a:r>
              <a:rPr lang="de-CH" dirty="0" err="1"/>
              <a:t>xr</a:t>
            </a:r>
            <a:r>
              <a:rPr lang="de-CH" dirty="0"/>
              <a:t>-x 5 </a:t>
            </a:r>
            <a:r>
              <a:rPr lang="de-CH" dirty="0" err="1"/>
              <a:t>sjohner</a:t>
            </a:r>
            <a:r>
              <a:rPr lang="de-CH" dirty="0"/>
              <a:t> </a:t>
            </a:r>
            <a:r>
              <a:rPr lang="de-CH" dirty="0" err="1"/>
              <a:t>sjohner</a:t>
            </a:r>
            <a:r>
              <a:rPr lang="de-CH" dirty="0"/>
              <a:t> 4096 Aug 21 21:50 ..</a:t>
            </a:r>
          </a:p>
          <a:p>
            <a:r>
              <a:rPr lang="de-CH" dirty="0" err="1"/>
              <a:t>drwxr</a:t>
            </a:r>
            <a:r>
              <a:rPr lang="de-CH" dirty="0"/>
              <a:t>-</a:t>
            </a:r>
            <a:r>
              <a:rPr lang="de-CH" dirty="0" err="1"/>
              <a:t>xr</a:t>
            </a:r>
            <a:r>
              <a:rPr lang="de-CH" dirty="0"/>
              <a:t>-x 2 </a:t>
            </a:r>
            <a:r>
              <a:rPr lang="de-CH" dirty="0" err="1"/>
              <a:t>root</a:t>
            </a:r>
            <a:r>
              <a:rPr lang="de-CH" dirty="0"/>
              <a:t>    </a:t>
            </a:r>
            <a:r>
              <a:rPr lang="de-CH" dirty="0" err="1"/>
              <a:t>root</a:t>
            </a:r>
            <a:r>
              <a:rPr lang="de-CH" dirty="0"/>
              <a:t>    4096 Aug 21 21:50 098</a:t>
            </a:r>
          </a:p>
          <a:p>
            <a:r>
              <a:rPr lang="de-CH" dirty="0" err="1"/>
              <a:t>drwxr</a:t>
            </a:r>
            <a:r>
              <a:rPr lang="de-CH" dirty="0"/>
              <a:t>-</a:t>
            </a:r>
            <a:r>
              <a:rPr lang="de-CH" dirty="0" err="1"/>
              <a:t>xr</a:t>
            </a:r>
            <a:r>
              <a:rPr lang="de-CH" dirty="0"/>
              <a:t>-x 2 </a:t>
            </a:r>
            <a:r>
              <a:rPr lang="de-CH" dirty="0" err="1"/>
              <a:t>root</a:t>
            </a:r>
            <a:r>
              <a:rPr lang="de-CH" dirty="0"/>
              <a:t>    </a:t>
            </a:r>
            <a:r>
              <a:rPr lang="de-CH" dirty="0" err="1"/>
              <a:t>root</a:t>
            </a:r>
            <a:r>
              <a:rPr lang="de-CH" dirty="0"/>
              <a:t>    4096 Aug 21 21:50 100</a:t>
            </a:r>
          </a:p>
          <a:p>
            <a:r>
              <a:rPr lang="de-CH" dirty="0" err="1"/>
              <a:t>drwxr</a:t>
            </a:r>
            <a:r>
              <a:rPr lang="de-CH" dirty="0"/>
              <a:t>-</a:t>
            </a:r>
            <a:r>
              <a:rPr lang="de-CH" dirty="0" err="1"/>
              <a:t>xr</a:t>
            </a:r>
            <a:r>
              <a:rPr lang="de-CH" dirty="0"/>
              <a:t>-x 2 </a:t>
            </a:r>
            <a:r>
              <a:rPr lang="de-CH" dirty="0" err="1"/>
              <a:t>root</a:t>
            </a:r>
            <a:r>
              <a:rPr lang="de-CH" dirty="0"/>
              <a:t>    </a:t>
            </a:r>
            <a:r>
              <a:rPr lang="de-CH" dirty="0" err="1"/>
              <a:t>root</a:t>
            </a:r>
            <a:r>
              <a:rPr lang="de-CH" dirty="0"/>
              <a:t>    4096 Aug 21 21:50 </a:t>
            </a:r>
            <a:r>
              <a:rPr lang="de-CH" dirty="0" err="1"/>
              <a:t>oss</a:t>
            </a:r>
            <a:r>
              <a:rPr lang="de-CH" dirty="0"/>
              <a:t>-kits</a:t>
            </a:r>
          </a:p>
          <a:p>
            <a:endParaRPr lang="de-CH" dirty="0"/>
          </a:p>
          <a:p>
            <a:r>
              <a:rPr lang="de-CH" dirty="0"/>
              <a:t># </a:t>
            </a:r>
            <a:r>
              <a:rPr lang="de-CH" dirty="0" err="1"/>
              <a:t>OpenSSL</a:t>
            </a:r>
            <a:r>
              <a:rPr lang="de-CH" dirty="0"/>
              <a:t> </a:t>
            </a:r>
            <a:r>
              <a:rPr lang="de-CH" dirty="0" err="1"/>
              <a:t>version</a:t>
            </a:r>
            <a:endParaRPr lang="de-CH" dirty="0"/>
          </a:p>
          <a:p>
            <a:r>
              <a:rPr lang="de-CH" dirty="0" err="1"/>
              <a:t>vim</a:t>
            </a:r>
            <a:r>
              <a:rPr lang="de-CH" dirty="0"/>
              <a:t> omsagent-1.1.0-217.universal.x64.sh</a:t>
            </a:r>
          </a:p>
          <a:p>
            <a:endParaRPr lang="de-CH" dirty="0"/>
          </a:p>
          <a:p>
            <a:r>
              <a:rPr lang="de-CH" dirty="0"/>
              <a:t># Set </a:t>
            </a:r>
            <a:r>
              <a:rPr lang="de-CH" dirty="0" err="1"/>
              <a:t>line</a:t>
            </a:r>
            <a:r>
              <a:rPr lang="de-CH" dirty="0"/>
              <a:t> </a:t>
            </a:r>
            <a:r>
              <a:rPr lang="de-CH" dirty="0" err="1"/>
              <a:t>numbers</a:t>
            </a:r>
            <a:endParaRPr lang="de-CH" dirty="0"/>
          </a:p>
          <a:p>
            <a:r>
              <a:rPr lang="de-CH" dirty="0"/>
              <a:t>:</a:t>
            </a:r>
            <a:r>
              <a:rPr lang="de-CH" dirty="0" err="1"/>
              <a:t>set</a:t>
            </a:r>
            <a:r>
              <a:rPr lang="de-CH" dirty="0"/>
              <a:t> nu</a:t>
            </a:r>
          </a:p>
          <a:p>
            <a:r>
              <a:rPr lang="de-CH" dirty="0"/>
              <a:t>:198</a:t>
            </a:r>
          </a:p>
          <a:p>
            <a:r>
              <a:rPr lang="de-CH" dirty="0"/>
              <a:t>    OPENSSL_SYSTEM_VERSION_098=`echo $OPENSSL_SYSTEM_VERSION_FULL | </a:t>
            </a:r>
            <a:r>
              <a:rPr lang="de-CH" dirty="0" err="1"/>
              <a:t>grep</a:t>
            </a:r>
            <a:r>
              <a:rPr lang="de-CH" dirty="0"/>
              <a:t> -</a:t>
            </a:r>
            <a:r>
              <a:rPr lang="de-CH" dirty="0" err="1"/>
              <a:t>Eq</a:t>
            </a:r>
            <a:r>
              <a:rPr lang="de-CH" dirty="0"/>
              <a:t> '^0.9.8'; echo $?`</a:t>
            </a:r>
          </a:p>
          <a:p>
            <a:r>
              <a:rPr lang="de-CH" dirty="0"/>
              <a:t>    OPENSSL_SYSTEM_VERSION_100=`echo $OPENSSL_SYSTEM_VERSION_FULL | </a:t>
            </a:r>
            <a:r>
              <a:rPr lang="de-CH" dirty="0" err="1"/>
              <a:t>grep</a:t>
            </a:r>
            <a:r>
              <a:rPr lang="de-CH" dirty="0"/>
              <a:t> -</a:t>
            </a:r>
            <a:r>
              <a:rPr lang="de-CH" dirty="0" err="1"/>
              <a:t>Eq</a:t>
            </a:r>
            <a:r>
              <a:rPr lang="de-CH" dirty="0"/>
              <a:t> '^1.0.'; echo $?`</a:t>
            </a:r>
          </a:p>
          <a:p>
            <a:r>
              <a:rPr lang="de-CH" dirty="0"/>
              <a:t>    </a:t>
            </a:r>
            <a:r>
              <a:rPr lang="de-CH" dirty="0" err="1"/>
              <a:t>if</a:t>
            </a:r>
            <a:r>
              <a:rPr lang="de-CH" dirty="0"/>
              <a:t> [ $OPENSSL_SYSTEM_VERSION_098 = 0 ]; </a:t>
            </a:r>
            <a:r>
              <a:rPr lang="de-CH" dirty="0" err="1"/>
              <a:t>then</a:t>
            </a:r>
            <a:endParaRPr lang="de-CH" dirty="0"/>
          </a:p>
          <a:p>
            <a:r>
              <a:rPr lang="de-CH" dirty="0"/>
              <a:t>        TMPBINDIR=098</a:t>
            </a:r>
          </a:p>
          <a:p>
            <a:r>
              <a:rPr lang="de-CH" dirty="0"/>
              <a:t>    </a:t>
            </a:r>
            <a:r>
              <a:rPr lang="de-CH" dirty="0" err="1"/>
              <a:t>elif</a:t>
            </a:r>
            <a:r>
              <a:rPr lang="de-CH" dirty="0"/>
              <a:t> [ $OPENSSL_SYSTEM_VERSION_100 = 0 ]; </a:t>
            </a:r>
            <a:r>
              <a:rPr lang="de-CH" dirty="0" err="1"/>
              <a:t>then</a:t>
            </a:r>
            <a:endParaRPr lang="de-CH" dirty="0"/>
          </a:p>
          <a:p>
            <a:r>
              <a:rPr lang="de-CH" dirty="0"/>
              <a:t>        TMPBINDIR=100</a:t>
            </a:r>
          </a:p>
          <a:p>
            <a:endParaRPr lang="de-CH" dirty="0"/>
          </a:p>
          <a:p>
            <a:r>
              <a:rPr lang="de-CH" dirty="0"/>
              <a:t># </a:t>
            </a:r>
            <a:r>
              <a:rPr lang="de-CH" dirty="0" err="1"/>
              <a:t>Install</a:t>
            </a:r>
            <a:r>
              <a:rPr lang="de-CH" dirty="0"/>
              <a:t> </a:t>
            </a:r>
            <a:r>
              <a:rPr lang="de-CH" dirty="0" err="1"/>
              <a:t>agent</a:t>
            </a:r>
            <a:endParaRPr lang="de-CH" dirty="0"/>
          </a:p>
          <a:p>
            <a:r>
              <a:rPr lang="de-CH" dirty="0" err="1"/>
              <a:t>apt-get</a:t>
            </a:r>
            <a:r>
              <a:rPr lang="de-CH" dirty="0"/>
              <a:t> </a:t>
            </a:r>
            <a:r>
              <a:rPr lang="de-CH" dirty="0" err="1"/>
              <a:t>install</a:t>
            </a:r>
            <a:r>
              <a:rPr lang="de-CH" dirty="0"/>
              <a:t> </a:t>
            </a:r>
            <a:r>
              <a:rPr lang="de-CH" dirty="0" err="1"/>
              <a:t>python-ctype</a:t>
            </a:r>
            <a:endParaRPr lang="de-CH" dirty="0"/>
          </a:p>
          <a:p>
            <a:endParaRPr lang="de-CH" dirty="0"/>
          </a:p>
          <a:p>
            <a:r>
              <a:rPr lang="de-CH" dirty="0" err="1"/>
              <a:t>wget</a:t>
            </a:r>
            <a:r>
              <a:rPr lang="de-CH" dirty="0"/>
              <a:t> https://github.com/Microsoft/OMS-Agent-for-Linux/releases/download/v1.1.0-217/omsagent-1.1.0-217.universal.x64.sh</a:t>
            </a:r>
          </a:p>
          <a:p>
            <a:endParaRPr lang="de-CH" dirty="0"/>
          </a:p>
          <a:p>
            <a:r>
              <a:rPr lang="de-CH" dirty="0"/>
              <a:t>sha256sum ./omsagent-1.1.0-217.universal.x64.sh</a:t>
            </a:r>
          </a:p>
          <a:p>
            <a:endParaRPr lang="de-CH" dirty="0"/>
          </a:p>
          <a:p>
            <a:r>
              <a:rPr lang="de-CH" dirty="0" err="1"/>
              <a:t>sudo</a:t>
            </a:r>
            <a:r>
              <a:rPr lang="de-CH" dirty="0"/>
              <a:t> sh ./omsagent-1.1.0-217.universal.x64.sh --upgrade --</a:t>
            </a:r>
            <a:r>
              <a:rPr lang="de-CH" dirty="0" err="1"/>
              <a:t>collectd</a:t>
            </a:r>
            <a:r>
              <a:rPr lang="de-CH" dirty="0"/>
              <a:t> -w f5a67315-4fac-4b68-8b67-e3a22a4fe9e9 -s W9QmwfUVh8z8Za9LlsdVmdoz4bheTEDME9i/TY9vyTrj180clHjndwyuXgCupYUQqUEWzcY3cIL0kKJ8dMPQHA==</a:t>
            </a:r>
          </a:p>
          <a:p>
            <a:endParaRPr lang="de-CH" dirty="0"/>
          </a:p>
          <a:p>
            <a:r>
              <a:rPr lang="de-CH" dirty="0" err="1"/>
              <a:t>sudo</a:t>
            </a:r>
            <a:r>
              <a:rPr lang="de-CH" dirty="0"/>
              <a:t> </a:t>
            </a:r>
            <a:r>
              <a:rPr lang="de-CH" dirty="0" err="1"/>
              <a:t>service</a:t>
            </a:r>
            <a:r>
              <a:rPr lang="de-CH" dirty="0"/>
              <a:t> </a:t>
            </a:r>
            <a:r>
              <a:rPr lang="de-CH" dirty="0" err="1"/>
              <a:t>collectd</a:t>
            </a:r>
            <a:r>
              <a:rPr lang="de-CH" dirty="0"/>
              <a:t> </a:t>
            </a:r>
            <a:r>
              <a:rPr lang="de-CH" dirty="0" err="1"/>
              <a:t>restart</a:t>
            </a:r>
            <a:endParaRPr lang="de-CH" dirty="0"/>
          </a:p>
          <a:p>
            <a:endParaRPr lang="de-CH" dirty="0"/>
          </a:p>
          <a:p>
            <a:r>
              <a:rPr lang="de-CH" dirty="0"/>
              <a:t># Show </a:t>
            </a:r>
            <a:r>
              <a:rPr lang="de-CH" dirty="0" err="1"/>
              <a:t>collectd</a:t>
            </a:r>
            <a:r>
              <a:rPr lang="de-CH" dirty="0"/>
              <a:t> </a:t>
            </a:r>
            <a:r>
              <a:rPr lang="de-CH" dirty="0" err="1"/>
              <a:t>config</a:t>
            </a:r>
            <a:endParaRPr lang="de-CH" dirty="0"/>
          </a:p>
          <a:p>
            <a:r>
              <a:rPr lang="de-CH" dirty="0" err="1"/>
              <a:t>less</a:t>
            </a:r>
            <a:r>
              <a:rPr lang="de-CH" dirty="0"/>
              <a:t> /</a:t>
            </a:r>
            <a:r>
              <a:rPr lang="de-CH" dirty="0" err="1"/>
              <a:t>etc</a:t>
            </a:r>
            <a:r>
              <a:rPr lang="de-CH" dirty="0"/>
              <a:t>/</a:t>
            </a:r>
            <a:r>
              <a:rPr lang="de-CH" dirty="0" err="1"/>
              <a:t>collectd</a:t>
            </a:r>
            <a:r>
              <a:rPr lang="de-CH" dirty="0"/>
              <a:t>/</a:t>
            </a:r>
            <a:r>
              <a:rPr lang="de-CH" dirty="0" err="1"/>
              <a:t>collectd.conf.d</a:t>
            </a:r>
            <a:r>
              <a:rPr lang="de-CH" dirty="0"/>
              <a:t>/</a:t>
            </a:r>
            <a:r>
              <a:rPr lang="de-CH" dirty="0" err="1"/>
              <a:t>oms.conf</a:t>
            </a:r>
            <a:endParaRPr lang="de-CH" dirty="0"/>
          </a:p>
          <a:p>
            <a:endParaRPr lang="de-CH" dirty="0"/>
          </a:p>
          <a:p>
            <a:r>
              <a:rPr lang="de-CH" dirty="0" err="1"/>
              <a:t>LoadPlugin</a:t>
            </a:r>
            <a:r>
              <a:rPr lang="de-CH" dirty="0"/>
              <a:t> </a:t>
            </a:r>
            <a:r>
              <a:rPr lang="de-CH" dirty="0" err="1"/>
              <a:t>write_http</a:t>
            </a:r>
            <a:endParaRPr lang="de-CH" dirty="0"/>
          </a:p>
          <a:p>
            <a:endParaRPr lang="de-CH" dirty="0"/>
          </a:p>
          <a:p>
            <a:r>
              <a:rPr lang="de-CH" dirty="0"/>
              <a:t>&lt;</a:t>
            </a:r>
            <a:r>
              <a:rPr lang="de-CH" dirty="0" err="1"/>
              <a:t>Plugin</a:t>
            </a:r>
            <a:r>
              <a:rPr lang="de-CH" dirty="0"/>
              <a:t> </a:t>
            </a:r>
            <a:r>
              <a:rPr lang="de-CH" dirty="0" err="1"/>
              <a:t>write_http</a:t>
            </a:r>
            <a:r>
              <a:rPr lang="de-CH" dirty="0"/>
              <a:t>&gt;</a:t>
            </a:r>
          </a:p>
          <a:p>
            <a:r>
              <a:rPr lang="de-CH" dirty="0"/>
              <a:t>         &lt;</a:t>
            </a:r>
            <a:r>
              <a:rPr lang="de-CH" dirty="0" err="1"/>
              <a:t>Node</a:t>
            </a:r>
            <a:r>
              <a:rPr lang="de-CH" dirty="0"/>
              <a:t> "</a:t>
            </a:r>
            <a:r>
              <a:rPr lang="de-CH" dirty="0" err="1"/>
              <a:t>oms</a:t>
            </a:r>
            <a:r>
              <a:rPr lang="de-CH" dirty="0"/>
              <a:t>"&gt;</a:t>
            </a:r>
          </a:p>
          <a:p>
            <a:r>
              <a:rPr lang="de-CH" dirty="0"/>
              <a:t>         URL "127.0.0.1:26000/</a:t>
            </a:r>
            <a:r>
              <a:rPr lang="de-CH" dirty="0" err="1"/>
              <a:t>oms.collectd</a:t>
            </a:r>
            <a:r>
              <a:rPr lang="de-CH" dirty="0"/>
              <a:t>"</a:t>
            </a:r>
          </a:p>
          <a:p>
            <a:r>
              <a:rPr lang="de-CH" dirty="0"/>
              <a:t>         Format "JSON"</a:t>
            </a:r>
          </a:p>
          <a:p>
            <a:r>
              <a:rPr lang="de-CH" dirty="0"/>
              <a:t>         </a:t>
            </a:r>
            <a:r>
              <a:rPr lang="de-CH" dirty="0" err="1"/>
              <a:t>StoreRates</a:t>
            </a:r>
            <a:r>
              <a:rPr lang="de-CH" dirty="0"/>
              <a:t> </a:t>
            </a:r>
            <a:r>
              <a:rPr lang="de-CH" dirty="0" err="1"/>
              <a:t>true</a:t>
            </a:r>
            <a:endParaRPr lang="de-CH" dirty="0"/>
          </a:p>
          <a:p>
            <a:r>
              <a:rPr lang="de-CH" dirty="0"/>
              <a:t>         &lt;/</a:t>
            </a:r>
            <a:r>
              <a:rPr lang="de-CH" dirty="0" err="1"/>
              <a:t>Node</a:t>
            </a:r>
            <a:r>
              <a:rPr lang="de-CH" dirty="0"/>
              <a:t>&gt;</a:t>
            </a:r>
          </a:p>
          <a:p>
            <a:r>
              <a:rPr lang="de-CH" dirty="0"/>
              <a:t>&lt;/</a:t>
            </a:r>
            <a:r>
              <a:rPr lang="de-CH" dirty="0" err="1"/>
              <a:t>Plugin</a:t>
            </a:r>
            <a:r>
              <a:rPr lang="de-CH" dirty="0"/>
              <a:t>&gt;</a:t>
            </a:r>
          </a:p>
          <a:p>
            <a:endParaRPr lang="de-CH" dirty="0"/>
          </a:p>
          <a:p>
            <a:r>
              <a:rPr lang="de-CH" dirty="0"/>
              <a:t># VM Extension</a:t>
            </a:r>
          </a:p>
          <a:p>
            <a:r>
              <a:rPr lang="de-CH" dirty="0" err="1"/>
              <a:t>sudo</a:t>
            </a:r>
            <a:r>
              <a:rPr lang="de-CH" dirty="0"/>
              <a:t> </a:t>
            </a:r>
            <a:r>
              <a:rPr lang="de-CH" dirty="0" err="1"/>
              <a:t>azure</a:t>
            </a:r>
            <a:r>
              <a:rPr lang="de-CH" dirty="0"/>
              <a:t> </a:t>
            </a:r>
            <a:r>
              <a:rPr lang="de-CH" dirty="0" err="1"/>
              <a:t>vm</a:t>
            </a:r>
            <a:r>
              <a:rPr lang="de-CH" dirty="0"/>
              <a:t> </a:t>
            </a:r>
            <a:r>
              <a:rPr lang="de-CH" dirty="0" err="1"/>
              <a:t>extension</a:t>
            </a:r>
            <a:r>
              <a:rPr lang="de-CH" dirty="0"/>
              <a:t>-image </a:t>
            </a:r>
            <a:r>
              <a:rPr lang="de-CH" dirty="0" err="1"/>
              <a:t>list</a:t>
            </a:r>
            <a:r>
              <a:rPr lang="de-CH" dirty="0"/>
              <a:t> </a:t>
            </a:r>
            <a:r>
              <a:rPr lang="de-CH" dirty="0" err="1"/>
              <a:t>westeurope</a:t>
            </a:r>
            <a:r>
              <a:rPr lang="de-CH" dirty="0"/>
              <a:t> </a:t>
            </a:r>
            <a:r>
              <a:rPr lang="de-CH" dirty="0" err="1"/>
              <a:t>Microsoft.EnterpriseCloud.Monitoring</a:t>
            </a:r>
            <a:r>
              <a:rPr lang="de-CH" dirty="0"/>
              <a:t> </a:t>
            </a:r>
            <a:r>
              <a:rPr lang="de-CH" dirty="0" err="1"/>
              <a:t>OmsAgentForLinux</a:t>
            </a:r>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20</a:t>
            </a:fld>
            <a:endParaRPr lang="en-US"/>
          </a:p>
        </p:txBody>
      </p:sp>
    </p:spTree>
    <p:extLst>
      <p:ext uri="{BB962C8B-B14F-4D97-AF65-F5344CB8AC3E}">
        <p14:creationId xmlns:p14="http://schemas.microsoft.com/office/powerpoint/2010/main" val="7522105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21</a:t>
            </a:fld>
            <a:endParaRPr lang="en-US"/>
          </a:p>
        </p:txBody>
      </p:sp>
    </p:spTree>
    <p:extLst>
      <p:ext uri="{BB962C8B-B14F-4D97-AF65-F5344CB8AC3E}">
        <p14:creationId xmlns:p14="http://schemas.microsoft.com/office/powerpoint/2010/main" val="29974911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22</a:t>
            </a:fld>
            <a:endParaRPr lang="en-US"/>
          </a:p>
        </p:txBody>
      </p:sp>
    </p:spTree>
    <p:extLst>
      <p:ext uri="{BB962C8B-B14F-4D97-AF65-F5344CB8AC3E}">
        <p14:creationId xmlns:p14="http://schemas.microsoft.com/office/powerpoint/2010/main" val="22929300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23</a:t>
            </a:fld>
            <a:endParaRPr lang="en-US"/>
          </a:p>
        </p:txBody>
      </p:sp>
    </p:spTree>
    <p:extLst>
      <p:ext uri="{BB962C8B-B14F-4D97-AF65-F5344CB8AC3E}">
        <p14:creationId xmlns:p14="http://schemas.microsoft.com/office/powerpoint/2010/main" val="30656080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76870B-36E6-45AA-AB02-E2A09D4A3228}" type="slidenum">
              <a:rPr lang="en-US" smtClean="0"/>
              <a:t>24</a:t>
            </a:fld>
            <a:endParaRPr lang="en-US"/>
          </a:p>
        </p:txBody>
      </p:sp>
    </p:spTree>
    <p:extLst>
      <p:ext uri="{BB962C8B-B14F-4D97-AF65-F5344CB8AC3E}">
        <p14:creationId xmlns:p14="http://schemas.microsoft.com/office/powerpoint/2010/main" val="13960465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10"/>
          </p:nvPr>
        </p:nvSpPr>
        <p:spPr/>
        <p:txBody>
          <a:bodyPr/>
          <a:lstStyle/>
          <a:p>
            <a:fld id="{F776870B-36E6-45AA-AB02-E2A09D4A3228}" type="slidenum">
              <a:rPr lang="en-US" smtClean="0"/>
              <a:t>25</a:t>
            </a:fld>
            <a:endParaRPr lang="en-US"/>
          </a:p>
        </p:txBody>
      </p:sp>
    </p:spTree>
    <p:extLst>
      <p:ext uri="{BB962C8B-B14F-4D97-AF65-F5344CB8AC3E}">
        <p14:creationId xmlns:p14="http://schemas.microsoft.com/office/powerpoint/2010/main" val="32550196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76870B-36E6-45AA-AB02-E2A09D4A3228}" type="slidenum">
              <a:rPr lang="en-US" smtClean="0"/>
              <a:t>26</a:t>
            </a:fld>
            <a:endParaRPr lang="en-US"/>
          </a:p>
        </p:txBody>
      </p:sp>
    </p:spTree>
    <p:extLst>
      <p:ext uri="{BB962C8B-B14F-4D97-AF65-F5344CB8AC3E}">
        <p14:creationId xmlns:p14="http://schemas.microsoft.com/office/powerpoint/2010/main" val="38758938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10" name="Rechteck 7"/>
          <p:cNvSpPr/>
          <p:nvPr userDrawn="1"/>
        </p:nvSpPr>
        <p:spPr>
          <a:xfrm>
            <a:off x="-76200" y="2664857"/>
            <a:ext cx="9296400" cy="1295400"/>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sz="1400"/>
          </a:p>
        </p:txBody>
      </p:sp>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20739" y="4500431"/>
            <a:ext cx="955965" cy="560284"/>
          </a:xfrm>
          <a:prstGeom prst="rect">
            <a:avLst/>
          </a:prstGeom>
        </p:spPr>
      </p:pic>
      <p:sp>
        <p:nvSpPr>
          <p:cNvPr id="7" name="Rechteck 7"/>
          <p:cNvSpPr/>
          <p:nvPr userDrawn="1"/>
        </p:nvSpPr>
        <p:spPr>
          <a:xfrm>
            <a:off x="-76200" y="1276350"/>
            <a:ext cx="9296400" cy="12954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Titelplatzhalter 1"/>
          <p:cNvSpPr>
            <a:spLocks noGrp="1"/>
          </p:cNvSpPr>
          <p:nvPr>
            <p:ph type="title" hasCustomPrompt="1"/>
          </p:nvPr>
        </p:nvSpPr>
        <p:spPr>
          <a:xfrm>
            <a:off x="533399" y="1365250"/>
            <a:ext cx="8077201" cy="1121025"/>
          </a:xfrm>
          <a:prstGeom prst="rect">
            <a:avLst/>
          </a:prstGeom>
        </p:spPr>
        <p:txBody>
          <a:bodyPr vert="horz" lIns="0" tIns="0" rIns="0" bIns="0" rtlCol="0" anchor="t" anchorCtr="0">
            <a:noAutofit/>
          </a:bodyPr>
          <a:lstStyle>
            <a:lvl1pPr>
              <a:defRPr/>
            </a:lvl1pPr>
          </a:lstStyle>
          <a:p>
            <a:r>
              <a:rPr lang="de-DE" dirty="0"/>
              <a:t>Title 1</a:t>
            </a:r>
            <a:br>
              <a:rPr lang="de-DE" dirty="0"/>
            </a:br>
            <a:r>
              <a:rPr lang="de-DE" dirty="0"/>
              <a:t>Title 2</a:t>
            </a:r>
            <a:endParaRPr lang="de-CH" dirty="0"/>
          </a:p>
        </p:txBody>
      </p:sp>
      <p:sp>
        <p:nvSpPr>
          <p:cNvPr id="17" name="Text Placeholder 16"/>
          <p:cNvSpPr>
            <a:spLocks noGrp="1"/>
          </p:cNvSpPr>
          <p:nvPr>
            <p:ph type="body" sz="quarter" idx="10" hasCustomPrompt="1"/>
          </p:nvPr>
        </p:nvSpPr>
        <p:spPr>
          <a:xfrm>
            <a:off x="533399" y="2743200"/>
            <a:ext cx="4343401" cy="1143000"/>
          </a:xfrm>
        </p:spPr>
        <p:txBody>
          <a:bodyPr/>
          <a:lstStyle>
            <a:lvl1pPr marL="0" indent="0">
              <a:buNone/>
              <a:defRPr sz="1600" baseline="0"/>
            </a:lvl1pPr>
          </a:lstStyle>
          <a:p>
            <a:pPr lvl="0"/>
            <a:r>
              <a:rPr lang="de-CH" dirty="0"/>
              <a:t>Speaker Details</a:t>
            </a:r>
          </a:p>
        </p:txBody>
      </p:sp>
    </p:spTree>
    <p:extLst>
      <p:ext uri="{BB962C8B-B14F-4D97-AF65-F5344CB8AC3E}">
        <p14:creationId xmlns:p14="http://schemas.microsoft.com/office/powerpoint/2010/main" val="2914257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250825" y="161442"/>
            <a:ext cx="8642350" cy="857250"/>
          </a:xfrm>
        </p:spPr>
        <p:txBody>
          <a:bodyPr/>
          <a:lstStyle>
            <a:lvl1pPr>
              <a:defRPr sz="3600"/>
            </a:lvl1pPr>
          </a:lstStyle>
          <a:p>
            <a:r>
              <a:rPr lang="en-US"/>
              <a:t>Click to edit Master title style</a:t>
            </a:r>
            <a:endParaRPr lang="de-CH" dirty="0"/>
          </a:p>
        </p:txBody>
      </p:sp>
      <p:sp>
        <p:nvSpPr>
          <p:cNvPr id="3" name="Inhaltsplatzhalter 2"/>
          <p:cNvSpPr>
            <a:spLocks noGrp="1"/>
          </p:cNvSpPr>
          <p:nvPr>
            <p:ph idx="1"/>
          </p:nvPr>
        </p:nvSpPr>
        <p:spPr>
          <a:xfrm>
            <a:off x="250825" y="1200150"/>
            <a:ext cx="8642350" cy="38198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de-CH" dirty="0"/>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20739" y="4500431"/>
            <a:ext cx="955965" cy="560284"/>
          </a:xfrm>
          <a:prstGeom prst="rect">
            <a:avLst/>
          </a:prstGeom>
        </p:spPr>
      </p:pic>
    </p:spTree>
    <p:extLst>
      <p:ext uri="{BB962C8B-B14F-4D97-AF65-F5344CB8AC3E}">
        <p14:creationId xmlns:p14="http://schemas.microsoft.com/office/powerpoint/2010/main" val="1866764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Zwischentitel">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120739" y="4500431"/>
            <a:ext cx="955965" cy="560284"/>
          </a:xfrm>
          <a:prstGeom prst="rect">
            <a:avLst/>
          </a:prstGeom>
        </p:spPr>
      </p:pic>
      <p:sp>
        <p:nvSpPr>
          <p:cNvPr id="8" name="Rechteck 7"/>
          <p:cNvSpPr/>
          <p:nvPr userDrawn="1"/>
        </p:nvSpPr>
        <p:spPr>
          <a:xfrm>
            <a:off x="-76200" y="1276350"/>
            <a:ext cx="9296400" cy="12954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1" name="Titelplatzhalter 1"/>
          <p:cNvSpPr>
            <a:spLocks noGrp="1"/>
          </p:cNvSpPr>
          <p:nvPr>
            <p:ph type="title" hasCustomPrompt="1"/>
          </p:nvPr>
        </p:nvSpPr>
        <p:spPr>
          <a:xfrm>
            <a:off x="533399" y="1365250"/>
            <a:ext cx="8077201" cy="1121025"/>
          </a:xfrm>
          <a:prstGeom prst="rect">
            <a:avLst/>
          </a:prstGeom>
        </p:spPr>
        <p:txBody>
          <a:bodyPr vert="horz" lIns="0" tIns="0" rIns="0" bIns="0" rtlCol="0" anchor="t" anchorCtr="0">
            <a:noAutofit/>
          </a:bodyPr>
          <a:lstStyle>
            <a:lvl1pPr>
              <a:defRPr/>
            </a:lvl1pPr>
          </a:lstStyle>
          <a:p>
            <a:r>
              <a:rPr lang="de-DE" dirty="0"/>
              <a:t>Title 1</a:t>
            </a:r>
            <a:br>
              <a:rPr lang="de-DE" dirty="0"/>
            </a:br>
            <a:r>
              <a:rPr lang="de-DE" dirty="0"/>
              <a:t>Title 2</a:t>
            </a:r>
            <a:endParaRPr lang="de-CH" dirty="0"/>
          </a:p>
        </p:txBody>
      </p:sp>
    </p:spTree>
    <p:extLst>
      <p:ext uri="{BB962C8B-B14F-4D97-AF65-F5344CB8AC3E}">
        <p14:creationId xmlns:p14="http://schemas.microsoft.com/office/powerpoint/2010/main" val="537666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193465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55615331"/>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Text Placeholder 5"/>
          <p:cNvSpPr>
            <a:spLocks noGrp="1"/>
          </p:cNvSpPr>
          <p:nvPr>
            <p:ph type="body" sz="quarter" idx="10"/>
          </p:nvPr>
        </p:nvSpPr>
        <p:spPr>
          <a:xfrm>
            <a:off x="381001" y="1058665"/>
            <a:ext cx="8382001" cy="1585578"/>
          </a:xfrm>
        </p:spPr>
        <p:txBody>
          <a:bodyPr/>
          <a:lstStyle>
            <a:lvl1pPr>
              <a:lnSpc>
                <a:spcPct val="90000"/>
              </a:lnSpc>
              <a:defRPr lang="en-US" sz="2400" kern="1200" dirty="0" smtClean="0">
                <a:solidFill>
                  <a:schemeClr val="tx1"/>
                </a:solidFill>
                <a:effectLst>
                  <a:outerShdw blurRad="50800" dist="38100" dir="2700000" algn="tl" rotWithShape="0">
                    <a:prstClr val="black">
                      <a:alpha val="19000"/>
                    </a:prstClr>
                  </a:outerShdw>
                </a:effectLst>
                <a:latin typeface="+mn-lt"/>
                <a:ea typeface="+mn-ea"/>
                <a:cs typeface="+mn-cs"/>
              </a:defRPr>
            </a:lvl1pPr>
            <a:lvl2pPr>
              <a:lnSpc>
                <a:spcPct val="90000"/>
              </a:lnSpc>
              <a:defRPr/>
            </a:lvl2pPr>
            <a:lvl3pPr>
              <a:lnSpc>
                <a:spcPct val="90000"/>
              </a:lnSpc>
              <a:defRPr/>
            </a:lvl3pPr>
            <a:lvl4pPr>
              <a:lnSpc>
                <a:spcPct val="90000"/>
              </a:lnSpc>
              <a:defRPr/>
            </a:lvl4pPr>
            <a:lvl5pPr>
              <a:lnSpc>
                <a:spcPct val="90000"/>
              </a:lnSpc>
              <a:defRPr/>
            </a:lvl5pPr>
          </a:lstStyle>
          <a:p>
            <a:pPr marL="335726" lvl="0" indent="-335726" algn="l" defTabSz="685711" rtl="0" eaLnBrk="0" fontAlgn="base" latinLnBrk="0" hangingPunct="0">
              <a:lnSpc>
                <a:spcPct val="90000"/>
              </a:lnSpc>
              <a:spcBef>
                <a:spcPct val="30000"/>
              </a:spcBef>
              <a:spcAft>
                <a:spcPct val="0"/>
              </a:spcAft>
              <a:buClr>
                <a:schemeClr val="tx2"/>
              </a:buClr>
              <a:buFont typeface="Wingdings 2" pitchFamily="18" charset="2"/>
              <a:buBlip>
                <a:blip r:embed="rId2"/>
              </a:buBlip>
            </a:pPr>
            <a:r>
              <a:rPr lang="en-US"/>
              <a:t>Click to edit Master text styles</a:t>
            </a:r>
          </a:p>
          <a:p>
            <a:pPr marL="335726" lvl="1" indent="-335726" algn="l" defTabSz="685711" rtl="0" eaLnBrk="0" fontAlgn="base" latinLnBrk="0" hangingPunct="0">
              <a:lnSpc>
                <a:spcPct val="90000"/>
              </a:lnSpc>
              <a:spcBef>
                <a:spcPct val="30000"/>
              </a:spcBef>
              <a:spcAft>
                <a:spcPct val="0"/>
              </a:spcAft>
              <a:buClr>
                <a:schemeClr val="tx2"/>
              </a:buClr>
              <a:buFont typeface="Wingdings 2" pitchFamily="18" charset="2"/>
              <a:buBlip>
                <a:blip r:embed="rId2"/>
              </a:buBlip>
            </a:pPr>
            <a:r>
              <a:rPr lang="en-US"/>
              <a:t>Second level</a:t>
            </a:r>
          </a:p>
          <a:p>
            <a:pPr marL="335726" lvl="2" indent="-335726" algn="l" defTabSz="685711" rtl="0" eaLnBrk="0" fontAlgn="base" latinLnBrk="0" hangingPunct="0">
              <a:lnSpc>
                <a:spcPct val="90000"/>
              </a:lnSpc>
              <a:spcBef>
                <a:spcPct val="30000"/>
              </a:spcBef>
              <a:spcAft>
                <a:spcPct val="0"/>
              </a:spcAft>
              <a:buClr>
                <a:schemeClr val="tx2"/>
              </a:buClr>
              <a:buFont typeface="Wingdings 2" pitchFamily="18" charset="2"/>
              <a:buBlip>
                <a:blip r:embed="rId2"/>
              </a:buBlip>
            </a:pPr>
            <a:r>
              <a:rPr lang="en-US"/>
              <a:t>Third level</a:t>
            </a:r>
          </a:p>
          <a:p>
            <a:pPr marL="335726" lvl="3" indent="-335726" algn="l" defTabSz="685711" rtl="0" eaLnBrk="0" fontAlgn="base" latinLnBrk="0" hangingPunct="0">
              <a:lnSpc>
                <a:spcPct val="90000"/>
              </a:lnSpc>
              <a:spcBef>
                <a:spcPct val="30000"/>
              </a:spcBef>
              <a:spcAft>
                <a:spcPct val="0"/>
              </a:spcAft>
              <a:buClr>
                <a:schemeClr val="tx2"/>
              </a:buClr>
              <a:buFont typeface="Wingdings 2" pitchFamily="18" charset="2"/>
              <a:buBlip>
                <a:blip r:embed="rId2"/>
              </a:buBlip>
            </a:pPr>
            <a:r>
              <a:rPr lang="en-US"/>
              <a:t>Fourth level</a:t>
            </a:r>
          </a:p>
          <a:p>
            <a:pPr marL="335726" lvl="4" indent="-335726" algn="l" defTabSz="685711" rtl="0" eaLnBrk="0" fontAlgn="base" latinLnBrk="0" hangingPunct="0">
              <a:lnSpc>
                <a:spcPct val="90000"/>
              </a:lnSpc>
              <a:spcBef>
                <a:spcPct val="30000"/>
              </a:spcBef>
              <a:spcAft>
                <a:spcPct val="0"/>
              </a:spcAft>
              <a:buClr>
                <a:schemeClr val="tx2"/>
              </a:buClr>
              <a:buFont typeface="Wingdings 2" pitchFamily="18" charset="2"/>
              <a:buBlip>
                <a:blip r:embed="rId2"/>
              </a:buBlip>
            </a:pPr>
            <a:r>
              <a:rPr lang="en-US"/>
              <a:t>Fifth level</a:t>
            </a:r>
            <a:endParaRPr lang="en-US" dirty="0"/>
          </a:p>
        </p:txBody>
      </p:sp>
      <p:sp>
        <p:nvSpPr>
          <p:cNvPr id="4" name="Footer Placeholder 4"/>
          <p:cNvSpPr>
            <a:spLocks noGrp="1"/>
          </p:cNvSpPr>
          <p:nvPr>
            <p:ph type="ftr" sz="quarter" idx="11"/>
          </p:nvPr>
        </p:nvSpPr>
        <p:spPr>
          <a:xfrm>
            <a:off x="3224100" y="4869180"/>
            <a:ext cx="2895164" cy="273844"/>
          </a:xfrm>
          <a:prstGeom prst="rect">
            <a:avLst/>
          </a:prstGeom>
        </p:spPr>
        <p:txBody>
          <a:bodyPr/>
          <a:lstStyle>
            <a:lvl1pPr defTabSz="685653" fontAlgn="auto">
              <a:spcBef>
                <a:spcPts val="0"/>
              </a:spcBef>
              <a:spcAft>
                <a:spcPts val="0"/>
              </a:spcAft>
              <a:defRPr dirty="0">
                <a:latin typeface="+mn-lt"/>
              </a:defRPr>
            </a:lvl1pPr>
          </a:lstStyle>
          <a:p>
            <a:pPr>
              <a:defRPr/>
            </a:pPr>
            <a:r>
              <a:rPr lang="en-US">
                <a:solidFill>
                  <a:srgbClr val="FFFFFF"/>
                </a:solidFill>
              </a:rPr>
              <a:t>Microsoft Confidential</a:t>
            </a:r>
          </a:p>
        </p:txBody>
      </p:sp>
    </p:spTree>
    <p:extLst>
      <p:ext uri="{BB962C8B-B14F-4D97-AF65-F5344CB8AC3E}">
        <p14:creationId xmlns:p14="http://schemas.microsoft.com/office/powerpoint/2010/main" val="1988856609"/>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01929" y="891882"/>
            <a:ext cx="8740142" cy="1712456"/>
          </a:xfrm>
        </p:spPr>
        <p:txBody>
          <a:bodyPr>
            <a:spAutoFit/>
          </a:bodyPr>
          <a:lstStyle>
            <a:lvl3pPr>
              <a:defRPr sz="1765"/>
            </a:lvl3pPr>
            <a:lvl4pPr>
              <a:defRPr sz="1471"/>
            </a:lvl4pPr>
            <a:lvl5pPr>
              <a:defRPr sz="147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284846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microsoft.com/office/2007/relationships/hdphoto" Target="../media/hdphoto1.wdp"/><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8" descr="SCCM image grnd.psd"/>
          <p:cNvPicPr>
            <a:picLocks noChangeAspect="1"/>
          </p:cNvPicPr>
          <p:nvPr userDrawn="1"/>
        </p:nvPicPr>
        <p:blipFill>
          <a:blip r:embed="rId9">
            <a:extLst>
              <a:ext uri="{BEBA8EAE-BF5A-486C-A8C5-ECC9F3942E4B}">
                <a14:imgProps xmlns:a14="http://schemas.microsoft.com/office/drawing/2010/main">
                  <a14:imgLayer r:embed="rId10">
                    <a14:imgEffect>
                      <a14:colorTemperature colorTemp="11200"/>
                    </a14:imgEffect>
                    <a14:imgEffect>
                      <a14:saturation sat="0"/>
                    </a14:imgEffect>
                  </a14:imgLayer>
                </a14:imgProps>
              </a:ext>
            </a:extLst>
          </a:blip>
          <a:stretch>
            <a:fillRect/>
          </a:stretch>
        </p:blipFill>
        <p:spPr>
          <a:xfrm flipH="1">
            <a:off x="0" y="0"/>
            <a:ext cx="9143998" cy="5143498"/>
          </a:xfrm>
          <a:prstGeom prst="rect">
            <a:avLst/>
          </a:prstGeom>
        </p:spPr>
      </p:pic>
      <p:sp>
        <p:nvSpPr>
          <p:cNvPr id="2" name="Titelplatzhalter 1"/>
          <p:cNvSpPr>
            <a:spLocks noGrp="1"/>
          </p:cNvSpPr>
          <p:nvPr>
            <p:ph type="title"/>
          </p:nvPr>
        </p:nvSpPr>
        <p:spPr>
          <a:xfrm>
            <a:off x="250825" y="161442"/>
            <a:ext cx="8642350" cy="857250"/>
          </a:xfrm>
          <a:prstGeom prst="rect">
            <a:avLst/>
          </a:prstGeom>
        </p:spPr>
        <p:txBody>
          <a:bodyPr vert="horz" lIns="0" tIns="0" rIns="0" bIns="0" rtlCol="0" anchor="t" anchorCtr="0">
            <a:noAutofit/>
          </a:bodyPr>
          <a:lstStyle/>
          <a:p>
            <a:r>
              <a:rPr lang="de-DE" dirty="0"/>
              <a:t>Titelmasterformat durch Klicken bearbeiten</a:t>
            </a:r>
            <a:endParaRPr lang="de-CH" dirty="0"/>
          </a:p>
        </p:txBody>
      </p:sp>
      <p:sp>
        <p:nvSpPr>
          <p:cNvPr id="3" name="Textplatzhalter 2"/>
          <p:cNvSpPr>
            <a:spLocks noGrp="1"/>
          </p:cNvSpPr>
          <p:nvPr>
            <p:ph type="body" idx="1"/>
          </p:nvPr>
        </p:nvSpPr>
        <p:spPr>
          <a:xfrm>
            <a:off x="250825" y="1200150"/>
            <a:ext cx="8642350" cy="3819872"/>
          </a:xfrm>
          <a:prstGeom prst="rect">
            <a:avLst/>
          </a:prstGeom>
        </p:spPr>
        <p:txBody>
          <a:bodyPr vert="horz" lIns="0" tIns="0" rIns="0" bIns="0"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Tree>
    <p:extLst>
      <p:ext uri="{BB962C8B-B14F-4D97-AF65-F5344CB8AC3E}">
        <p14:creationId xmlns:p14="http://schemas.microsoft.com/office/powerpoint/2010/main" val="12611139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 id="2147483656"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spcBef>
          <a:spcPct val="0"/>
        </a:spcBef>
        <a:buNone/>
        <a:defRPr sz="3600" kern="1200">
          <a:solidFill>
            <a:schemeClr val="bg1">
              <a:lumMod val="85000"/>
            </a:schemeClr>
          </a:solidFill>
          <a:latin typeface="Segoe UI Light" pitchFamily="34" charset="0"/>
          <a:ea typeface="Segoe UI" pitchFamily="34" charset="0"/>
          <a:cs typeface="Segoe UI" pitchFamily="34" charset="0"/>
        </a:defRPr>
      </a:lvl1pPr>
    </p:titleStyle>
    <p:bodyStyle>
      <a:lvl1pPr marL="355600" indent="-355600" algn="l" defTabSz="914400" rtl="0" eaLnBrk="1" latinLnBrk="0" hangingPunct="1">
        <a:spcBef>
          <a:spcPct val="20000"/>
        </a:spcBef>
        <a:buFont typeface="Symbol" pitchFamily="18" charset="2"/>
        <a:buChar char="-"/>
        <a:defRPr sz="2600" kern="1200">
          <a:solidFill>
            <a:schemeClr val="bg1">
              <a:lumMod val="85000"/>
            </a:schemeClr>
          </a:solidFill>
          <a:latin typeface="Segoe UI Light" pitchFamily="34" charset="0"/>
          <a:ea typeface="Segoe UI" pitchFamily="34" charset="0"/>
          <a:cs typeface="Segoe UI" pitchFamily="34" charset="0"/>
        </a:defRPr>
      </a:lvl1pPr>
      <a:lvl2pPr marL="719138" indent="-363538" algn="l" defTabSz="914400" rtl="0" eaLnBrk="1" latinLnBrk="0" hangingPunct="1">
        <a:spcBef>
          <a:spcPct val="20000"/>
        </a:spcBef>
        <a:buFont typeface="Symbol" pitchFamily="18" charset="2"/>
        <a:buChar char="-"/>
        <a:defRPr sz="2400" kern="1200">
          <a:solidFill>
            <a:schemeClr val="bg1">
              <a:lumMod val="85000"/>
            </a:schemeClr>
          </a:solidFill>
          <a:latin typeface="Segoe UI Light" pitchFamily="34" charset="0"/>
          <a:ea typeface="Segoe UI" pitchFamily="34" charset="0"/>
          <a:cs typeface="Segoe UI" pitchFamily="34" charset="0"/>
        </a:defRPr>
      </a:lvl2pPr>
      <a:lvl3pPr marL="1074738" indent="-355600" algn="l" defTabSz="914400" rtl="0" eaLnBrk="1" latinLnBrk="0" hangingPunct="1">
        <a:spcBef>
          <a:spcPct val="20000"/>
        </a:spcBef>
        <a:buFont typeface="Symbol" pitchFamily="18" charset="2"/>
        <a:buChar char="-"/>
        <a:defRPr sz="2200" kern="1200">
          <a:solidFill>
            <a:schemeClr val="bg1">
              <a:lumMod val="85000"/>
            </a:schemeClr>
          </a:solidFill>
          <a:latin typeface="Segoe UI Light" pitchFamily="34" charset="0"/>
          <a:ea typeface="Segoe UI" pitchFamily="34" charset="0"/>
          <a:cs typeface="Segoe UI" pitchFamily="34" charset="0"/>
        </a:defRPr>
      </a:lvl3pPr>
      <a:lvl4pPr marL="1436688" indent="-361950" algn="l" defTabSz="914400" rtl="0" eaLnBrk="1" latinLnBrk="0" hangingPunct="1">
        <a:spcBef>
          <a:spcPct val="20000"/>
        </a:spcBef>
        <a:buFont typeface="Symbol" pitchFamily="18" charset="2"/>
        <a:buChar char="-"/>
        <a:defRPr sz="2000" kern="1200">
          <a:solidFill>
            <a:schemeClr val="bg1">
              <a:lumMod val="85000"/>
            </a:schemeClr>
          </a:solidFill>
          <a:latin typeface="Segoe UI Light" pitchFamily="34" charset="0"/>
          <a:ea typeface="Segoe UI" pitchFamily="34" charset="0"/>
          <a:cs typeface="Segoe UI" pitchFamily="34" charset="0"/>
        </a:defRPr>
      </a:lvl4pPr>
      <a:lvl5pPr marL="1793875" indent="-357188" algn="l" defTabSz="914400" rtl="0" eaLnBrk="1" latinLnBrk="0" hangingPunct="1">
        <a:spcBef>
          <a:spcPct val="20000"/>
        </a:spcBef>
        <a:buFont typeface="Symbol" pitchFamily="18" charset="2"/>
        <a:buChar char="-"/>
        <a:defRPr sz="2000" kern="1200">
          <a:solidFill>
            <a:schemeClr val="bg1">
              <a:lumMod val="85000"/>
            </a:schemeClr>
          </a:solidFill>
          <a:latin typeface="Segoe UI Light"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efanroth.net/" TargetMode="External"/><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hellshell.com/"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blog.jhnr.ch/"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8.jpe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p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jpg"/><Relationship Id="rId4" Type="http://schemas.openxmlformats.org/officeDocument/2006/relationships/image" Target="../media/image11.png"/><Relationship Id="rId9"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diagramData" Target="../diagrams/data1.xml"/><Relationship Id="rId21" Type="http://schemas.openxmlformats.org/officeDocument/2006/relationships/image" Target="../media/image27.png"/><Relationship Id="rId7" Type="http://schemas.microsoft.com/office/2007/relationships/diagramDrawing" Target="../diagrams/drawing1.xml"/><Relationship Id="rId12" Type="http://schemas.microsoft.com/office/2007/relationships/diagramDrawing" Target="../diagrams/drawing2.xml"/><Relationship Id="rId17" Type="http://schemas.openxmlformats.org/officeDocument/2006/relationships/image" Target="../media/image23.png"/><Relationship Id="rId25" Type="http://schemas.openxmlformats.org/officeDocument/2006/relationships/image" Target="../media/image31.jpeg"/><Relationship Id="rId2" Type="http://schemas.openxmlformats.org/officeDocument/2006/relationships/notesSlide" Target="../notesSlides/notesSlide10.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diagramColors" Target="../diagrams/colors1.xml"/><Relationship Id="rId11" Type="http://schemas.openxmlformats.org/officeDocument/2006/relationships/diagramColors" Target="../diagrams/colors2.xml"/><Relationship Id="rId24" Type="http://schemas.openxmlformats.org/officeDocument/2006/relationships/image" Target="../media/image30.jpeg"/><Relationship Id="rId5" Type="http://schemas.openxmlformats.org/officeDocument/2006/relationships/diagramQuickStyle" Target="../diagrams/quickStyle1.xml"/><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diagramQuickStyle" Target="../diagrams/quickStyle2.xml"/><Relationship Id="rId19" Type="http://schemas.openxmlformats.org/officeDocument/2006/relationships/image" Target="../media/image25.png"/><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image" Target="../media/image20.png"/><Relationship Id="rId22" Type="http://schemas.openxmlformats.org/officeDocument/2006/relationships/image" Target="../media/image2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4.emf"/><Relationship Id="rId4" Type="http://schemas.openxmlformats.org/officeDocument/2006/relationships/image" Target="../media/image33.emf"/></Relationships>
</file>

<file path=ppt/slides/_rels/slide1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1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5.png"/><Relationship Id="rId7" Type="http://schemas.openxmlformats.org/officeDocument/2006/relationships/image" Target="../media/image46.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4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8" Type="http://schemas.openxmlformats.org/officeDocument/2006/relationships/hyperlink" Target="https://blogs.technet.microsoft.com/msoms/2016/07/21/bring-your-custom-json-data-to-log-analytics-oms-with-twitter-data-example/" TargetMode="External"/><Relationship Id="rId3" Type="http://schemas.openxmlformats.org/officeDocument/2006/relationships/hyperlink" Target="https://github.com/Microsoft/OMS-Agent-for-Linux/blob/master/docs/OMS-Agent-for-Linux.md#install-the-oms-agent-for-linux" TargetMode="External"/><Relationship Id="rId7" Type="http://schemas.openxmlformats.org/officeDocument/2006/relationships/hyperlink" Target="https://blogs.technet.microsoft.com/msoms/2016/02/09/1474/"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blogs.technet.microsoft.com/msoms/2016/05/12/syslog-collection-in-operations-management-suite/" TargetMode="External"/><Relationship Id="rId5" Type="http://schemas.openxmlformats.org/officeDocument/2006/relationships/hyperlink" Target="https://blogs.technet.microsoft.com/msoms/2016/07/14/bring-your-custom-collectd-metrics-into-the-oms-log-analytics-platform/" TargetMode="External"/><Relationship Id="rId4" Type="http://schemas.openxmlformats.org/officeDocument/2006/relationships/hyperlink" Target="https://github.com/Microsoft/OMS-Agent-for-Linux/blob/master/docs/Troubleshooting.md" TargetMode="External"/><Relationship Id="rId9" Type="http://schemas.openxmlformats.org/officeDocument/2006/relationships/hyperlink" Target="https://gallery.technet.microsoft.com/Inside-the-Operations-2928e34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jpeg"/><Relationship Id="rId18" Type="http://schemas.openxmlformats.org/officeDocument/2006/relationships/image" Target="../media/image66.jpg"/><Relationship Id="rId3" Type="http://schemas.openxmlformats.org/officeDocument/2006/relationships/image" Target="../media/image51.png"/><Relationship Id="rId7" Type="http://schemas.openxmlformats.org/officeDocument/2006/relationships/image" Target="../media/image55.jpg"/><Relationship Id="rId12" Type="http://schemas.openxmlformats.org/officeDocument/2006/relationships/image" Target="../media/image60.jpeg"/><Relationship Id="rId17" Type="http://schemas.openxmlformats.org/officeDocument/2006/relationships/image" Target="../media/image65.png"/><Relationship Id="rId2" Type="http://schemas.openxmlformats.org/officeDocument/2006/relationships/notesSlide" Target="../notesSlides/notesSlide26.xml"/><Relationship Id="rId16"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54.jpeg"/><Relationship Id="rId11" Type="http://schemas.openxmlformats.org/officeDocument/2006/relationships/image" Target="../media/image59.jpeg"/><Relationship Id="rId5" Type="http://schemas.openxmlformats.org/officeDocument/2006/relationships/image" Target="../media/image53.png"/><Relationship Id="rId15" Type="http://schemas.openxmlformats.org/officeDocument/2006/relationships/image" Target="../media/image63.png"/><Relationship Id="rId10" Type="http://schemas.openxmlformats.org/officeDocument/2006/relationships/image" Target="../media/image58.jpg"/><Relationship Id="rId19" Type="http://schemas.openxmlformats.org/officeDocument/2006/relationships/image" Target="../media/image67.png"/><Relationship Id="rId4" Type="http://schemas.openxmlformats.org/officeDocument/2006/relationships/image" Target="../media/image52.jpg"/><Relationship Id="rId9" Type="http://schemas.openxmlformats.org/officeDocument/2006/relationships/image" Target="../media/image57.png"/><Relationship Id="rId14" Type="http://schemas.openxmlformats.org/officeDocument/2006/relationships/image" Target="../media/image6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chor="ctr"/>
          <a:lstStyle/>
          <a:p>
            <a:r>
              <a:rPr lang="en-US" dirty="0"/>
              <a:t>Linux + SCOM + OMS = </a:t>
            </a:r>
            <a:endParaRPr lang="de-DE" dirty="0"/>
          </a:p>
        </p:txBody>
      </p:sp>
      <p:sp>
        <p:nvSpPr>
          <p:cNvPr id="3" name="Textplatzhalter 2"/>
          <p:cNvSpPr>
            <a:spLocks noGrp="1"/>
          </p:cNvSpPr>
          <p:nvPr>
            <p:ph type="body" sz="quarter" idx="10"/>
          </p:nvPr>
        </p:nvSpPr>
        <p:spPr>
          <a:xfrm>
            <a:off x="533399" y="2743200"/>
            <a:ext cx="3822577" cy="1143000"/>
          </a:xfrm>
        </p:spPr>
        <p:txBody>
          <a:bodyPr/>
          <a:lstStyle/>
          <a:p>
            <a:r>
              <a:rPr lang="en-US" dirty="0"/>
              <a:t>Stefan Roth | itnetX</a:t>
            </a:r>
          </a:p>
          <a:p>
            <a:r>
              <a:rPr lang="en-US" dirty="0"/>
              <a:t>Cloud Architect</a:t>
            </a:r>
          </a:p>
          <a:p>
            <a:r>
              <a:rPr lang="en-US" dirty="0"/>
              <a:t>Microsoft Most Valuable Professional (MVP)</a:t>
            </a:r>
          </a:p>
          <a:p>
            <a:endParaRPr lang="en-US" dirty="0"/>
          </a:p>
          <a:p>
            <a:endParaRPr lang="en-US" dirty="0"/>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436096" y="1491630"/>
            <a:ext cx="813990" cy="737678"/>
          </a:xfrm>
          <a:prstGeom prst="rect">
            <a:avLst/>
          </a:prstGeom>
        </p:spPr>
      </p:pic>
      <p:sp>
        <p:nvSpPr>
          <p:cNvPr id="5" name="Textplatzhalter 2"/>
          <p:cNvSpPr txBox="1">
            <a:spLocks/>
          </p:cNvSpPr>
          <p:nvPr/>
        </p:nvSpPr>
        <p:spPr>
          <a:xfrm>
            <a:off x="4644008" y="2743200"/>
            <a:ext cx="3822577" cy="1143000"/>
          </a:xfrm>
          <a:prstGeom prst="rect">
            <a:avLst/>
          </a:prstGeom>
        </p:spPr>
        <p:txBody>
          <a:bodyPr vert="horz" lIns="0" tIns="0" rIns="0" bIns="0" rtlCol="0">
            <a:noAutofit/>
          </a:bodyPr>
          <a:lstStyle>
            <a:lvl1pPr marL="0" indent="0" algn="l" defTabSz="914400" rtl="0" eaLnBrk="1" latinLnBrk="0" hangingPunct="1">
              <a:spcBef>
                <a:spcPct val="20000"/>
              </a:spcBef>
              <a:buFont typeface="Symbol" pitchFamily="18" charset="2"/>
              <a:buNone/>
              <a:defRPr sz="1600" kern="1200" baseline="0">
                <a:solidFill>
                  <a:schemeClr val="bg1">
                    <a:lumMod val="85000"/>
                  </a:schemeClr>
                </a:solidFill>
                <a:latin typeface="Segoe UI Light" pitchFamily="34" charset="0"/>
                <a:ea typeface="Segoe UI" pitchFamily="34" charset="0"/>
                <a:cs typeface="Segoe UI" pitchFamily="34" charset="0"/>
              </a:defRPr>
            </a:lvl1pPr>
            <a:lvl2pPr marL="719138" indent="-363538" algn="l" defTabSz="914400" rtl="0" eaLnBrk="1" latinLnBrk="0" hangingPunct="1">
              <a:spcBef>
                <a:spcPct val="20000"/>
              </a:spcBef>
              <a:buFont typeface="Symbol" pitchFamily="18" charset="2"/>
              <a:buChar char="-"/>
              <a:defRPr sz="2400" kern="1200">
                <a:solidFill>
                  <a:schemeClr val="bg1">
                    <a:lumMod val="85000"/>
                  </a:schemeClr>
                </a:solidFill>
                <a:latin typeface="Segoe UI Light" pitchFamily="34" charset="0"/>
                <a:ea typeface="Segoe UI" pitchFamily="34" charset="0"/>
                <a:cs typeface="Segoe UI" pitchFamily="34" charset="0"/>
              </a:defRPr>
            </a:lvl2pPr>
            <a:lvl3pPr marL="1074738" indent="-355600" algn="l" defTabSz="914400" rtl="0" eaLnBrk="1" latinLnBrk="0" hangingPunct="1">
              <a:spcBef>
                <a:spcPct val="20000"/>
              </a:spcBef>
              <a:buFont typeface="Symbol" pitchFamily="18" charset="2"/>
              <a:buChar char="-"/>
              <a:defRPr sz="2200" kern="1200">
                <a:solidFill>
                  <a:schemeClr val="bg1">
                    <a:lumMod val="85000"/>
                  </a:schemeClr>
                </a:solidFill>
                <a:latin typeface="Segoe UI Light" pitchFamily="34" charset="0"/>
                <a:ea typeface="Segoe UI" pitchFamily="34" charset="0"/>
                <a:cs typeface="Segoe UI" pitchFamily="34" charset="0"/>
              </a:defRPr>
            </a:lvl3pPr>
            <a:lvl4pPr marL="1436688" indent="-361950" algn="l" defTabSz="914400" rtl="0" eaLnBrk="1" latinLnBrk="0" hangingPunct="1">
              <a:spcBef>
                <a:spcPct val="20000"/>
              </a:spcBef>
              <a:buFont typeface="Symbol" pitchFamily="18" charset="2"/>
              <a:buChar char="-"/>
              <a:defRPr sz="2000" kern="1200">
                <a:solidFill>
                  <a:schemeClr val="bg1">
                    <a:lumMod val="85000"/>
                  </a:schemeClr>
                </a:solidFill>
                <a:latin typeface="Segoe UI Light" pitchFamily="34" charset="0"/>
                <a:ea typeface="Segoe UI" pitchFamily="34" charset="0"/>
                <a:cs typeface="Segoe UI" pitchFamily="34" charset="0"/>
              </a:defRPr>
            </a:lvl4pPr>
            <a:lvl5pPr marL="1793875" indent="-357188" algn="l" defTabSz="914400" rtl="0" eaLnBrk="1" latinLnBrk="0" hangingPunct="1">
              <a:spcBef>
                <a:spcPct val="20000"/>
              </a:spcBef>
              <a:buFont typeface="Symbol" pitchFamily="18" charset="2"/>
              <a:buChar char="-"/>
              <a:defRPr sz="2000" kern="1200">
                <a:solidFill>
                  <a:schemeClr val="bg1">
                    <a:lumMod val="85000"/>
                  </a:schemeClr>
                </a:solidFill>
                <a:latin typeface="Segoe UI Light" pitchFamily="34" charset="0"/>
                <a:ea typeface="Segoe UI" pitchFamily="34" charset="0"/>
                <a:cs typeface="Segoe UI"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Stefan Johner | itnetX</a:t>
            </a:r>
          </a:p>
          <a:p>
            <a:r>
              <a:rPr lang="en-US" dirty="0"/>
              <a:t>Cloud Architect</a:t>
            </a:r>
          </a:p>
          <a:p>
            <a:endParaRPr lang="en-US" dirty="0"/>
          </a:p>
        </p:txBody>
      </p:sp>
    </p:spTree>
    <p:extLst>
      <p:ext uri="{BB962C8B-B14F-4D97-AF65-F5344CB8AC3E}">
        <p14:creationId xmlns:p14="http://schemas.microsoft.com/office/powerpoint/2010/main" val="530775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200" dirty="0"/>
              <a:t>30 SAC (30 Seconds Audience Check)</a:t>
            </a:r>
          </a:p>
        </p:txBody>
      </p:sp>
      <p:sp>
        <p:nvSpPr>
          <p:cNvPr id="3" name="Content Placeholder 2"/>
          <p:cNvSpPr>
            <a:spLocks noGrp="1"/>
          </p:cNvSpPr>
          <p:nvPr>
            <p:ph idx="1"/>
          </p:nvPr>
        </p:nvSpPr>
        <p:spPr>
          <a:xfrm>
            <a:off x="222915" y="915566"/>
            <a:ext cx="8642350" cy="3964162"/>
          </a:xfrm>
        </p:spPr>
        <p:txBody>
          <a:bodyPr vert="horz" lIns="0" tIns="0" rIns="0" bIns="0" rtlCol="0">
            <a:spAutoFit/>
          </a:bodyPr>
          <a:lstStyle/>
          <a:p>
            <a:pPr>
              <a:buFont typeface="Wingdings" panose="05000000000000000000" pitchFamily="2" charset="2"/>
              <a:buChar char="§"/>
            </a:pPr>
            <a:r>
              <a:rPr lang="en-US" sz="3200" dirty="0"/>
              <a:t>Who is using SCOM &amp; Unix/Linux monitoring?</a:t>
            </a:r>
          </a:p>
          <a:p>
            <a:pPr>
              <a:buFont typeface="Wingdings" panose="05000000000000000000" pitchFamily="2" charset="2"/>
              <a:buChar char="§"/>
            </a:pPr>
            <a:r>
              <a:rPr lang="en-US" sz="3200" dirty="0"/>
              <a:t>Who is using OMS &amp; Unix/Linux agent?</a:t>
            </a:r>
          </a:p>
          <a:p>
            <a:pPr>
              <a:buFont typeface="Wingdings" panose="05000000000000000000" pitchFamily="2" charset="2"/>
              <a:buChar char="§"/>
            </a:pPr>
            <a:r>
              <a:rPr lang="en-US" sz="3200" dirty="0"/>
              <a:t>Who is using OMS in production?</a:t>
            </a:r>
          </a:p>
          <a:p>
            <a:pPr>
              <a:buFont typeface="Wingdings" panose="05000000000000000000" pitchFamily="2" charset="2"/>
              <a:buChar char="§"/>
            </a:pPr>
            <a:r>
              <a:rPr lang="en-US" sz="3200" dirty="0"/>
              <a:t>Who does not know either SCOM or OMS?</a:t>
            </a:r>
          </a:p>
          <a:p>
            <a:pPr lvl="1">
              <a:buFont typeface="Wingdings" panose="05000000000000000000" pitchFamily="2" charset="2"/>
              <a:buChar char="§"/>
            </a:pPr>
            <a:r>
              <a:rPr lang="en-US" sz="3000" dirty="0"/>
              <a:t>This is a level 300 session</a:t>
            </a:r>
          </a:p>
          <a:p>
            <a:pPr lvl="1">
              <a:buFont typeface="Wingdings" panose="05000000000000000000" pitchFamily="2" charset="2"/>
              <a:buChar char="§"/>
            </a:pPr>
            <a:r>
              <a:rPr lang="en-US" sz="3000" dirty="0"/>
              <a:t>Slide / Demo ratio </a:t>
            </a:r>
            <a:r>
              <a:rPr lang="en-US" sz="3000" b="1" dirty="0"/>
              <a:t>2.83 : 1</a:t>
            </a:r>
          </a:p>
          <a:p>
            <a:pPr>
              <a:buFont typeface="Wingdings" panose="05000000000000000000" pitchFamily="2" charset="2"/>
              <a:buChar char="§"/>
            </a:pPr>
            <a:r>
              <a:rPr lang="en-US" sz="3200" dirty="0"/>
              <a:t>Who is already bored </a:t>
            </a:r>
            <a:r>
              <a:rPr lang="en-US" sz="3200" dirty="0">
                <a:sym typeface="Wingdings" panose="05000000000000000000" pitchFamily="2" charset="2"/>
              </a:rPr>
              <a:t>?</a:t>
            </a:r>
            <a:endParaRPr lang="en-US" sz="3200" dirty="0"/>
          </a:p>
        </p:txBody>
      </p:sp>
    </p:spTree>
    <p:extLst>
      <p:ext uri="{BB962C8B-B14F-4D97-AF65-F5344CB8AC3E}">
        <p14:creationId xmlns:p14="http://schemas.microsoft.com/office/powerpoint/2010/main" val="101404322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6" end="6"/>
                                            </p:txEl>
                                          </p:spTgt>
                                        </p:tgtEl>
                                        <p:attrNameLst>
                                          <p:attrName>style.visibility</p:attrName>
                                        </p:attrNameLst>
                                      </p:cBhvr>
                                      <p:to>
                                        <p:strVal val="visible"/>
                                      </p:to>
                                    </p:set>
                                    <p:animEffect transition="in" filter="fade">
                                      <p:cBhvr>
                                        <p:cTn id="49" dur="1000"/>
                                        <p:tgtEl>
                                          <p:spTgt spid="3">
                                            <p:txEl>
                                              <p:pRg st="6" end="6"/>
                                            </p:txEl>
                                          </p:spTgt>
                                        </p:tgtEl>
                                      </p:cBhvr>
                                    </p:animEffect>
                                    <p:anim calcmode="lin" valueType="num">
                                      <p:cBhvr>
                                        <p:cTn id="5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bwMode="auto">
          <a:xfrm>
            <a:off x="4283968" y="915566"/>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dirty="0">
                <a:gradFill>
                  <a:gsLst>
                    <a:gs pos="0">
                      <a:srgbClr val="FFFFFF"/>
                    </a:gs>
                    <a:gs pos="100000">
                      <a:srgbClr val="FFFFFF"/>
                    </a:gs>
                  </a:gsLst>
                  <a:lin ang="5400000" scaled="0"/>
                </a:gradFill>
                <a:latin typeface="+mj-lt"/>
              </a:rPr>
              <a:t>Blogger</a:t>
            </a:r>
          </a:p>
          <a:p>
            <a:pPr algn="ctr" defTabSz="685647" fontAlgn="base">
              <a:spcBef>
                <a:spcPct val="0"/>
              </a:spcBef>
              <a:spcAft>
                <a:spcPct val="0"/>
              </a:spcAft>
            </a:pPr>
            <a:r>
              <a:rPr lang="en-US" sz="1100" dirty="0">
                <a:gradFill>
                  <a:gsLst>
                    <a:gs pos="0">
                      <a:srgbClr val="FFFFFF"/>
                    </a:gs>
                    <a:gs pos="100000">
                      <a:srgbClr val="FFFFFF"/>
                    </a:gs>
                  </a:gsLst>
                  <a:lin ang="5400000" scaled="0"/>
                </a:gradFill>
                <a:latin typeface="+mj-lt"/>
                <a:hlinkClick r:id="rId3"/>
              </a:rPr>
              <a:t>http://stefanroth.net</a:t>
            </a:r>
            <a:endParaRPr lang="en-US" sz="1100" dirty="0">
              <a:gradFill>
                <a:gsLst>
                  <a:gs pos="0">
                    <a:srgbClr val="FFFFFF"/>
                  </a:gs>
                  <a:gs pos="100000">
                    <a:srgbClr val="FFFFFF"/>
                  </a:gs>
                </a:gsLst>
                <a:lin ang="5400000" scaled="0"/>
              </a:gradFill>
              <a:latin typeface="+mj-lt"/>
            </a:endParaRPr>
          </a:p>
          <a:p>
            <a:pPr algn="ctr" defTabSz="685647" fontAlgn="base">
              <a:spcBef>
                <a:spcPct val="0"/>
              </a:spcBef>
              <a:spcAft>
                <a:spcPct val="0"/>
              </a:spcAft>
            </a:pPr>
            <a:r>
              <a:rPr lang="en-US" sz="1100" dirty="0">
                <a:gradFill>
                  <a:gsLst>
                    <a:gs pos="0">
                      <a:srgbClr val="FFFFFF"/>
                    </a:gs>
                    <a:gs pos="100000">
                      <a:srgbClr val="FFFFFF"/>
                    </a:gs>
                  </a:gsLst>
                  <a:lin ang="5400000" scaled="0"/>
                </a:gradFill>
                <a:latin typeface="+mj-lt"/>
                <a:hlinkClick r:id="rId4"/>
              </a:rPr>
              <a:t>http://hellshell.com</a:t>
            </a:r>
            <a:r>
              <a:rPr lang="en-US" sz="1100" dirty="0">
                <a:gradFill>
                  <a:gsLst>
                    <a:gs pos="0">
                      <a:srgbClr val="FFFFFF"/>
                    </a:gs>
                    <a:gs pos="100000">
                      <a:srgbClr val="FFFFFF"/>
                    </a:gs>
                  </a:gsLst>
                  <a:lin ang="5400000" scaled="0"/>
                </a:gradFill>
                <a:latin typeface="+mj-lt"/>
              </a:rPr>
              <a:t> </a:t>
            </a:r>
          </a:p>
          <a:p>
            <a:pPr algn="ctr" defTabSz="685647" fontAlgn="base">
              <a:spcBef>
                <a:spcPct val="0"/>
              </a:spcBef>
              <a:spcAft>
                <a:spcPct val="0"/>
              </a:spcAft>
            </a:pPr>
            <a:r>
              <a:rPr lang="en-US" dirty="0">
                <a:gradFill>
                  <a:gsLst>
                    <a:gs pos="0">
                      <a:srgbClr val="FFFFFF"/>
                    </a:gs>
                    <a:gs pos="100000">
                      <a:srgbClr val="FFFFFF"/>
                    </a:gs>
                  </a:gsLst>
                  <a:lin ang="5400000" scaled="0"/>
                </a:gradFill>
                <a:latin typeface="+mj-lt"/>
              </a:rPr>
              <a:t>Co-Author</a:t>
            </a:r>
          </a:p>
          <a:p>
            <a:pPr algn="ctr" defTabSz="685647" fontAlgn="base">
              <a:spcBef>
                <a:spcPct val="0"/>
              </a:spcBef>
              <a:spcAft>
                <a:spcPct val="0"/>
              </a:spcAft>
            </a:pPr>
            <a:endParaRPr lang="nl-NL" sz="1100" dirty="0">
              <a:gradFill>
                <a:gsLst>
                  <a:gs pos="0">
                    <a:srgbClr val="FFFFFF"/>
                  </a:gs>
                  <a:gs pos="100000">
                    <a:srgbClr val="FFFFFF"/>
                  </a:gs>
                </a:gsLst>
                <a:lin ang="5400000" scaled="0"/>
              </a:gradFill>
              <a:latin typeface="+mj-lt"/>
            </a:endParaRPr>
          </a:p>
        </p:txBody>
      </p:sp>
      <p:sp>
        <p:nvSpPr>
          <p:cNvPr id="6" name="Rectangle 5"/>
          <p:cNvSpPr/>
          <p:nvPr/>
        </p:nvSpPr>
        <p:spPr bwMode="auto">
          <a:xfrm>
            <a:off x="4283968" y="2574780"/>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endParaRPr lang="nl-NL" dirty="0">
              <a:gradFill>
                <a:gsLst>
                  <a:gs pos="0">
                    <a:srgbClr val="FFFFFF"/>
                  </a:gs>
                  <a:gs pos="100000">
                    <a:srgbClr val="FFFFFF"/>
                  </a:gs>
                </a:gsLst>
                <a:lin ang="5400000" scaled="0"/>
              </a:gradFill>
            </a:endParaRPr>
          </a:p>
        </p:txBody>
      </p:sp>
      <p:sp>
        <p:nvSpPr>
          <p:cNvPr id="7" name="Rectangle 6"/>
          <p:cNvSpPr/>
          <p:nvPr/>
        </p:nvSpPr>
        <p:spPr bwMode="auto">
          <a:xfrm>
            <a:off x="6070920" y="915566"/>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endParaRPr lang="nl-NL" sz="1471" dirty="0">
              <a:gradFill>
                <a:gsLst>
                  <a:gs pos="0">
                    <a:srgbClr val="FFFFFF"/>
                  </a:gs>
                  <a:gs pos="100000">
                    <a:srgbClr val="FFFFFF"/>
                  </a:gs>
                </a:gsLst>
                <a:lin ang="5400000" scaled="0"/>
              </a:gradFill>
            </a:endParaRPr>
          </a:p>
        </p:txBody>
      </p:sp>
      <p:sp>
        <p:nvSpPr>
          <p:cNvPr id="8" name="Rectangle 7"/>
          <p:cNvSpPr/>
          <p:nvPr/>
        </p:nvSpPr>
        <p:spPr bwMode="auto">
          <a:xfrm>
            <a:off x="6070919" y="2574780"/>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dirty="0">
                <a:gradFill>
                  <a:gsLst>
                    <a:gs pos="0">
                      <a:srgbClr val="FFFFFF"/>
                    </a:gs>
                    <a:gs pos="100000">
                      <a:srgbClr val="FFFFFF"/>
                    </a:gs>
                  </a:gsLst>
                  <a:lin ang="5400000" scaled="0"/>
                </a:gradFill>
              </a:rPr>
              <a:t>Twitter</a:t>
            </a:r>
          </a:p>
          <a:p>
            <a:pPr algn="ctr" defTabSz="685647" fontAlgn="base">
              <a:spcBef>
                <a:spcPct val="0"/>
              </a:spcBef>
              <a:spcAft>
                <a:spcPct val="0"/>
              </a:spcAft>
            </a:pPr>
            <a:r>
              <a:rPr lang="en-US" sz="1324" dirty="0">
                <a:gradFill>
                  <a:gsLst>
                    <a:gs pos="0">
                      <a:srgbClr val="FFFFFF"/>
                    </a:gs>
                    <a:gs pos="100000">
                      <a:srgbClr val="FFFFFF"/>
                    </a:gs>
                  </a:gsLst>
                  <a:lin ang="5400000" scaled="0"/>
                </a:gradFill>
              </a:rPr>
              <a:t>@</a:t>
            </a:r>
            <a:r>
              <a:rPr lang="en-US" sz="1324" dirty="0" err="1">
                <a:gradFill>
                  <a:gsLst>
                    <a:gs pos="0">
                      <a:srgbClr val="FFFFFF"/>
                    </a:gs>
                    <a:gs pos="100000">
                      <a:srgbClr val="FFFFFF"/>
                    </a:gs>
                  </a:gsLst>
                  <a:lin ang="5400000" scaled="0"/>
                </a:gradFill>
              </a:rPr>
              <a:t>stefanroth_net</a:t>
            </a:r>
            <a:endParaRPr lang="en-US" sz="1324" dirty="0">
              <a:gradFill>
                <a:gsLst>
                  <a:gs pos="0">
                    <a:srgbClr val="FFFFFF"/>
                  </a:gs>
                  <a:gs pos="100000">
                    <a:srgbClr val="FFFFFF"/>
                  </a:gs>
                </a:gsLst>
                <a:lin ang="5400000" scaled="0"/>
              </a:gradFill>
            </a:endParaRPr>
          </a:p>
          <a:p>
            <a:pPr algn="ctr" defTabSz="685647" fontAlgn="base">
              <a:spcBef>
                <a:spcPct val="0"/>
              </a:spcBef>
              <a:spcAft>
                <a:spcPct val="0"/>
              </a:spcAft>
            </a:pPr>
            <a:r>
              <a:rPr lang="en-US" sz="1324" dirty="0">
                <a:gradFill>
                  <a:gsLst>
                    <a:gs pos="0">
                      <a:srgbClr val="FFFFFF"/>
                    </a:gs>
                    <a:gs pos="100000">
                      <a:srgbClr val="FFFFFF"/>
                    </a:gs>
                  </a:gsLst>
                  <a:lin ang="5400000" scaled="0"/>
                </a:gradFill>
              </a:rPr>
              <a:t>@</a:t>
            </a:r>
            <a:r>
              <a:rPr lang="en-US" sz="1324" dirty="0" err="1">
                <a:gradFill>
                  <a:gsLst>
                    <a:gs pos="0">
                      <a:srgbClr val="FFFFFF"/>
                    </a:gs>
                    <a:gs pos="100000">
                      <a:srgbClr val="FFFFFF"/>
                    </a:gs>
                  </a:gsLst>
                  <a:lin ang="5400000" scaled="0"/>
                </a:gradFill>
              </a:rPr>
              <a:t>hellshell_com</a:t>
            </a:r>
            <a:endParaRPr lang="nl-NL" sz="1324" dirty="0">
              <a:gradFill>
                <a:gsLst>
                  <a:gs pos="0">
                    <a:srgbClr val="FFFFFF"/>
                  </a:gs>
                  <a:gs pos="100000">
                    <a:srgbClr val="FFFFFF"/>
                  </a:gs>
                </a:gsLst>
                <a:lin ang="5400000" scaled="0"/>
              </a:gradFill>
            </a:endParaRP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23588" y="3006663"/>
            <a:ext cx="1295400" cy="529611"/>
          </a:xfrm>
          <a:prstGeom prst="rect">
            <a:avLst/>
          </a:prstGeom>
        </p:spPr>
      </p:pic>
      <p:pic>
        <p:nvPicPr>
          <p:cNvPr id="17" name="Picture 1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48400" y="1375325"/>
            <a:ext cx="1255526" cy="358225"/>
          </a:xfrm>
          <a:prstGeom prst="rect">
            <a:avLst/>
          </a:prstGeom>
        </p:spPr>
      </p:pic>
      <p:pic>
        <p:nvPicPr>
          <p:cNvPr id="9" name="Picture 8"/>
          <p:cNvPicPr>
            <a:picLocks noChangeAspect="1"/>
          </p:cNvPicPr>
          <p:nvPr/>
        </p:nvPicPr>
        <p:blipFill rotWithShape="1">
          <a:blip r:embed="rId7" cstate="print">
            <a:extLst>
              <a:ext uri="{28A0092B-C50C-407E-A947-70E740481C1C}">
                <a14:useLocalDpi xmlns:a14="http://schemas.microsoft.com/office/drawing/2010/main" val="0"/>
              </a:ext>
            </a:extLst>
          </a:blip>
          <a:srcRect l="7768" t="2325" r="10080"/>
          <a:stretch/>
        </p:blipFill>
        <p:spPr>
          <a:xfrm>
            <a:off x="1149763" y="915566"/>
            <a:ext cx="3028049" cy="3103401"/>
          </a:xfrm>
          <a:prstGeom prst="rect">
            <a:avLst/>
          </a:prstGeom>
        </p:spPr>
      </p:pic>
    </p:spTree>
    <p:extLst>
      <p:ext uri="{BB962C8B-B14F-4D97-AF65-F5344CB8AC3E}">
        <p14:creationId xmlns:p14="http://schemas.microsoft.com/office/powerpoint/2010/main" val="269502700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bwMode="auto">
          <a:xfrm>
            <a:off x="4283968" y="915566"/>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dirty="0">
                <a:gradFill>
                  <a:gsLst>
                    <a:gs pos="0">
                      <a:srgbClr val="FFFFFF"/>
                    </a:gs>
                    <a:gs pos="100000">
                      <a:srgbClr val="FFFFFF"/>
                    </a:gs>
                  </a:gsLst>
                  <a:lin ang="5400000" scaled="0"/>
                </a:gradFill>
                <a:latin typeface="+mj-lt"/>
              </a:rPr>
              <a:t>Blogger</a:t>
            </a:r>
          </a:p>
          <a:p>
            <a:pPr algn="ctr" defTabSz="685647" fontAlgn="base">
              <a:spcBef>
                <a:spcPct val="0"/>
              </a:spcBef>
              <a:spcAft>
                <a:spcPct val="0"/>
              </a:spcAft>
            </a:pPr>
            <a:r>
              <a:rPr lang="en-US" sz="1100" dirty="0">
                <a:solidFill>
                  <a:schemeClr val="bg1">
                    <a:lumMod val="95000"/>
                  </a:schemeClr>
                </a:solidFill>
                <a:latin typeface="+mj-lt"/>
                <a:hlinkClick r:id="rId3"/>
              </a:rPr>
              <a:t>https://blog.jhnr.ch</a:t>
            </a:r>
            <a:endParaRPr lang="en-US" sz="1100" dirty="0">
              <a:solidFill>
                <a:schemeClr val="bg1">
                  <a:lumMod val="95000"/>
                </a:schemeClr>
              </a:solidFill>
              <a:latin typeface="+mj-lt"/>
            </a:endParaRPr>
          </a:p>
          <a:p>
            <a:pPr algn="ctr" defTabSz="685647" fontAlgn="base">
              <a:spcBef>
                <a:spcPct val="0"/>
              </a:spcBef>
              <a:spcAft>
                <a:spcPct val="0"/>
              </a:spcAft>
            </a:pPr>
            <a:endParaRPr lang="en-US" sz="1100" dirty="0">
              <a:gradFill>
                <a:gsLst>
                  <a:gs pos="0">
                    <a:srgbClr val="FFFFFF"/>
                  </a:gs>
                  <a:gs pos="100000">
                    <a:srgbClr val="FFFFFF"/>
                  </a:gs>
                </a:gsLst>
                <a:lin ang="5400000" scaled="0"/>
              </a:gradFill>
              <a:latin typeface="+mj-lt"/>
            </a:endParaRPr>
          </a:p>
        </p:txBody>
      </p:sp>
      <p:sp>
        <p:nvSpPr>
          <p:cNvPr id="6" name="Rectangle 5"/>
          <p:cNvSpPr/>
          <p:nvPr/>
        </p:nvSpPr>
        <p:spPr bwMode="auto">
          <a:xfrm>
            <a:off x="4283968" y="2574780"/>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endParaRPr lang="nl-NL" dirty="0">
              <a:gradFill>
                <a:gsLst>
                  <a:gs pos="0">
                    <a:srgbClr val="FFFFFF"/>
                  </a:gs>
                  <a:gs pos="100000">
                    <a:srgbClr val="FFFFFF"/>
                  </a:gs>
                </a:gsLst>
                <a:lin ang="5400000" scaled="0"/>
              </a:gradFill>
            </a:endParaRPr>
          </a:p>
        </p:txBody>
      </p:sp>
      <p:sp>
        <p:nvSpPr>
          <p:cNvPr id="7" name="Rectangle 6"/>
          <p:cNvSpPr/>
          <p:nvPr/>
        </p:nvSpPr>
        <p:spPr bwMode="auto">
          <a:xfrm>
            <a:off x="6070920" y="915566"/>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endParaRPr lang="nl-NL" sz="1471" dirty="0">
              <a:gradFill>
                <a:gsLst>
                  <a:gs pos="0">
                    <a:srgbClr val="FFFFFF"/>
                  </a:gs>
                  <a:gs pos="100000">
                    <a:srgbClr val="FFFFFF"/>
                  </a:gs>
                </a:gsLst>
                <a:lin ang="5400000" scaled="0"/>
              </a:gradFill>
            </a:endParaRPr>
          </a:p>
        </p:txBody>
      </p:sp>
      <p:sp>
        <p:nvSpPr>
          <p:cNvPr id="8" name="Rectangle 7"/>
          <p:cNvSpPr/>
          <p:nvPr/>
        </p:nvSpPr>
        <p:spPr bwMode="auto">
          <a:xfrm>
            <a:off x="6070919" y="2574780"/>
            <a:ext cx="1574641" cy="1393379"/>
          </a:xfrm>
          <a:prstGeom prst="rect">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dirty="0">
                <a:gradFill>
                  <a:gsLst>
                    <a:gs pos="0">
                      <a:srgbClr val="FFFFFF"/>
                    </a:gs>
                    <a:gs pos="100000">
                      <a:srgbClr val="FFFFFF"/>
                    </a:gs>
                  </a:gsLst>
                  <a:lin ang="5400000" scaled="0"/>
                </a:gradFill>
              </a:rPr>
              <a:t>Twitter</a:t>
            </a:r>
          </a:p>
          <a:p>
            <a:pPr algn="ctr" defTabSz="685647" fontAlgn="base">
              <a:spcBef>
                <a:spcPct val="0"/>
              </a:spcBef>
              <a:spcAft>
                <a:spcPct val="0"/>
              </a:spcAft>
            </a:pPr>
            <a:r>
              <a:rPr lang="en-US" sz="1324" dirty="0">
                <a:gradFill>
                  <a:gsLst>
                    <a:gs pos="0">
                      <a:srgbClr val="FFFFFF"/>
                    </a:gs>
                    <a:gs pos="100000">
                      <a:srgbClr val="FFFFFF"/>
                    </a:gs>
                  </a:gsLst>
                  <a:lin ang="5400000" scaled="0"/>
                </a:gradFill>
              </a:rPr>
              <a:t>@</a:t>
            </a:r>
            <a:r>
              <a:rPr lang="en-US" sz="1324" dirty="0" err="1">
                <a:gradFill>
                  <a:gsLst>
                    <a:gs pos="0">
                      <a:srgbClr val="FFFFFF"/>
                    </a:gs>
                    <a:gs pos="100000">
                      <a:srgbClr val="FFFFFF"/>
                    </a:gs>
                  </a:gsLst>
                  <a:lin ang="5400000" scaled="0"/>
                </a:gradFill>
              </a:rPr>
              <a:t>JohnerStefan</a:t>
            </a:r>
            <a:endParaRPr lang="nl-NL" sz="1324" dirty="0">
              <a:gradFill>
                <a:gsLst>
                  <a:gs pos="0">
                    <a:srgbClr val="FFFFFF"/>
                  </a:gs>
                  <a:gs pos="100000">
                    <a:srgbClr val="FFFFFF"/>
                  </a:gs>
                </a:gsLst>
                <a:lin ang="5400000" scaled="0"/>
              </a:gradFill>
            </a:endParaRPr>
          </a:p>
        </p:txBody>
      </p:sp>
      <p:pic>
        <p:nvPicPr>
          <p:cNvPr id="17" name="Picture 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48400" y="1375325"/>
            <a:ext cx="1255526" cy="358225"/>
          </a:xfrm>
          <a:prstGeom prst="rect">
            <a:avLst/>
          </a:prstGeom>
        </p:spPr>
      </p:pic>
      <p:pic>
        <p:nvPicPr>
          <p:cNvPr id="3" name="Picture 2"/>
          <p:cNvPicPr>
            <a:picLocks noChangeAspect="1"/>
          </p:cNvPicPr>
          <p:nvPr/>
        </p:nvPicPr>
        <p:blipFill rotWithShape="1">
          <a:blip r:embed="rId5" cstate="print">
            <a:extLst>
              <a:ext uri="{28A0092B-C50C-407E-A947-70E740481C1C}">
                <a14:useLocalDpi xmlns:a14="http://schemas.microsoft.com/office/drawing/2010/main" val="0"/>
              </a:ext>
            </a:extLst>
          </a:blip>
          <a:srcRect l="12289" r="38695"/>
          <a:stretch/>
        </p:blipFill>
        <p:spPr>
          <a:xfrm>
            <a:off x="1149763" y="917965"/>
            <a:ext cx="2992570" cy="3052592"/>
          </a:xfrm>
          <a:prstGeom prst="rect">
            <a:avLst/>
          </a:prstGeom>
        </p:spPr>
      </p:pic>
    </p:spTree>
    <p:extLst>
      <p:ext uri="{BB962C8B-B14F-4D97-AF65-F5344CB8AC3E}">
        <p14:creationId xmlns:p14="http://schemas.microsoft.com/office/powerpoint/2010/main" val="249238663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Agenda</a:t>
            </a:r>
            <a:endParaRPr lang="de-DE" dirty="0"/>
          </a:p>
        </p:txBody>
      </p:sp>
      <p:sp>
        <p:nvSpPr>
          <p:cNvPr id="3" name="Inhaltsplatzhalter 2"/>
          <p:cNvSpPr>
            <a:spLocks noGrp="1"/>
          </p:cNvSpPr>
          <p:nvPr>
            <p:ph idx="1"/>
          </p:nvPr>
        </p:nvSpPr>
        <p:spPr>
          <a:xfrm>
            <a:off x="250825" y="1200150"/>
            <a:ext cx="8642350" cy="3570208"/>
          </a:xfrm>
        </p:spPr>
        <p:txBody>
          <a:bodyPr vert="horz" lIns="0" tIns="0" rIns="0" bIns="0" rtlCol="0">
            <a:spAutoFit/>
          </a:bodyPr>
          <a:lstStyle/>
          <a:p>
            <a:pPr>
              <a:buFont typeface="Wingdings" panose="05000000000000000000" pitchFamily="2" charset="2"/>
              <a:buChar char="§"/>
            </a:pPr>
            <a:r>
              <a:rPr lang="en-US" sz="4000" dirty="0"/>
              <a:t>SCOM X-Plat Overview</a:t>
            </a:r>
          </a:p>
          <a:p>
            <a:pPr>
              <a:buFont typeface="Wingdings" panose="05000000000000000000" pitchFamily="2" charset="2"/>
              <a:buChar char="§"/>
            </a:pPr>
            <a:r>
              <a:rPr lang="en-US" sz="4000" dirty="0"/>
              <a:t>SCOM 2016 What’s New</a:t>
            </a:r>
          </a:p>
          <a:p>
            <a:pPr>
              <a:buFont typeface="Wingdings" panose="05000000000000000000" pitchFamily="2" charset="2"/>
              <a:buChar char="§"/>
            </a:pPr>
            <a:r>
              <a:rPr lang="en-US" sz="4000" dirty="0"/>
              <a:t>OMS X-Plat Overview</a:t>
            </a:r>
          </a:p>
          <a:p>
            <a:pPr>
              <a:buFont typeface="Wingdings" panose="05000000000000000000" pitchFamily="2" charset="2"/>
              <a:buChar char="§"/>
            </a:pPr>
            <a:r>
              <a:rPr lang="en-US" sz="4000" dirty="0"/>
              <a:t>Demo, Demo, Demo</a:t>
            </a:r>
          </a:p>
          <a:p>
            <a:pPr>
              <a:buFont typeface="Wingdings" panose="05000000000000000000" pitchFamily="2" charset="2"/>
              <a:buChar char="§"/>
            </a:pPr>
            <a:endParaRPr lang="en-US" sz="4000" dirty="0"/>
          </a:p>
        </p:txBody>
      </p:sp>
    </p:spTree>
    <p:extLst>
      <p:ext uri="{BB962C8B-B14F-4D97-AF65-F5344CB8AC3E}">
        <p14:creationId xmlns:p14="http://schemas.microsoft.com/office/powerpoint/2010/main" val="855036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Once upon a Time…</a:t>
            </a: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63688" y="843558"/>
            <a:ext cx="5792688" cy="413763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2" name="TextBox 11"/>
          <p:cNvSpPr txBox="1"/>
          <p:nvPr/>
        </p:nvSpPr>
        <p:spPr>
          <a:xfrm rot="20431959">
            <a:off x="399308" y="1455694"/>
            <a:ext cx="8736470" cy="1815882"/>
          </a:xfrm>
          <a:prstGeom prst="rect">
            <a:avLst/>
          </a:prstGeom>
          <a:noFill/>
        </p:spPr>
        <p:txBody>
          <a:bodyPr wrap="square" rtlCol="0">
            <a:spAutoFit/>
          </a:bodyPr>
          <a:lstStyle/>
          <a:p>
            <a:r>
              <a:rPr lang="en-US" sz="2800" b="1" dirty="0">
                <a:solidFill>
                  <a:srgbClr val="FF0000"/>
                </a:solidFill>
                <a:effectLst>
                  <a:outerShdw blurRad="38100" dist="38100" dir="2700000" algn="tl">
                    <a:srgbClr val="000000">
                      <a:alpha val="43137"/>
                    </a:srgbClr>
                  </a:outerShdw>
                </a:effectLst>
                <a:highlight>
                  <a:srgbClr val="00FF00"/>
                </a:highlight>
              </a:rPr>
              <a:t>Linux is not in the public domain. Linux is a cancer that attaches itself in an intellectual property sense to everything it touches. That's the way that the license works</a:t>
            </a:r>
          </a:p>
        </p:txBody>
      </p:sp>
      <p:sp>
        <p:nvSpPr>
          <p:cNvPr id="15" name="TextBox 14"/>
          <p:cNvSpPr txBox="1"/>
          <p:nvPr/>
        </p:nvSpPr>
        <p:spPr>
          <a:xfrm>
            <a:off x="683568" y="1700808"/>
            <a:ext cx="8209607" cy="1569660"/>
          </a:xfrm>
          <a:prstGeom prst="rect">
            <a:avLst/>
          </a:prstGeom>
          <a:noFill/>
        </p:spPr>
        <p:txBody>
          <a:bodyPr wrap="square" rtlCol="0">
            <a:spAutoFit/>
          </a:bodyPr>
          <a:lstStyle>
            <a:defPPr>
              <a:defRPr lang="de-DE"/>
            </a:defPPr>
            <a:lvl1pPr>
              <a:defRPr sz="2000" b="1">
                <a:solidFill>
                  <a:srgbClr val="FF0000"/>
                </a:solidFill>
                <a:effectLst>
                  <a:outerShdw blurRad="38100" dist="38100" dir="2700000" algn="tl">
                    <a:srgbClr val="000000">
                      <a:alpha val="43137"/>
                    </a:srgbClr>
                  </a:outerShdw>
                </a:effectLst>
                <a:highlight>
                  <a:srgbClr val="00FF00"/>
                </a:highlight>
              </a:defRPr>
            </a:lvl1pPr>
          </a:lstStyle>
          <a:p>
            <a:r>
              <a:rPr lang="en-US" sz="3200" dirty="0">
                <a:highlight>
                  <a:srgbClr val="00FFFF"/>
                </a:highlight>
              </a:rPr>
              <a:t>Linux is a cancer that attaches itself in an intellectual property sense to everything it touches.</a:t>
            </a:r>
          </a:p>
        </p:txBody>
      </p:sp>
      <p:sp>
        <p:nvSpPr>
          <p:cNvPr id="13" name="TextBox 12"/>
          <p:cNvSpPr txBox="1"/>
          <p:nvPr/>
        </p:nvSpPr>
        <p:spPr>
          <a:xfrm rot="1283756">
            <a:off x="1653515" y="1920138"/>
            <a:ext cx="7241246" cy="2062103"/>
          </a:xfrm>
          <a:prstGeom prst="rect">
            <a:avLst/>
          </a:prstGeom>
          <a:noFill/>
        </p:spPr>
        <p:txBody>
          <a:bodyPr wrap="square" rtlCol="0">
            <a:spAutoFit/>
          </a:bodyPr>
          <a:lstStyle/>
          <a:p>
            <a:endParaRPr lang="en-US" sz="3200" b="1" dirty="0">
              <a:solidFill>
                <a:srgbClr val="FF0000"/>
              </a:solidFill>
              <a:effectLst>
                <a:outerShdw blurRad="38100" dist="38100" dir="2700000" algn="tl">
                  <a:srgbClr val="000000">
                    <a:alpha val="43137"/>
                  </a:srgbClr>
                </a:outerShdw>
              </a:effectLst>
              <a:highlight>
                <a:srgbClr val="FFFF00"/>
              </a:highlight>
            </a:endParaRPr>
          </a:p>
          <a:p>
            <a:r>
              <a:rPr lang="en-US" sz="3200" b="1" dirty="0">
                <a:solidFill>
                  <a:srgbClr val="FF0000"/>
                </a:solidFill>
                <a:effectLst>
                  <a:outerShdw blurRad="38100" dist="38100" dir="2700000" algn="tl">
                    <a:srgbClr val="000000">
                      <a:alpha val="43137"/>
                    </a:srgbClr>
                  </a:outerShdw>
                </a:effectLst>
                <a:highlight>
                  <a:srgbClr val="FFFF00"/>
                </a:highlight>
              </a:rPr>
              <a:t>I'd rather use Windows and Internet Explorer in Hell than I'd use Linux and Mozilla Firefox in Heaven! </a:t>
            </a:r>
          </a:p>
        </p:txBody>
      </p:sp>
    </p:spTree>
    <p:extLst>
      <p:ext uri="{BB962C8B-B14F-4D97-AF65-F5344CB8AC3E}">
        <p14:creationId xmlns:p14="http://schemas.microsoft.com/office/powerpoint/2010/main" val="21967230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par>
                    <p:cTn id="10" fill="hold">
                      <p:stCondLst>
                        <p:cond delay="indefinite"/>
                      </p:stCondLst>
                      <p:childTnLst>
                        <p:par>
                          <p:cTn id="11" fill="hold">
                            <p:stCondLst>
                              <p:cond delay="0"/>
                            </p:stCondLst>
                            <p:childTnLst>
                              <p:par>
                                <p:cTn id="12" presetID="26" presetClass="entr" presetSubtype="0" fill="hold" grpId="0" nodeType="click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wipe(down)">
                                      <p:cBhvr>
                                        <p:cTn id="14" dur="580">
                                          <p:stCondLst>
                                            <p:cond delay="0"/>
                                          </p:stCondLst>
                                        </p:cTn>
                                        <p:tgtEl>
                                          <p:spTgt spid="12"/>
                                        </p:tgtEl>
                                      </p:cBhvr>
                                    </p:animEffect>
                                    <p:anim calcmode="lin" valueType="num">
                                      <p:cBhvr>
                                        <p:cTn id="15" dur="1822" tmFilter="0,0; 0.14,0.36; 0.43,0.73; 0.71,0.91; 1.0,1.0">
                                          <p:stCondLst>
                                            <p:cond delay="0"/>
                                          </p:stCondLst>
                                        </p:cTn>
                                        <p:tgtEl>
                                          <p:spTgt spid="12"/>
                                        </p:tgtEl>
                                        <p:attrNameLst>
                                          <p:attrName>ppt_x</p:attrName>
                                        </p:attrNameLst>
                                      </p:cBhvr>
                                      <p:tavLst>
                                        <p:tav tm="0">
                                          <p:val>
                                            <p:strVal val="#ppt_x-0.25"/>
                                          </p:val>
                                        </p:tav>
                                        <p:tav tm="100000">
                                          <p:val>
                                            <p:strVal val="#ppt_x"/>
                                          </p:val>
                                        </p:tav>
                                      </p:tavLst>
                                    </p:anim>
                                    <p:anim calcmode="lin" valueType="num">
                                      <p:cBhvr>
                                        <p:cTn id="16" dur="664" tmFilter="0.0,0.0; 0.25,0.07; 0.50,0.2; 0.75,0.467; 1.0,1.0">
                                          <p:stCondLst>
                                            <p:cond delay="0"/>
                                          </p:stCondLst>
                                        </p:cTn>
                                        <p:tgtEl>
                                          <p:spTgt spid="12"/>
                                        </p:tgtEl>
                                        <p:attrNameLst>
                                          <p:attrName>ppt_y</p:attrName>
                                        </p:attrNameLst>
                                      </p:cBhvr>
                                      <p:tavLst>
                                        <p:tav tm="0" fmla="#ppt_y-sin(pi*$)/3">
                                          <p:val>
                                            <p:fltVal val="0.5"/>
                                          </p:val>
                                        </p:tav>
                                        <p:tav tm="100000">
                                          <p:val>
                                            <p:fltVal val="1"/>
                                          </p:val>
                                        </p:tav>
                                      </p:tavLst>
                                    </p:anim>
                                    <p:anim calcmode="lin" valueType="num">
                                      <p:cBhvr>
                                        <p:cTn id="17" dur="664" tmFilter="0, 0; 0.125,0.2665; 0.25,0.4; 0.375,0.465; 0.5,0.5;  0.625,0.535; 0.75,0.6; 0.875,0.7335; 1,1">
                                          <p:stCondLst>
                                            <p:cond delay="664"/>
                                          </p:stCondLst>
                                        </p:cTn>
                                        <p:tgtEl>
                                          <p:spTgt spid="12"/>
                                        </p:tgtEl>
                                        <p:attrNameLst>
                                          <p:attrName>ppt_y</p:attrName>
                                        </p:attrNameLst>
                                      </p:cBhvr>
                                      <p:tavLst>
                                        <p:tav tm="0" fmla="#ppt_y-sin(pi*$)/9">
                                          <p:val>
                                            <p:fltVal val="0"/>
                                          </p:val>
                                        </p:tav>
                                        <p:tav tm="100000">
                                          <p:val>
                                            <p:fltVal val="1"/>
                                          </p:val>
                                        </p:tav>
                                      </p:tavLst>
                                    </p:anim>
                                    <p:anim calcmode="lin" valueType="num">
                                      <p:cBhvr>
                                        <p:cTn id="18" dur="332" tmFilter="0, 0; 0.125,0.2665; 0.25,0.4; 0.375,0.465; 0.5,0.5;  0.625,0.535; 0.75,0.6; 0.875,0.7335; 1,1">
                                          <p:stCondLst>
                                            <p:cond delay="1324"/>
                                          </p:stCondLst>
                                        </p:cTn>
                                        <p:tgtEl>
                                          <p:spTgt spid="12"/>
                                        </p:tgtEl>
                                        <p:attrNameLst>
                                          <p:attrName>ppt_y</p:attrName>
                                        </p:attrNameLst>
                                      </p:cBhvr>
                                      <p:tavLst>
                                        <p:tav tm="0" fmla="#ppt_y-sin(pi*$)/27">
                                          <p:val>
                                            <p:fltVal val="0"/>
                                          </p:val>
                                        </p:tav>
                                        <p:tav tm="100000">
                                          <p:val>
                                            <p:fltVal val="1"/>
                                          </p:val>
                                        </p:tav>
                                      </p:tavLst>
                                    </p:anim>
                                    <p:anim calcmode="lin" valueType="num">
                                      <p:cBhvr>
                                        <p:cTn id="19" dur="164" tmFilter="0, 0; 0.125,0.2665; 0.25,0.4; 0.375,0.465; 0.5,0.5;  0.625,0.535; 0.75,0.6; 0.875,0.7335; 1,1">
                                          <p:stCondLst>
                                            <p:cond delay="1656"/>
                                          </p:stCondLst>
                                        </p:cTn>
                                        <p:tgtEl>
                                          <p:spTgt spid="12"/>
                                        </p:tgtEl>
                                        <p:attrNameLst>
                                          <p:attrName>ppt_y</p:attrName>
                                        </p:attrNameLst>
                                      </p:cBhvr>
                                      <p:tavLst>
                                        <p:tav tm="0" fmla="#ppt_y-sin(pi*$)/81">
                                          <p:val>
                                            <p:fltVal val="0"/>
                                          </p:val>
                                        </p:tav>
                                        <p:tav tm="100000">
                                          <p:val>
                                            <p:fltVal val="1"/>
                                          </p:val>
                                        </p:tav>
                                      </p:tavLst>
                                    </p:anim>
                                    <p:animScale>
                                      <p:cBhvr>
                                        <p:cTn id="20" dur="26">
                                          <p:stCondLst>
                                            <p:cond delay="650"/>
                                          </p:stCondLst>
                                        </p:cTn>
                                        <p:tgtEl>
                                          <p:spTgt spid="12"/>
                                        </p:tgtEl>
                                      </p:cBhvr>
                                      <p:to x="100000" y="60000"/>
                                    </p:animScale>
                                    <p:animScale>
                                      <p:cBhvr>
                                        <p:cTn id="21" dur="166" decel="50000">
                                          <p:stCondLst>
                                            <p:cond delay="676"/>
                                          </p:stCondLst>
                                        </p:cTn>
                                        <p:tgtEl>
                                          <p:spTgt spid="12"/>
                                        </p:tgtEl>
                                      </p:cBhvr>
                                      <p:to x="100000" y="100000"/>
                                    </p:animScale>
                                    <p:animScale>
                                      <p:cBhvr>
                                        <p:cTn id="22" dur="26">
                                          <p:stCondLst>
                                            <p:cond delay="1312"/>
                                          </p:stCondLst>
                                        </p:cTn>
                                        <p:tgtEl>
                                          <p:spTgt spid="12"/>
                                        </p:tgtEl>
                                      </p:cBhvr>
                                      <p:to x="100000" y="80000"/>
                                    </p:animScale>
                                    <p:animScale>
                                      <p:cBhvr>
                                        <p:cTn id="23" dur="166" decel="50000">
                                          <p:stCondLst>
                                            <p:cond delay="1338"/>
                                          </p:stCondLst>
                                        </p:cTn>
                                        <p:tgtEl>
                                          <p:spTgt spid="12"/>
                                        </p:tgtEl>
                                      </p:cBhvr>
                                      <p:to x="100000" y="100000"/>
                                    </p:animScale>
                                    <p:animScale>
                                      <p:cBhvr>
                                        <p:cTn id="24" dur="26">
                                          <p:stCondLst>
                                            <p:cond delay="1642"/>
                                          </p:stCondLst>
                                        </p:cTn>
                                        <p:tgtEl>
                                          <p:spTgt spid="12"/>
                                        </p:tgtEl>
                                      </p:cBhvr>
                                      <p:to x="100000" y="90000"/>
                                    </p:animScale>
                                    <p:animScale>
                                      <p:cBhvr>
                                        <p:cTn id="25" dur="166" decel="50000">
                                          <p:stCondLst>
                                            <p:cond delay="1668"/>
                                          </p:stCondLst>
                                        </p:cTn>
                                        <p:tgtEl>
                                          <p:spTgt spid="12"/>
                                        </p:tgtEl>
                                      </p:cBhvr>
                                      <p:to x="100000" y="100000"/>
                                    </p:animScale>
                                    <p:animScale>
                                      <p:cBhvr>
                                        <p:cTn id="26" dur="26">
                                          <p:stCondLst>
                                            <p:cond delay="1808"/>
                                          </p:stCondLst>
                                        </p:cTn>
                                        <p:tgtEl>
                                          <p:spTgt spid="12"/>
                                        </p:tgtEl>
                                      </p:cBhvr>
                                      <p:to x="100000" y="95000"/>
                                    </p:animScale>
                                    <p:animScale>
                                      <p:cBhvr>
                                        <p:cTn id="27" dur="166" decel="50000">
                                          <p:stCondLst>
                                            <p:cond delay="1834"/>
                                          </p:stCondLst>
                                        </p:cTn>
                                        <p:tgtEl>
                                          <p:spTgt spid="12"/>
                                        </p:tgtEl>
                                      </p:cBhvr>
                                      <p:to x="100000" y="100000"/>
                                    </p:animScale>
                                  </p:childTnLst>
                                </p:cTn>
                              </p:par>
                            </p:childTnLst>
                          </p:cTn>
                        </p:par>
                      </p:childTnLst>
                    </p:cTn>
                  </p:par>
                  <p:par>
                    <p:cTn id="28" fill="hold">
                      <p:stCondLst>
                        <p:cond delay="indefinite"/>
                      </p:stCondLst>
                      <p:childTnLst>
                        <p:par>
                          <p:cTn id="29" fill="hold">
                            <p:stCondLst>
                              <p:cond delay="0"/>
                            </p:stCondLst>
                            <p:childTnLst>
                              <p:par>
                                <p:cTn id="30" presetID="26" presetClass="entr" presetSubtype="0" fill="hold" grpId="0" nodeType="clickEffect">
                                  <p:stCondLst>
                                    <p:cond delay="0"/>
                                  </p:stCondLst>
                                  <p:childTnLst>
                                    <p:set>
                                      <p:cBhvr>
                                        <p:cTn id="31" dur="1" fill="hold">
                                          <p:stCondLst>
                                            <p:cond delay="0"/>
                                          </p:stCondLst>
                                        </p:cTn>
                                        <p:tgtEl>
                                          <p:spTgt spid="15">
                                            <p:txEl>
                                              <p:pRg st="0" end="0"/>
                                            </p:txEl>
                                          </p:spTgt>
                                        </p:tgtEl>
                                        <p:attrNameLst>
                                          <p:attrName>style.visibility</p:attrName>
                                        </p:attrNameLst>
                                      </p:cBhvr>
                                      <p:to>
                                        <p:strVal val="visible"/>
                                      </p:to>
                                    </p:set>
                                    <p:animEffect transition="in" filter="wipe(down)">
                                      <p:cBhvr>
                                        <p:cTn id="32" dur="580">
                                          <p:stCondLst>
                                            <p:cond delay="0"/>
                                          </p:stCondLst>
                                        </p:cTn>
                                        <p:tgtEl>
                                          <p:spTgt spid="15">
                                            <p:txEl>
                                              <p:pRg st="0" end="0"/>
                                            </p:txEl>
                                          </p:spTgt>
                                        </p:tgtEl>
                                      </p:cBhvr>
                                    </p:animEffect>
                                    <p:anim calcmode="lin" valueType="num">
                                      <p:cBhvr>
                                        <p:cTn id="33" dur="1822" tmFilter="0,0; 0.14,0.36; 0.43,0.73; 0.71,0.91; 1.0,1.0">
                                          <p:stCondLst>
                                            <p:cond delay="0"/>
                                          </p:stCondLst>
                                        </p:cTn>
                                        <p:tgtEl>
                                          <p:spTgt spid="15">
                                            <p:txEl>
                                              <p:pRg st="0" end="0"/>
                                            </p:txEl>
                                          </p:spTgt>
                                        </p:tgtEl>
                                        <p:attrNameLst>
                                          <p:attrName>ppt_x</p:attrName>
                                        </p:attrNameLst>
                                      </p:cBhvr>
                                      <p:tavLst>
                                        <p:tav tm="0">
                                          <p:val>
                                            <p:strVal val="#ppt_x-0.25"/>
                                          </p:val>
                                        </p:tav>
                                        <p:tav tm="100000">
                                          <p:val>
                                            <p:strVal val="#ppt_x"/>
                                          </p:val>
                                        </p:tav>
                                      </p:tavLst>
                                    </p:anim>
                                    <p:anim calcmode="lin" valueType="num">
                                      <p:cBhvr>
                                        <p:cTn id="34" dur="664" tmFilter="0.0,0.0; 0.25,0.07; 0.50,0.2; 0.75,0.467; 1.0,1.0">
                                          <p:stCondLst>
                                            <p:cond delay="0"/>
                                          </p:stCondLst>
                                        </p:cTn>
                                        <p:tgtEl>
                                          <p:spTgt spid="15">
                                            <p:txEl>
                                              <p:pRg st="0" end="0"/>
                                            </p:txEl>
                                          </p:spTgt>
                                        </p:tgtEl>
                                        <p:attrNameLst>
                                          <p:attrName>ppt_y</p:attrName>
                                        </p:attrNameLst>
                                      </p:cBhvr>
                                      <p:tavLst>
                                        <p:tav tm="0" fmla="#ppt_y-sin(pi*$)/3">
                                          <p:val>
                                            <p:fltVal val="0.5"/>
                                          </p:val>
                                        </p:tav>
                                        <p:tav tm="100000">
                                          <p:val>
                                            <p:fltVal val="1"/>
                                          </p:val>
                                        </p:tav>
                                      </p:tavLst>
                                    </p:anim>
                                    <p:anim calcmode="lin" valueType="num">
                                      <p:cBhvr>
                                        <p:cTn id="35" dur="664" tmFilter="0, 0; 0.125,0.2665; 0.25,0.4; 0.375,0.465; 0.5,0.5;  0.625,0.535; 0.75,0.6; 0.875,0.7335; 1,1">
                                          <p:stCondLst>
                                            <p:cond delay="664"/>
                                          </p:stCondLst>
                                        </p:cTn>
                                        <p:tgtEl>
                                          <p:spTgt spid="15">
                                            <p:txEl>
                                              <p:pRg st="0" end="0"/>
                                            </p:txEl>
                                          </p:spTgt>
                                        </p:tgtEl>
                                        <p:attrNameLst>
                                          <p:attrName>ppt_y</p:attrName>
                                        </p:attrNameLst>
                                      </p:cBhvr>
                                      <p:tavLst>
                                        <p:tav tm="0" fmla="#ppt_y-sin(pi*$)/9">
                                          <p:val>
                                            <p:fltVal val="0"/>
                                          </p:val>
                                        </p:tav>
                                        <p:tav tm="100000">
                                          <p:val>
                                            <p:fltVal val="1"/>
                                          </p:val>
                                        </p:tav>
                                      </p:tavLst>
                                    </p:anim>
                                    <p:anim calcmode="lin" valueType="num">
                                      <p:cBhvr>
                                        <p:cTn id="36" dur="332" tmFilter="0, 0; 0.125,0.2665; 0.25,0.4; 0.375,0.465; 0.5,0.5;  0.625,0.535; 0.75,0.6; 0.875,0.7335; 1,1">
                                          <p:stCondLst>
                                            <p:cond delay="1324"/>
                                          </p:stCondLst>
                                        </p:cTn>
                                        <p:tgtEl>
                                          <p:spTgt spid="15">
                                            <p:txEl>
                                              <p:pRg st="0" end="0"/>
                                            </p:txEl>
                                          </p:spTgt>
                                        </p:tgtEl>
                                        <p:attrNameLst>
                                          <p:attrName>ppt_y</p:attrName>
                                        </p:attrNameLst>
                                      </p:cBhvr>
                                      <p:tavLst>
                                        <p:tav tm="0" fmla="#ppt_y-sin(pi*$)/27">
                                          <p:val>
                                            <p:fltVal val="0"/>
                                          </p:val>
                                        </p:tav>
                                        <p:tav tm="100000">
                                          <p:val>
                                            <p:fltVal val="1"/>
                                          </p:val>
                                        </p:tav>
                                      </p:tavLst>
                                    </p:anim>
                                    <p:anim calcmode="lin" valueType="num">
                                      <p:cBhvr>
                                        <p:cTn id="37" dur="164" tmFilter="0, 0; 0.125,0.2665; 0.25,0.4; 0.375,0.465; 0.5,0.5;  0.625,0.535; 0.75,0.6; 0.875,0.7335; 1,1">
                                          <p:stCondLst>
                                            <p:cond delay="1656"/>
                                          </p:stCondLst>
                                        </p:cTn>
                                        <p:tgtEl>
                                          <p:spTgt spid="15">
                                            <p:txEl>
                                              <p:pRg st="0" end="0"/>
                                            </p:txEl>
                                          </p:spTgt>
                                        </p:tgtEl>
                                        <p:attrNameLst>
                                          <p:attrName>ppt_y</p:attrName>
                                        </p:attrNameLst>
                                      </p:cBhvr>
                                      <p:tavLst>
                                        <p:tav tm="0" fmla="#ppt_y-sin(pi*$)/81">
                                          <p:val>
                                            <p:fltVal val="0"/>
                                          </p:val>
                                        </p:tav>
                                        <p:tav tm="100000">
                                          <p:val>
                                            <p:fltVal val="1"/>
                                          </p:val>
                                        </p:tav>
                                      </p:tavLst>
                                    </p:anim>
                                    <p:animScale>
                                      <p:cBhvr>
                                        <p:cTn id="38" dur="26">
                                          <p:stCondLst>
                                            <p:cond delay="650"/>
                                          </p:stCondLst>
                                        </p:cTn>
                                        <p:tgtEl>
                                          <p:spTgt spid="15">
                                            <p:txEl>
                                              <p:pRg st="0" end="0"/>
                                            </p:txEl>
                                          </p:spTgt>
                                        </p:tgtEl>
                                      </p:cBhvr>
                                      <p:to x="100000" y="60000"/>
                                    </p:animScale>
                                    <p:animScale>
                                      <p:cBhvr>
                                        <p:cTn id="39" dur="166" decel="50000">
                                          <p:stCondLst>
                                            <p:cond delay="676"/>
                                          </p:stCondLst>
                                        </p:cTn>
                                        <p:tgtEl>
                                          <p:spTgt spid="15">
                                            <p:txEl>
                                              <p:pRg st="0" end="0"/>
                                            </p:txEl>
                                          </p:spTgt>
                                        </p:tgtEl>
                                      </p:cBhvr>
                                      <p:to x="100000" y="100000"/>
                                    </p:animScale>
                                    <p:animScale>
                                      <p:cBhvr>
                                        <p:cTn id="40" dur="26">
                                          <p:stCondLst>
                                            <p:cond delay="1312"/>
                                          </p:stCondLst>
                                        </p:cTn>
                                        <p:tgtEl>
                                          <p:spTgt spid="15">
                                            <p:txEl>
                                              <p:pRg st="0" end="0"/>
                                            </p:txEl>
                                          </p:spTgt>
                                        </p:tgtEl>
                                      </p:cBhvr>
                                      <p:to x="100000" y="80000"/>
                                    </p:animScale>
                                    <p:animScale>
                                      <p:cBhvr>
                                        <p:cTn id="41" dur="166" decel="50000">
                                          <p:stCondLst>
                                            <p:cond delay="1338"/>
                                          </p:stCondLst>
                                        </p:cTn>
                                        <p:tgtEl>
                                          <p:spTgt spid="15">
                                            <p:txEl>
                                              <p:pRg st="0" end="0"/>
                                            </p:txEl>
                                          </p:spTgt>
                                        </p:tgtEl>
                                      </p:cBhvr>
                                      <p:to x="100000" y="100000"/>
                                    </p:animScale>
                                    <p:animScale>
                                      <p:cBhvr>
                                        <p:cTn id="42" dur="26">
                                          <p:stCondLst>
                                            <p:cond delay="1642"/>
                                          </p:stCondLst>
                                        </p:cTn>
                                        <p:tgtEl>
                                          <p:spTgt spid="15">
                                            <p:txEl>
                                              <p:pRg st="0" end="0"/>
                                            </p:txEl>
                                          </p:spTgt>
                                        </p:tgtEl>
                                      </p:cBhvr>
                                      <p:to x="100000" y="90000"/>
                                    </p:animScale>
                                    <p:animScale>
                                      <p:cBhvr>
                                        <p:cTn id="43" dur="166" decel="50000">
                                          <p:stCondLst>
                                            <p:cond delay="1668"/>
                                          </p:stCondLst>
                                        </p:cTn>
                                        <p:tgtEl>
                                          <p:spTgt spid="15">
                                            <p:txEl>
                                              <p:pRg st="0" end="0"/>
                                            </p:txEl>
                                          </p:spTgt>
                                        </p:tgtEl>
                                      </p:cBhvr>
                                      <p:to x="100000" y="100000"/>
                                    </p:animScale>
                                    <p:animScale>
                                      <p:cBhvr>
                                        <p:cTn id="44" dur="26">
                                          <p:stCondLst>
                                            <p:cond delay="1808"/>
                                          </p:stCondLst>
                                        </p:cTn>
                                        <p:tgtEl>
                                          <p:spTgt spid="15">
                                            <p:txEl>
                                              <p:pRg st="0" end="0"/>
                                            </p:txEl>
                                          </p:spTgt>
                                        </p:tgtEl>
                                      </p:cBhvr>
                                      <p:to x="100000" y="95000"/>
                                    </p:animScale>
                                    <p:animScale>
                                      <p:cBhvr>
                                        <p:cTn id="45" dur="166" decel="50000">
                                          <p:stCondLst>
                                            <p:cond delay="1834"/>
                                          </p:stCondLst>
                                        </p:cTn>
                                        <p:tgtEl>
                                          <p:spTgt spid="15">
                                            <p:txEl>
                                              <p:pRg st="0" end="0"/>
                                            </p:txEl>
                                          </p:spTgt>
                                        </p:tgtEl>
                                      </p:cBhvr>
                                      <p:to x="100000" y="100000"/>
                                    </p:animScale>
                                  </p:childTnLst>
                                </p:cTn>
                              </p:par>
                            </p:childTnLst>
                          </p:cTn>
                        </p:par>
                      </p:childTnLst>
                    </p:cTn>
                  </p:par>
                  <p:par>
                    <p:cTn id="46" fill="hold">
                      <p:stCondLst>
                        <p:cond delay="indefinite"/>
                      </p:stCondLst>
                      <p:childTnLst>
                        <p:par>
                          <p:cTn id="47" fill="hold">
                            <p:stCondLst>
                              <p:cond delay="0"/>
                            </p:stCondLst>
                            <p:childTnLst>
                              <p:par>
                                <p:cTn id="48" presetID="26" presetClass="entr" presetSubtype="0"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wipe(down)">
                                      <p:cBhvr>
                                        <p:cTn id="50" dur="580">
                                          <p:stCondLst>
                                            <p:cond delay="0"/>
                                          </p:stCondLst>
                                        </p:cTn>
                                        <p:tgtEl>
                                          <p:spTgt spid="13"/>
                                        </p:tgtEl>
                                      </p:cBhvr>
                                    </p:animEffect>
                                    <p:anim calcmode="lin" valueType="num">
                                      <p:cBhvr>
                                        <p:cTn id="51" dur="1822" tmFilter="0,0; 0.14,0.36; 0.43,0.73; 0.71,0.91; 1.0,1.0">
                                          <p:stCondLst>
                                            <p:cond delay="0"/>
                                          </p:stCondLst>
                                        </p:cTn>
                                        <p:tgtEl>
                                          <p:spTgt spid="13"/>
                                        </p:tgtEl>
                                        <p:attrNameLst>
                                          <p:attrName>ppt_x</p:attrName>
                                        </p:attrNameLst>
                                      </p:cBhvr>
                                      <p:tavLst>
                                        <p:tav tm="0">
                                          <p:val>
                                            <p:strVal val="#ppt_x-0.25"/>
                                          </p:val>
                                        </p:tav>
                                        <p:tav tm="100000">
                                          <p:val>
                                            <p:strVal val="#ppt_x"/>
                                          </p:val>
                                        </p:tav>
                                      </p:tavLst>
                                    </p:anim>
                                    <p:anim calcmode="lin" valueType="num">
                                      <p:cBhvr>
                                        <p:cTn id="52" dur="664" tmFilter="0.0,0.0; 0.25,0.07; 0.50,0.2; 0.75,0.467; 1.0,1.0">
                                          <p:stCondLst>
                                            <p:cond delay="0"/>
                                          </p:stCondLst>
                                        </p:cTn>
                                        <p:tgtEl>
                                          <p:spTgt spid="13"/>
                                        </p:tgtEl>
                                        <p:attrNameLst>
                                          <p:attrName>ppt_y</p:attrName>
                                        </p:attrNameLst>
                                      </p:cBhvr>
                                      <p:tavLst>
                                        <p:tav tm="0" fmla="#ppt_y-sin(pi*$)/3">
                                          <p:val>
                                            <p:fltVal val="0.5"/>
                                          </p:val>
                                        </p:tav>
                                        <p:tav tm="100000">
                                          <p:val>
                                            <p:fltVal val="1"/>
                                          </p:val>
                                        </p:tav>
                                      </p:tavLst>
                                    </p:anim>
                                    <p:anim calcmode="lin" valueType="num">
                                      <p:cBhvr>
                                        <p:cTn id="53" dur="664" tmFilter="0, 0; 0.125,0.2665; 0.25,0.4; 0.375,0.465; 0.5,0.5;  0.625,0.535; 0.75,0.6; 0.875,0.7335; 1,1">
                                          <p:stCondLst>
                                            <p:cond delay="664"/>
                                          </p:stCondLst>
                                        </p:cTn>
                                        <p:tgtEl>
                                          <p:spTgt spid="13"/>
                                        </p:tgtEl>
                                        <p:attrNameLst>
                                          <p:attrName>ppt_y</p:attrName>
                                        </p:attrNameLst>
                                      </p:cBhvr>
                                      <p:tavLst>
                                        <p:tav tm="0" fmla="#ppt_y-sin(pi*$)/9">
                                          <p:val>
                                            <p:fltVal val="0"/>
                                          </p:val>
                                        </p:tav>
                                        <p:tav tm="100000">
                                          <p:val>
                                            <p:fltVal val="1"/>
                                          </p:val>
                                        </p:tav>
                                      </p:tavLst>
                                    </p:anim>
                                    <p:anim calcmode="lin" valueType="num">
                                      <p:cBhvr>
                                        <p:cTn id="54" dur="332" tmFilter="0, 0; 0.125,0.2665; 0.25,0.4; 0.375,0.465; 0.5,0.5;  0.625,0.535; 0.75,0.6; 0.875,0.7335; 1,1">
                                          <p:stCondLst>
                                            <p:cond delay="1324"/>
                                          </p:stCondLst>
                                        </p:cTn>
                                        <p:tgtEl>
                                          <p:spTgt spid="13"/>
                                        </p:tgtEl>
                                        <p:attrNameLst>
                                          <p:attrName>ppt_y</p:attrName>
                                        </p:attrNameLst>
                                      </p:cBhvr>
                                      <p:tavLst>
                                        <p:tav tm="0" fmla="#ppt_y-sin(pi*$)/27">
                                          <p:val>
                                            <p:fltVal val="0"/>
                                          </p:val>
                                        </p:tav>
                                        <p:tav tm="100000">
                                          <p:val>
                                            <p:fltVal val="1"/>
                                          </p:val>
                                        </p:tav>
                                      </p:tavLst>
                                    </p:anim>
                                    <p:anim calcmode="lin" valueType="num">
                                      <p:cBhvr>
                                        <p:cTn id="55" dur="164" tmFilter="0, 0; 0.125,0.2665; 0.25,0.4; 0.375,0.465; 0.5,0.5;  0.625,0.535; 0.75,0.6; 0.875,0.7335; 1,1">
                                          <p:stCondLst>
                                            <p:cond delay="1656"/>
                                          </p:stCondLst>
                                        </p:cTn>
                                        <p:tgtEl>
                                          <p:spTgt spid="13"/>
                                        </p:tgtEl>
                                        <p:attrNameLst>
                                          <p:attrName>ppt_y</p:attrName>
                                        </p:attrNameLst>
                                      </p:cBhvr>
                                      <p:tavLst>
                                        <p:tav tm="0" fmla="#ppt_y-sin(pi*$)/81">
                                          <p:val>
                                            <p:fltVal val="0"/>
                                          </p:val>
                                        </p:tav>
                                        <p:tav tm="100000">
                                          <p:val>
                                            <p:fltVal val="1"/>
                                          </p:val>
                                        </p:tav>
                                      </p:tavLst>
                                    </p:anim>
                                    <p:animScale>
                                      <p:cBhvr>
                                        <p:cTn id="56" dur="26">
                                          <p:stCondLst>
                                            <p:cond delay="650"/>
                                          </p:stCondLst>
                                        </p:cTn>
                                        <p:tgtEl>
                                          <p:spTgt spid="13"/>
                                        </p:tgtEl>
                                      </p:cBhvr>
                                      <p:to x="100000" y="60000"/>
                                    </p:animScale>
                                    <p:animScale>
                                      <p:cBhvr>
                                        <p:cTn id="57" dur="166" decel="50000">
                                          <p:stCondLst>
                                            <p:cond delay="676"/>
                                          </p:stCondLst>
                                        </p:cTn>
                                        <p:tgtEl>
                                          <p:spTgt spid="13"/>
                                        </p:tgtEl>
                                      </p:cBhvr>
                                      <p:to x="100000" y="100000"/>
                                    </p:animScale>
                                    <p:animScale>
                                      <p:cBhvr>
                                        <p:cTn id="58" dur="26">
                                          <p:stCondLst>
                                            <p:cond delay="1312"/>
                                          </p:stCondLst>
                                        </p:cTn>
                                        <p:tgtEl>
                                          <p:spTgt spid="13"/>
                                        </p:tgtEl>
                                      </p:cBhvr>
                                      <p:to x="100000" y="80000"/>
                                    </p:animScale>
                                    <p:animScale>
                                      <p:cBhvr>
                                        <p:cTn id="59" dur="166" decel="50000">
                                          <p:stCondLst>
                                            <p:cond delay="1338"/>
                                          </p:stCondLst>
                                        </p:cTn>
                                        <p:tgtEl>
                                          <p:spTgt spid="13"/>
                                        </p:tgtEl>
                                      </p:cBhvr>
                                      <p:to x="100000" y="100000"/>
                                    </p:animScale>
                                    <p:animScale>
                                      <p:cBhvr>
                                        <p:cTn id="60" dur="26">
                                          <p:stCondLst>
                                            <p:cond delay="1642"/>
                                          </p:stCondLst>
                                        </p:cTn>
                                        <p:tgtEl>
                                          <p:spTgt spid="13"/>
                                        </p:tgtEl>
                                      </p:cBhvr>
                                      <p:to x="100000" y="90000"/>
                                    </p:animScale>
                                    <p:animScale>
                                      <p:cBhvr>
                                        <p:cTn id="61" dur="166" decel="50000">
                                          <p:stCondLst>
                                            <p:cond delay="1668"/>
                                          </p:stCondLst>
                                        </p:cTn>
                                        <p:tgtEl>
                                          <p:spTgt spid="13"/>
                                        </p:tgtEl>
                                      </p:cBhvr>
                                      <p:to x="100000" y="100000"/>
                                    </p:animScale>
                                    <p:animScale>
                                      <p:cBhvr>
                                        <p:cTn id="62" dur="26">
                                          <p:stCondLst>
                                            <p:cond delay="1808"/>
                                          </p:stCondLst>
                                        </p:cTn>
                                        <p:tgtEl>
                                          <p:spTgt spid="13"/>
                                        </p:tgtEl>
                                      </p:cBhvr>
                                      <p:to x="100000" y="95000"/>
                                    </p:animScale>
                                    <p:animScale>
                                      <p:cBhvr>
                                        <p:cTn id="63" dur="166" decel="50000">
                                          <p:stCondLst>
                                            <p:cond delay="1834"/>
                                          </p:stCondLst>
                                        </p:cTn>
                                        <p:tgtEl>
                                          <p:spTgt spid="1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build="allAtOnce"/>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15616" y="938504"/>
            <a:ext cx="6794605" cy="3703059"/>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2" name="Title 1"/>
          <p:cNvSpPr>
            <a:spLocks noGrp="1"/>
          </p:cNvSpPr>
          <p:nvPr>
            <p:ph type="title"/>
          </p:nvPr>
        </p:nvSpPr>
        <p:spPr/>
        <p:txBody>
          <a:bodyPr/>
          <a:lstStyle/>
          <a:p>
            <a:r>
              <a:rPr lang="en-US" dirty="0"/>
              <a:t>A Miracle Happened…</a:t>
            </a:r>
          </a:p>
        </p:txBody>
      </p:sp>
      <p:pic>
        <p:nvPicPr>
          <p:cNvPr id="5" name="Picture 4"/>
          <p:cNvPicPr>
            <a:picLocks noChangeAspect="1"/>
          </p:cNvPicPr>
          <p:nvPr/>
        </p:nvPicPr>
        <p:blipFill rotWithShape="1">
          <a:blip r:embed="rId4">
            <a:extLst>
              <a:ext uri="{28A0092B-C50C-407E-A947-70E740481C1C}">
                <a14:useLocalDpi xmlns:a14="http://schemas.microsoft.com/office/drawing/2010/main" val="0"/>
              </a:ext>
            </a:extLst>
          </a:blip>
          <a:srcRect b="13228"/>
          <a:stretch/>
        </p:blipFill>
        <p:spPr>
          <a:xfrm>
            <a:off x="612592" y="938504"/>
            <a:ext cx="4855550" cy="2481796"/>
          </a:xfrm>
          <a:prstGeom prst="rect">
            <a:avLst/>
          </a:prstGeom>
          <a:noFill/>
          <a:ln>
            <a:noFill/>
          </a:ln>
          <a:effectLst>
            <a:outerShdw blurRad="50800" dist="101600" dir="2700000" algn="tl" rotWithShape="0">
              <a:prstClr val="black">
                <a:alpha val="40000"/>
              </a:prstClr>
            </a:outerShdw>
          </a:effectLst>
        </p:spPr>
      </p:pic>
      <p:pic>
        <p:nvPicPr>
          <p:cNvPr id="6" name="Picture 5"/>
          <p:cNvPicPr>
            <a:picLocks noChangeAspect="1"/>
          </p:cNvPicPr>
          <p:nvPr/>
        </p:nvPicPr>
        <p:blipFill rotWithShape="1">
          <a:blip r:embed="rId5">
            <a:extLst>
              <a:ext uri="{28A0092B-C50C-407E-A947-70E740481C1C}">
                <a14:useLocalDpi xmlns:a14="http://schemas.microsoft.com/office/drawing/2010/main" val="0"/>
              </a:ext>
            </a:extLst>
          </a:blip>
          <a:srcRect l="1345" r="8535"/>
          <a:stretch/>
        </p:blipFill>
        <p:spPr>
          <a:xfrm>
            <a:off x="767207" y="2105488"/>
            <a:ext cx="3719622" cy="2631587"/>
          </a:xfrm>
          <a:prstGeom prst="rect">
            <a:avLst/>
          </a:prstGeom>
          <a:noFill/>
          <a:ln>
            <a:noFill/>
          </a:ln>
          <a:effectLst>
            <a:outerShdw blurRad="50800" dist="101600" dir="2700000" algn="tl" rotWithShape="0">
              <a:prstClr val="black">
                <a:alpha val="40000"/>
              </a:prstClr>
            </a:outerShdw>
          </a:effectLst>
        </p:spPr>
      </p:pic>
      <p:pic>
        <p:nvPicPr>
          <p:cNvPr id="9" name="Picture 8"/>
          <p:cNvPicPr>
            <a:picLocks noChangeAspect="1"/>
          </p:cNvPicPr>
          <p:nvPr/>
        </p:nvPicPr>
        <p:blipFill rotWithShape="1">
          <a:blip r:embed="rId6">
            <a:extLst>
              <a:ext uri="{28A0092B-C50C-407E-A947-70E740481C1C}">
                <a14:useLocalDpi xmlns:a14="http://schemas.microsoft.com/office/drawing/2010/main" val="0"/>
              </a:ext>
            </a:extLst>
          </a:blip>
          <a:srcRect l="1503" t="1490" r="3105" b="2147"/>
          <a:stretch/>
        </p:blipFill>
        <p:spPr>
          <a:xfrm>
            <a:off x="3923928" y="852043"/>
            <a:ext cx="4795358" cy="3956170"/>
          </a:xfrm>
          <a:prstGeom prst="rect">
            <a:avLst/>
          </a:prstGeom>
          <a:noFill/>
          <a:ln>
            <a:noFill/>
          </a:ln>
          <a:effectLst>
            <a:outerShdw blurRad="50800" dist="101600" dir="2700000" algn="tl" rotWithShape="0">
              <a:prstClr val="black">
                <a:alpha val="40000"/>
              </a:prstClr>
            </a:outerShdw>
          </a:effectLst>
        </p:spPr>
      </p:pic>
      <p:pic>
        <p:nvPicPr>
          <p:cNvPr id="10" name="Picture 9"/>
          <p:cNvPicPr>
            <a:picLocks noChangeAspect="1"/>
          </p:cNvPicPr>
          <p:nvPr/>
        </p:nvPicPr>
        <p:blipFill rotWithShape="1">
          <a:blip r:embed="rId7">
            <a:extLst>
              <a:ext uri="{28A0092B-C50C-407E-A947-70E740481C1C}">
                <a14:useLocalDpi xmlns:a14="http://schemas.microsoft.com/office/drawing/2010/main" val="0"/>
              </a:ext>
            </a:extLst>
          </a:blip>
          <a:srcRect b="18279"/>
          <a:stretch/>
        </p:blipFill>
        <p:spPr>
          <a:xfrm>
            <a:off x="1382409" y="852043"/>
            <a:ext cx="6345225" cy="3853134"/>
          </a:xfrm>
          <a:prstGeom prst="rect">
            <a:avLst/>
          </a:prstGeom>
          <a:noFill/>
          <a:ln>
            <a:noFill/>
          </a:ln>
          <a:effectLst>
            <a:outerShdw blurRad="50800" dist="101600" dir="2700000" algn="tl" rotWithShape="0">
              <a:prstClr val="black">
                <a:alpha val="40000"/>
              </a:prstClr>
            </a:outerShdw>
          </a:effectLst>
        </p:spPr>
      </p:pic>
      <p:pic>
        <p:nvPicPr>
          <p:cNvPr id="7" name="Picture 6"/>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37754" y="742336"/>
            <a:ext cx="7415792" cy="4152844"/>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pic>
        <p:nvPicPr>
          <p:cNvPr id="8" name="Picture 7"/>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58595" y="745671"/>
            <a:ext cx="8434580" cy="4065877"/>
          </a:xfrm>
          <a:prstGeom prst="rect">
            <a:avLst/>
          </a:prstGeom>
        </p:spPr>
      </p:pic>
      <p:pic>
        <p:nvPicPr>
          <p:cNvPr id="3" name="Picture 2"/>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95361" y="698438"/>
            <a:ext cx="5828967" cy="4263379"/>
          </a:xfrm>
          <a:prstGeom prst="rect">
            <a:avLst/>
          </a:prstGeom>
        </p:spPr>
      </p:pic>
    </p:spTree>
    <p:extLst>
      <p:ext uri="{BB962C8B-B14F-4D97-AF65-F5344CB8AC3E}">
        <p14:creationId xmlns:p14="http://schemas.microsoft.com/office/powerpoint/2010/main" val="34618358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0"/>
                                        <p:tgtEl>
                                          <p:spTgt spid="4"/>
                                        </p:tgtEl>
                                      </p:cBhvr>
                                    </p:animEffect>
                                    <p:anim calcmode="lin" valueType="num">
                                      <p:cBhvr>
                                        <p:cTn id="8" dur="2000" fill="hold"/>
                                        <p:tgtEl>
                                          <p:spTgt spid="4"/>
                                        </p:tgtEl>
                                        <p:attrNameLst>
                                          <p:attrName>ppt_w</p:attrName>
                                        </p:attrNameLst>
                                      </p:cBhvr>
                                      <p:tavLst>
                                        <p:tav tm="0" fmla="#ppt_w*sin(2.5*pi*$)">
                                          <p:val>
                                            <p:fltVal val="0"/>
                                          </p:val>
                                        </p:tav>
                                        <p:tav tm="100000">
                                          <p:val>
                                            <p:fltVal val="1"/>
                                          </p:val>
                                        </p:tav>
                                      </p:tavLst>
                                    </p:anim>
                                    <p:anim calcmode="lin" valueType="num">
                                      <p:cBhvr>
                                        <p:cTn id="9" dur="2000" fill="hold"/>
                                        <p:tgtEl>
                                          <p:spTgt spid="4"/>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6" presetClass="entr" presetSubtype="16" fill="hold"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circle(in)">
                                      <p:cBhvr>
                                        <p:cTn id="14" dur="20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6" presetClass="entr" presetSubtype="16"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circle(in)">
                                      <p:cBhvr>
                                        <p:cTn id="19" dur="20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6" presetClass="entr" presetSubtype="16"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circle(in)">
                                      <p:cBhvr>
                                        <p:cTn id="24" dur="2000"/>
                                        <p:tgtEl>
                                          <p:spTgt spid="9"/>
                                        </p:tgtEl>
                                      </p:cBhvr>
                                    </p:animEffect>
                                  </p:childTnLst>
                                </p:cTn>
                              </p:par>
                            </p:childTnLst>
                          </p:cTn>
                        </p:par>
                      </p:childTnLst>
                    </p:cTn>
                  </p:par>
                  <p:par>
                    <p:cTn id="25" fill="hold">
                      <p:stCondLst>
                        <p:cond delay="indefinite"/>
                      </p:stCondLst>
                      <p:childTnLst>
                        <p:par>
                          <p:cTn id="26" fill="hold">
                            <p:stCondLst>
                              <p:cond delay="0"/>
                            </p:stCondLst>
                            <p:childTnLst>
                              <p:par>
                                <p:cTn id="27" presetID="6" presetClass="entr" presetSubtype="16"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circle(in)">
                                      <p:cBhvr>
                                        <p:cTn id="29" dur="20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1000"/>
                                        <p:tgtEl>
                                          <p:spTgt spid="7"/>
                                        </p:tgtEl>
                                      </p:cBhvr>
                                    </p:animEffect>
                                    <p:anim calcmode="lin" valueType="num">
                                      <p:cBhvr>
                                        <p:cTn id="35" dur="1000" fill="hold"/>
                                        <p:tgtEl>
                                          <p:spTgt spid="7"/>
                                        </p:tgtEl>
                                        <p:attrNameLst>
                                          <p:attrName>ppt_x</p:attrName>
                                        </p:attrNameLst>
                                      </p:cBhvr>
                                      <p:tavLst>
                                        <p:tav tm="0">
                                          <p:val>
                                            <p:strVal val="#ppt_x"/>
                                          </p:val>
                                        </p:tav>
                                        <p:tav tm="100000">
                                          <p:val>
                                            <p:strVal val="#ppt_x"/>
                                          </p:val>
                                        </p:tav>
                                      </p:tavLst>
                                    </p:anim>
                                    <p:anim calcmode="lin" valueType="num">
                                      <p:cBhvr>
                                        <p:cTn id="3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31" presetClass="entr" presetSubtype="0" fill="hold" nodeType="clickEffect">
                                  <p:stCondLst>
                                    <p:cond delay="0"/>
                                  </p:stCondLst>
                                  <p:childTnLst>
                                    <p:set>
                                      <p:cBhvr>
                                        <p:cTn id="40" dur="1" fill="hold">
                                          <p:stCondLst>
                                            <p:cond delay="0"/>
                                          </p:stCondLst>
                                        </p:cTn>
                                        <p:tgtEl>
                                          <p:spTgt spid="8"/>
                                        </p:tgtEl>
                                        <p:attrNameLst>
                                          <p:attrName>style.visibility</p:attrName>
                                        </p:attrNameLst>
                                      </p:cBhvr>
                                      <p:to>
                                        <p:strVal val="visible"/>
                                      </p:to>
                                    </p:set>
                                    <p:anim calcmode="lin" valueType="num">
                                      <p:cBhvr>
                                        <p:cTn id="41" dur="1000" fill="hold"/>
                                        <p:tgtEl>
                                          <p:spTgt spid="8"/>
                                        </p:tgtEl>
                                        <p:attrNameLst>
                                          <p:attrName>ppt_w</p:attrName>
                                        </p:attrNameLst>
                                      </p:cBhvr>
                                      <p:tavLst>
                                        <p:tav tm="0">
                                          <p:val>
                                            <p:fltVal val="0"/>
                                          </p:val>
                                        </p:tav>
                                        <p:tav tm="100000">
                                          <p:val>
                                            <p:strVal val="#ppt_w"/>
                                          </p:val>
                                        </p:tav>
                                      </p:tavLst>
                                    </p:anim>
                                    <p:anim calcmode="lin" valueType="num">
                                      <p:cBhvr>
                                        <p:cTn id="42" dur="1000" fill="hold"/>
                                        <p:tgtEl>
                                          <p:spTgt spid="8"/>
                                        </p:tgtEl>
                                        <p:attrNameLst>
                                          <p:attrName>ppt_h</p:attrName>
                                        </p:attrNameLst>
                                      </p:cBhvr>
                                      <p:tavLst>
                                        <p:tav tm="0">
                                          <p:val>
                                            <p:fltVal val="0"/>
                                          </p:val>
                                        </p:tav>
                                        <p:tav tm="100000">
                                          <p:val>
                                            <p:strVal val="#ppt_h"/>
                                          </p:val>
                                        </p:tav>
                                      </p:tavLst>
                                    </p:anim>
                                    <p:anim calcmode="lin" valueType="num">
                                      <p:cBhvr>
                                        <p:cTn id="43" dur="1000" fill="hold"/>
                                        <p:tgtEl>
                                          <p:spTgt spid="8"/>
                                        </p:tgtEl>
                                        <p:attrNameLst>
                                          <p:attrName>style.rotation</p:attrName>
                                        </p:attrNameLst>
                                      </p:cBhvr>
                                      <p:tavLst>
                                        <p:tav tm="0">
                                          <p:val>
                                            <p:fltVal val="90"/>
                                          </p:val>
                                        </p:tav>
                                        <p:tav tm="100000">
                                          <p:val>
                                            <p:fltVal val="0"/>
                                          </p:val>
                                        </p:tav>
                                      </p:tavLst>
                                    </p:anim>
                                    <p:animEffect transition="in" filter="fade">
                                      <p:cBhvr>
                                        <p:cTn id="44" dur="1000"/>
                                        <p:tgtEl>
                                          <p:spTgt spid="8"/>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nodeType="clickEffect">
                                  <p:stCondLst>
                                    <p:cond delay="0"/>
                                  </p:stCondLst>
                                  <p:childTnLst>
                                    <p:set>
                                      <p:cBhvr>
                                        <p:cTn id="48" dur="1" fill="hold">
                                          <p:stCondLst>
                                            <p:cond delay="0"/>
                                          </p:stCondLst>
                                        </p:cTn>
                                        <p:tgtEl>
                                          <p:spTgt spid="3"/>
                                        </p:tgtEl>
                                        <p:attrNameLst>
                                          <p:attrName>style.visibility</p:attrName>
                                        </p:attrNameLst>
                                      </p:cBhvr>
                                      <p:to>
                                        <p:strVal val="visible"/>
                                      </p:to>
                                    </p:set>
                                    <p:anim calcmode="lin" valueType="num">
                                      <p:cBhvr>
                                        <p:cTn id="49" dur="500" fill="hold"/>
                                        <p:tgtEl>
                                          <p:spTgt spid="3"/>
                                        </p:tgtEl>
                                        <p:attrNameLst>
                                          <p:attrName>ppt_w</p:attrName>
                                        </p:attrNameLst>
                                      </p:cBhvr>
                                      <p:tavLst>
                                        <p:tav tm="0">
                                          <p:val>
                                            <p:fltVal val="0"/>
                                          </p:val>
                                        </p:tav>
                                        <p:tav tm="100000">
                                          <p:val>
                                            <p:strVal val="#ppt_w"/>
                                          </p:val>
                                        </p:tav>
                                      </p:tavLst>
                                    </p:anim>
                                    <p:anim calcmode="lin" valueType="num">
                                      <p:cBhvr>
                                        <p:cTn id="50" dur="500" fill="hold"/>
                                        <p:tgtEl>
                                          <p:spTgt spid="3"/>
                                        </p:tgtEl>
                                        <p:attrNameLst>
                                          <p:attrName>ppt_h</p:attrName>
                                        </p:attrNameLst>
                                      </p:cBhvr>
                                      <p:tavLst>
                                        <p:tav tm="0">
                                          <p:val>
                                            <p:fltVal val="0"/>
                                          </p:val>
                                        </p:tav>
                                        <p:tav tm="100000">
                                          <p:val>
                                            <p:strVal val="#ppt_h"/>
                                          </p:val>
                                        </p:tav>
                                      </p:tavLst>
                                    </p:anim>
                                    <p:animEffect transition="in" filter="fade">
                                      <p:cBhvr>
                                        <p:cTn id="5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162" dirty="0"/>
              <a:t>Linux in System Center: increasing momentum</a:t>
            </a:r>
          </a:p>
        </p:txBody>
      </p:sp>
      <p:sp>
        <p:nvSpPr>
          <p:cNvPr id="26" name="TextBox 25"/>
          <p:cNvSpPr txBox="1"/>
          <p:nvPr/>
        </p:nvSpPr>
        <p:spPr>
          <a:xfrm>
            <a:off x="346300" y="1649298"/>
            <a:ext cx="2078520" cy="296107"/>
          </a:xfrm>
          <a:prstGeom prst="rect">
            <a:avLst/>
          </a:prstGeom>
          <a:noFill/>
        </p:spPr>
        <p:txBody>
          <a:bodyPr wrap="square" lIns="0" rIns="0" rtlCol="0">
            <a:spAutoFit/>
          </a:bodyPr>
          <a:lstStyle>
            <a:defPPr>
              <a:defRPr lang="en-US"/>
            </a:defPPr>
            <a:lvl1pPr algn="r">
              <a:defRPr sz="1836">
                <a:gradFill>
                  <a:gsLst>
                    <a:gs pos="18000">
                      <a:schemeClr val="bg2"/>
                    </a:gs>
                    <a:gs pos="46000">
                      <a:schemeClr val="bg2"/>
                    </a:gs>
                  </a:gsLst>
                  <a:lin ang="5400000" scaled="0"/>
                </a:gradFill>
              </a:defRPr>
            </a:lvl1pPr>
          </a:lstStyle>
          <a:p>
            <a:pPr algn="l"/>
            <a:r>
              <a:rPr lang="en-US" sz="1324" dirty="0"/>
              <a:t>Linux/UNIX In </a:t>
            </a:r>
            <a:r>
              <a:rPr lang="en-US" sz="1324" dirty="0" err="1"/>
              <a:t>OpsMgr</a:t>
            </a:r>
            <a:endParaRPr lang="en-US" sz="1324" dirty="0"/>
          </a:p>
        </p:txBody>
      </p:sp>
      <p:grpSp>
        <p:nvGrpSpPr>
          <p:cNvPr id="87" name="Group 86"/>
          <p:cNvGrpSpPr/>
          <p:nvPr/>
        </p:nvGrpSpPr>
        <p:grpSpPr>
          <a:xfrm>
            <a:off x="346299" y="1894312"/>
            <a:ext cx="8471681" cy="268927"/>
            <a:chOff x="470991" y="2575899"/>
            <a:chExt cx="11522074" cy="365760"/>
          </a:xfrm>
        </p:grpSpPr>
        <p:sp>
          <p:nvSpPr>
            <p:cNvPr id="19" name="Rectangle 18"/>
            <p:cNvSpPr/>
            <p:nvPr/>
          </p:nvSpPr>
          <p:spPr bwMode="auto">
            <a:xfrm>
              <a:off x="470991" y="2575899"/>
              <a:ext cx="2082800" cy="3657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592" fontAlgn="base">
                <a:spcBef>
                  <a:spcPct val="0"/>
                </a:spcBef>
                <a:spcAft>
                  <a:spcPct val="0"/>
                </a:spcAft>
              </a:pPr>
              <a:endParaRPr lang="en-US" sz="1471" dirty="0">
                <a:gradFill>
                  <a:gsLst>
                    <a:gs pos="16814">
                      <a:srgbClr val="FFFFFF"/>
                    </a:gs>
                    <a:gs pos="46000">
                      <a:srgbClr val="FFFFFF"/>
                    </a:gs>
                  </a:gsLst>
                  <a:lin ang="5400000" scaled="0"/>
                </a:gradFill>
              </a:endParaRPr>
            </a:p>
          </p:txBody>
        </p:sp>
        <p:sp>
          <p:nvSpPr>
            <p:cNvPr id="17" name="Pentagon 16"/>
            <p:cNvSpPr/>
            <p:nvPr/>
          </p:nvSpPr>
          <p:spPr bwMode="auto">
            <a:xfrm>
              <a:off x="2460129" y="2575899"/>
              <a:ext cx="9532936" cy="3657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592" fontAlgn="base">
                <a:spcBef>
                  <a:spcPct val="0"/>
                </a:spcBef>
                <a:spcAft>
                  <a:spcPct val="0"/>
                </a:spcAft>
              </a:pPr>
              <a:endParaRPr lang="en-US" sz="1471" dirty="0">
                <a:gradFill>
                  <a:gsLst>
                    <a:gs pos="16814">
                      <a:srgbClr val="FFFFFF"/>
                    </a:gs>
                    <a:gs pos="46000">
                      <a:srgbClr val="FFFFFF"/>
                    </a:gs>
                  </a:gsLst>
                  <a:lin ang="5400000" scaled="0"/>
                </a:gradFill>
              </a:endParaRPr>
            </a:p>
          </p:txBody>
        </p:sp>
      </p:grpSp>
      <p:sp>
        <p:nvSpPr>
          <p:cNvPr id="31" name="TextBox 30"/>
          <p:cNvSpPr txBox="1"/>
          <p:nvPr/>
        </p:nvSpPr>
        <p:spPr>
          <a:xfrm>
            <a:off x="580926" y="4252548"/>
            <a:ext cx="1950342" cy="167813"/>
          </a:xfrm>
          <a:prstGeom prst="rect">
            <a:avLst/>
          </a:prstGeom>
          <a:noFill/>
        </p:spPr>
        <p:txBody>
          <a:bodyPr wrap="square" rtlCol="0" anchor="ctr" anchorCtr="0">
            <a:noAutofit/>
          </a:bodyPr>
          <a:lstStyle/>
          <a:p>
            <a:r>
              <a:rPr lang="en-US" sz="1029" dirty="0">
                <a:gradFill>
                  <a:gsLst>
                    <a:gs pos="18000">
                      <a:schemeClr val="bg2"/>
                    </a:gs>
                    <a:gs pos="46000">
                      <a:schemeClr val="bg2"/>
                    </a:gs>
                  </a:gsLst>
                  <a:lin ang="5400000" scaled="0"/>
                </a:gradFill>
              </a:rPr>
              <a:t>Initial development</a:t>
            </a:r>
          </a:p>
        </p:txBody>
      </p:sp>
      <p:grpSp>
        <p:nvGrpSpPr>
          <p:cNvPr id="20" name="Group 19"/>
          <p:cNvGrpSpPr/>
          <p:nvPr/>
        </p:nvGrpSpPr>
        <p:grpSpPr>
          <a:xfrm>
            <a:off x="336161" y="896522"/>
            <a:ext cx="8480705" cy="754273"/>
            <a:chOff x="727769" y="1256936"/>
            <a:chExt cx="11263779" cy="1025864"/>
          </a:xfrm>
        </p:grpSpPr>
        <p:sp>
          <p:nvSpPr>
            <p:cNvPr id="3" name="Right Arrow 2"/>
            <p:cNvSpPr/>
            <p:nvPr/>
          </p:nvSpPr>
          <p:spPr bwMode="auto">
            <a:xfrm>
              <a:off x="727769" y="1256936"/>
              <a:ext cx="1554480" cy="1025864"/>
            </a:xfrm>
            <a:prstGeom prst="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2008</a:t>
              </a:r>
            </a:p>
          </p:txBody>
        </p:sp>
        <p:sp>
          <p:nvSpPr>
            <p:cNvPr id="4" name="Notched Right Arrow 3"/>
            <p:cNvSpPr/>
            <p:nvPr/>
          </p:nvSpPr>
          <p:spPr bwMode="auto">
            <a:xfrm>
              <a:off x="2114812"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2009</a:t>
              </a:r>
            </a:p>
          </p:txBody>
        </p:sp>
        <p:sp>
          <p:nvSpPr>
            <p:cNvPr id="5" name="Notched Right Arrow 4"/>
            <p:cNvSpPr/>
            <p:nvPr/>
          </p:nvSpPr>
          <p:spPr bwMode="auto">
            <a:xfrm>
              <a:off x="3501855"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2010</a:t>
              </a:r>
            </a:p>
          </p:txBody>
        </p:sp>
        <p:sp>
          <p:nvSpPr>
            <p:cNvPr id="6" name="Notched Right Arrow 5"/>
            <p:cNvSpPr/>
            <p:nvPr/>
          </p:nvSpPr>
          <p:spPr bwMode="auto">
            <a:xfrm>
              <a:off x="4888898"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2011</a:t>
              </a:r>
            </a:p>
          </p:txBody>
        </p:sp>
        <p:sp>
          <p:nvSpPr>
            <p:cNvPr id="7" name="Notched Right Arrow 6"/>
            <p:cNvSpPr/>
            <p:nvPr/>
          </p:nvSpPr>
          <p:spPr bwMode="auto">
            <a:xfrm>
              <a:off x="6275941"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2012</a:t>
              </a:r>
            </a:p>
          </p:txBody>
        </p:sp>
        <p:sp>
          <p:nvSpPr>
            <p:cNvPr id="14" name="Notched Right Arrow 13"/>
            <p:cNvSpPr/>
            <p:nvPr/>
          </p:nvSpPr>
          <p:spPr bwMode="auto">
            <a:xfrm>
              <a:off x="7662984"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2013</a:t>
              </a:r>
            </a:p>
          </p:txBody>
        </p:sp>
        <p:sp>
          <p:nvSpPr>
            <p:cNvPr id="37" name="Notched Right Arrow 36"/>
            <p:cNvSpPr/>
            <p:nvPr/>
          </p:nvSpPr>
          <p:spPr bwMode="auto">
            <a:xfrm>
              <a:off x="10437068"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2015</a:t>
              </a:r>
            </a:p>
          </p:txBody>
        </p:sp>
        <p:sp>
          <p:nvSpPr>
            <p:cNvPr id="49" name="Notched Right Arrow 48"/>
            <p:cNvSpPr/>
            <p:nvPr/>
          </p:nvSpPr>
          <p:spPr bwMode="auto">
            <a:xfrm>
              <a:off x="9050027" y="1256936"/>
              <a:ext cx="1554480" cy="1025864"/>
            </a:xfrm>
            <a:prstGeom prst="notchedRightArrow">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wrap="square" lIns="68567" tIns="34284" rIns="68567" bIns="34284" numCol="1" rtlCol="0" anchor="ctr" anchorCtr="0" compatLnSpc="1">
              <a:prstTxWarp prst="textNoShape">
                <a:avLst/>
              </a:prstTxWarp>
            </a:bodyPr>
            <a:lstStyle/>
            <a:p>
              <a:pPr algn="ctr" defTabSz="685513" fontAlgn="base">
                <a:spcBef>
                  <a:spcPct val="0"/>
                </a:spcBef>
                <a:spcAft>
                  <a:spcPct val="0"/>
                </a:spcAft>
              </a:pPr>
              <a:r>
                <a:rPr lang="en-US" sz="1765" dirty="0">
                  <a:solidFill>
                    <a:srgbClr val="FFFFFF"/>
                  </a:solidFill>
                  <a:latin typeface="Segoe UI Semilight" panose="020B0402040204020203" pitchFamily="34" charset="0"/>
                  <a:cs typeface="Segoe UI Semilight" panose="020B0402040204020203" pitchFamily="34" charset="0"/>
                </a:rPr>
                <a:t>2014</a:t>
              </a:r>
            </a:p>
          </p:txBody>
        </p:sp>
      </p:grpSp>
      <p:sp>
        <p:nvSpPr>
          <p:cNvPr id="54" name="TextBox 53"/>
          <p:cNvSpPr txBox="1"/>
          <p:nvPr/>
        </p:nvSpPr>
        <p:spPr>
          <a:xfrm>
            <a:off x="8273868" y="4686900"/>
            <a:ext cx="614271" cy="253916"/>
          </a:xfrm>
          <a:prstGeom prst="rect">
            <a:avLst/>
          </a:prstGeom>
          <a:noFill/>
        </p:spPr>
        <p:txBody>
          <a:bodyPr wrap="none" rtlCol="0">
            <a:spAutoFit/>
          </a:bodyPr>
          <a:lstStyle/>
          <a:p>
            <a:r>
              <a:rPr lang="en-US" sz="1050" i="1" dirty="0"/>
              <a:t>Preview</a:t>
            </a:r>
          </a:p>
        </p:txBody>
      </p:sp>
      <p:grpSp>
        <p:nvGrpSpPr>
          <p:cNvPr id="85" name="Group 84"/>
          <p:cNvGrpSpPr/>
          <p:nvPr/>
        </p:nvGrpSpPr>
        <p:grpSpPr>
          <a:xfrm>
            <a:off x="1307287" y="2327489"/>
            <a:ext cx="7510694" cy="311766"/>
            <a:chOff x="1757877" y="3260142"/>
            <a:chExt cx="10215065" cy="424024"/>
          </a:xfrm>
        </p:grpSpPr>
        <p:sp>
          <p:nvSpPr>
            <p:cNvPr id="27" name="TextBox 26"/>
            <p:cNvSpPr txBox="1"/>
            <p:nvPr/>
          </p:nvSpPr>
          <p:spPr>
            <a:xfrm>
              <a:off x="1757877" y="3281439"/>
              <a:ext cx="2153719" cy="402727"/>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JEE in </a:t>
              </a:r>
              <a:r>
                <a:rPr lang="en-US" sz="1324" dirty="0" err="1"/>
                <a:t>OpsMgr</a:t>
              </a:r>
              <a:endParaRPr lang="en-US" sz="1324" dirty="0"/>
            </a:p>
          </p:txBody>
        </p:sp>
        <p:grpSp>
          <p:nvGrpSpPr>
            <p:cNvPr id="55" name="Group 54"/>
            <p:cNvGrpSpPr/>
            <p:nvPr/>
          </p:nvGrpSpPr>
          <p:grpSpPr>
            <a:xfrm>
              <a:off x="3911599" y="3260142"/>
              <a:ext cx="8061343" cy="365760"/>
              <a:chOff x="3917930" y="2398099"/>
              <a:chExt cx="8061344" cy="421460"/>
            </a:xfrm>
          </p:grpSpPr>
          <p:sp>
            <p:nvSpPr>
              <p:cNvPr id="56" name="Rectangle 55"/>
              <p:cNvSpPr/>
              <p:nvPr/>
            </p:nvSpPr>
            <p:spPr bwMode="auto">
              <a:xfrm>
                <a:off x="3917930" y="2398099"/>
                <a:ext cx="2837788"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57" name="Pentagon 56"/>
              <p:cNvSpPr/>
              <p:nvPr/>
            </p:nvSpPr>
            <p:spPr bwMode="auto">
              <a:xfrm>
                <a:off x="6755721" y="2398099"/>
                <a:ext cx="5223553" cy="4214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grpSp>
        <p:nvGrpSpPr>
          <p:cNvPr id="84" name="Group 83"/>
          <p:cNvGrpSpPr/>
          <p:nvPr/>
        </p:nvGrpSpPr>
        <p:grpSpPr>
          <a:xfrm>
            <a:off x="1101856" y="2760664"/>
            <a:ext cx="7716124" cy="311766"/>
            <a:chOff x="1461854" y="3876569"/>
            <a:chExt cx="10494464" cy="424024"/>
          </a:xfrm>
        </p:grpSpPr>
        <p:sp>
          <p:nvSpPr>
            <p:cNvPr id="28" name="TextBox 27"/>
            <p:cNvSpPr txBox="1"/>
            <p:nvPr/>
          </p:nvSpPr>
          <p:spPr>
            <a:xfrm>
              <a:off x="1461854" y="3897866"/>
              <a:ext cx="3411266" cy="402727"/>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Linux/UNIX in </a:t>
              </a:r>
              <a:r>
                <a:rPr lang="en-US" sz="1324" dirty="0" err="1"/>
                <a:t>ConfigMgr</a:t>
              </a:r>
              <a:endParaRPr lang="en-US" sz="1324" dirty="0"/>
            </a:p>
          </p:txBody>
        </p:sp>
        <p:grpSp>
          <p:nvGrpSpPr>
            <p:cNvPr id="60" name="Group 59"/>
            <p:cNvGrpSpPr/>
            <p:nvPr/>
          </p:nvGrpSpPr>
          <p:grpSpPr>
            <a:xfrm>
              <a:off x="4873119" y="3876569"/>
              <a:ext cx="7083199" cy="365760"/>
              <a:chOff x="4896074" y="2398099"/>
              <a:chExt cx="7083200" cy="421460"/>
            </a:xfrm>
          </p:grpSpPr>
          <p:sp>
            <p:nvSpPr>
              <p:cNvPr id="61" name="Rectangle 60"/>
              <p:cNvSpPr/>
              <p:nvPr/>
            </p:nvSpPr>
            <p:spPr bwMode="auto">
              <a:xfrm>
                <a:off x="4896074" y="2398099"/>
                <a:ext cx="2934908"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62" name="Pentagon 61"/>
              <p:cNvSpPr/>
              <p:nvPr/>
            </p:nvSpPr>
            <p:spPr bwMode="auto">
              <a:xfrm>
                <a:off x="7718689" y="2398099"/>
                <a:ext cx="4260585" cy="4214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grpSp>
        <p:nvGrpSpPr>
          <p:cNvPr id="83" name="Group 82"/>
          <p:cNvGrpSpPr/>
          <p:nvPr/>
        </p:nvGrpSpPr>
        <p:grpSpPr>
          <a:xfrm>
            <a:off x="1380491" y="3193840"/>
            <a:ext cx="7437490" cy="311766"/>
            <a:chOff x="1840815" y="4469405"/>
            <a:chExt cx="10115503" cy="424024"/>
          </a:xfrm>
        </p:grpSpPr>
        <p:sp>
          <p:nvSpPr>
            <p:cNvPr id="43" name="TextBox 42"/>
            <p:cNvSpPr txBox="1"/>
            <p:nvPr/>
          </p:nvSpPr>
          <p:spPr>
            <a:xfrm>
              <a:off x="1840815" y="4490702"/>
              <a:ext cx="4516853" cy="402727"/>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Linux Endpoint Protection in ConfigMgr</a:t>
              </a:r>
            </a:p>
          </p:txBody>
        </p:sp>
        <p:grpSp>
          <p:nvGrpSpPr>
            <p:cNvPr id="65" name="Group 64"/>
            <p:cNvGrpSpPr/>
            <p:nvPr/>
          </p:nvGrpSpPr>
          <p:grpSpPr>
            <a:xfrm>
              <a:off x="6357668" y="4469405"/>
              <a:ext cx="5598650" cy="365760"/>
              <a:chOff x="6380623" y="2398099"/>
              <a:chExt cx="5598651" cy="421460"/>
            </a:xfrm>
          </p:grpSpPr>
          <p:sp>
            <p:nvSpPr>
              <p:cNvPr id="66" name="Rectangle 65"/>
              <p:cNvSpPr/>
              <p:nvPr/>
            </p:nvSpPr>
            <p:spPr bwMode="auto">
              <a:xfrm>
                <a:off x="6380623" y="2398099"/>
                <a:ext cx="974202"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67" name="Pentagon 66"/>
              <p:cNvSpPr/>
              <p:nvPr/>
            </p:nvSpPr>
            <p:spPr bwMode="auto">
              <a:xfrm>
                <a:off x="7331908" y="2398099"/>
                <a:ext cx="4647366" cy="4214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grpSp>
        <p:nvGrpSpPr>
          <p:cNvPr id="82" name="Group 81"/>
          <p:cNvGrpSpPr/>
          <p:nvPr/>
        </p:nvGrpSpPr>
        <p:grpSpPr>
          <a:xfrm>
            <a:off x="3469152" y="3627009"/>
            <a:ext cx="5348829" cy="311765"/>
            <a:chOff x="4696201" y="5092994"/>
            <a:chExt cx="7274779" cy="424023"/>
          </a:xfrm>
        </p:grpSpPr>
        <p:sp>
          <p:nvSpPr>
            <p:cNvPr id="29" name="TextBox 28"/>
            <p:cNvSpPr txBox="1"/>
            <p:nvPr/>
          </p:nvSpPr>
          <p:spPr>
            <a:xfrm>
              <a:off x="4696201" y="5114291"/>
              <a:ext cx="2565190" cy="402726"/>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Linux in VMM</a:t>
              </a:r>
            </a:p>
          </p:txBody>
        </p:sp>
        <p:grpSp>
          <p:nvGrpSpPr>
            <p:cNvPr id="70" name="Group 69"/>
            <p:cNvGrpSpPr/>
            <p:nvPr/>
          </p:nvGrpSpPr>
          <p:grpSpPr>
            <a:xfrm>
              <a:off x="7261390" y="5092994"/>
              <a:ext cx="4709590" cy="365761"/>
              <a:chOff x="7269683" y="2398099"/>
              <a:chExt cx="4709591" cy="421461"/>
            </a:xfrm>
          </p:grpSpPr>
          <p:sp>
            <p:nvSpPr>
              <p:cNvPr id="71" name="Rectangle 70"/>
              <p:cNvSpPr/>
              <p:nvPr/>
            </p:nvSpPr>
            <p:spPr bwMode="auto">
              <a:xfrm>
                <a:off x="7269683" y="2398099"/>
                <a:ext cx="1089551"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72" name="Pentagon 71"/>
              <p:cNvSpPr/>
              <p:nvPr/>
            </p:nvSpPr>
            <p:spPr bwMode="auto">
              <a:xfrm>
                <a:off x="8359235" y="2398100"/>
                <a:ext cx="3620039" cy="4214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grpSp>
        <p:nvGrpSpPr>
          <p:cNvPr id="25" name="Group 24"/>
          <p:cNvGrpSpPr/>
          <p:nvPr/>
        </p:nvGrpSpPr>
        <p:grpSpPr>
          <a:xfrm>
            <a:off x="3610012" y="4060186"/>
            <a:ext cx="5207969" cy="315673"/>
            <a:chOff x="4909866" y="5743867"/>
            <a:chExt cx="7083199" cy="429338"/>
          </a:xfrm>
        </p:grpSpPr>
        <p:sp>
          <p:nvSpPr>
            <p:cNvPr id="51" name="TextBox 50"/>
            <p:cNvSpPr txBox="1"/>
            <p:nvPr/>
          </p:nvSpPr>
          <p:spPr>
            <a:xfrm>
              <a:off x="4909866" y="5770479"/>
              <a:ext cx="3184528" cy="402726"/>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Linux in DPM</a:t>
              </a:r>
            </a:p>
          </p:txBody>
        </p:sp>
        <p:grpSp>
          <p:nvGrpSpPr>
            <p:cNvPr id="74" name="Group 73"/>
            <p:cNvGrpSpPr/>
            <p:nvPr/>
          </p:nvGrpSpPr>
          <p:grpSpPr>
            <a:xfrm>
              <a:off x="8094393" y="5743867"/>
              <a:ext cx="3898672" cy="365761"/>
              <a:chOff x="8080600" y="2398099"/>
              <a:chExt cx="3898673" cy="421461"/>
            </a:xfrm>
          </p:grpSpPr>
          <p:sp>
            <p:nvSpPr>
              <p:cNvPr id="75" name="Rectangle 74"/>
              <p:cNvSpPr/>
              <p:nvPr/>
            </p:nvSpPr>
            <p:spPr bwMode="auto">
              <a:xfrm>
                <a:off x="8080600" y="2398099"/>
                <a:ext cx="907062"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76" name="Pentagon 75"/>
              <p:cNvSpPr/>
              <p:nvPr/>
            </p:nvSpPr>
            <p:spPr bwMode="auto">
              <a:xfrm>
                <a:off x="8962775" y="2398100"/>
                <a:ext cx="3016498" cy="421460"/>
              </a:xfrm>
              <a:prstGeom prst="homePlate">
                <a:avLst/>
              </a:prstGeom>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grpSp>
        <p:nvGrpSpPr>
          <p:cNvPr id="24" name="Group 23"/>
          <p:cNvGrpSpPr/>
          <p:nvPr/>
        </p:nvGrpSpPr>
        <p:grpSpPr>
          <a:xfrm>
            <a:off x="3921859" y="4526027"/>
            <a:ext cx="4896121" cy="299337"/>
            <a:chOff x="5333998" y="6320324"/>
            <a:chExt cx="6659064" cy="407120"/>
          </a:xfrm>
        </p:grpSpPr>
        <p:sp>
          <p:nvSpPr>
            <p:cNvPr id="52" name="TextBox 51"/>
            <p:cNvSpPr txBox="1"/>
            <p:nvPr/>
          </p:nvSpPr>
          <p:spPr>
            <a:xfrm>
              <a:off x="5333998" y="6324718"/>
              <a:ext cx="4389437" cy="402726"/>
            </a:xfrm>
            <a:prstGeom prst="rect">
              <a:avLst/>
            </a:prstGeom>
            <a:noFill/>
          </p:spPr>
          <p:txBody>
            <a:bodyPr wrap="square" lIns="0" rIns="67232" rtlCol="0">
              <a:spAutoFit/>
            </a:bodyPr>
            <a:lstStyle>
              <a:defPPr>
                <a:defRPr lang="en-US"/>
              </a:defPPr>
              <a:lvl1pPr>
                <a:defRPr sz="1500">
                  <a:gradFill>
                    <a:gsLst>
                      <a:gs pos="18000">
                        <a:schemeClr val="bg2"/>
                      </a:gs>
                      <a:gs pos="46000">
                        <a:schemeClr val="bg2"/>
                      </a:gs>
                    </a:gsLst>
                    <a:lin ang="5400000" scaled="0"/>
                  </a:gradFill>
                </a:defRPr>
              </a:lvl1pPr>
            </a:lstStyle>
            <a:p>
              <a:pPr algn="r"/>
              <a:r>
                <a:rPr lang="en-US" sz="1324" dirty="0"/>
                <a:t>Apache and MySQL in OpsMgr</a:t>
              </a:r>
            </a:p>
          </p:txBody>
        </p:sp>
        <p:grpSp>
          <p:nvGrpSpPr>
            <p:cNvPr id="78" name="Group 77"/>
            <p:cNvGrpSpPr/>
            <p:nvPr/>
          </p:nvGrpSpPr>
          <p:grpSpPr>
            <a:xfrm>
              <a:off x="9723436" y="6320324"/>
              <a:ext cx="2269626" cy="365761"/>
              <a:chOff x="9709646" y="2398099"/>
              <a:chExt cx="2269627" cy="421461"/>
            </a:xfrm>
          </p:grpSpPr>
          <p:sp>
            <p:nvSpPr>
              <p:cNvPr id="79" name="Rectangle 78"/>
              <p:cNvSpPr/>
              <p:nvPr/>
            </p:nvSpPr>
            <p:spPr bwMode="auto">
              <a:xfrm>
                <a:off x="9709646" y="2398099"/>
                <a:ext cx="1529595" cy="4214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sp>
            <p:nvSpPr>
              <p:cNvPr id="80" name="Pentagon 79"/>
              <p:cNvSpPr/>
              <p:nvPr/>
            </p:nvSpPr>
            <p:spPr bwMode="auto">
              <a:xfrm>
                <a:off x="11239242" y="2398100"/>
                <a:ext cx="740031" cy="421460"/>
              </a:xfrm>
              <a:prstGeom prst="homePlate">
                <a:avLst/>
              </a:prstGeom>
              <a:solidFill>
                <a:schemeClr val="accent1">
                  <a:lumMod val="50000"/>
                </a:schemeClr>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67232" bIns="34290" numCol="1" rtlCol="0" anchor="ctr" anchorCtr="0" compatLnSpc="1">
                <a:prstTxWarp prst="textNoShape">
                  <a:avLst/>
                </a:prstTxWarp>
              </a:bodyPr>
              <a:lstStyle/>
              <a:p>
                <a:pPr algn="r" defTabSz="685592" fontAlgn="base">
                  <a:spcBef>
                    <a:spcPct val="0"/>
                  </a:spcBef>
                  <a:spcAft>
                    <a:spcPct val="0"/>
                  </a:spcAft>
                </a:pPr>
                <a:endParaRPr lang="en-US" sz="1324" dirty="0">
                  <a:gradFill>
                    <a:gsLst>
                      <a:gs pos="16814">
                        <a:srgbClr val="FFFFFF"/>
                      </a:gs>
                      <a:gs pos="46000">
                        <a:srgbClr val="FFFFFF"/>
                      </a:gs>
                    </a:gsLst>
                    <a:lin ang="5400000" scaled="0"/>
                  </a:gradFill>
                </a:endParaRPr>
              </a:p>
            </p:txBody>
          </p:sp>
        </p:grpSp>
      </p:grpSp>
      <p:sp>
        <p:nvSpPr>
          <p:cNvPr id="89" name="TextBox 88"/>
          <p:cNvSpPr txBox="1"/>
          <p:nvPr/>
        </p:nvSpPr>
        <p:spPr>
          <a:xfrm>
            <a:off x="580927" y="4439847"/>
            <a:ext cx="1969404" cy="167814"/>
          </a:xfrm>
          <a:prstGeom prst="rect">
            <a:avLst/>
          </a:prstGeom>
          <a:noFill/>
        </p:spPr>
        <p:txBody>
          <a:bodyPr wrap="square" rtlCol="0" anchor="ctr" anchorCtr="0">
            <a:noAutofit/>
          </a:bodyPr>
          <a:lstStyle/>
          <a:p>
            <a:r>
              <a:rPr lang="en-US" sz="1029" dirty="0">
                <a:gradFill>
                  <a:gsLst>
                    <a:gs pos="18000">
                      <a:schemeClr val="bg2"/>
                    </a:gs>
                    <a:gs pos="46000">
                      <a:schemeClr val="bg2"/>
                    </a:gs>
                  </a:gsLst>
                  <a:lin ang="5400000" scaled="0"/>
                </a:gradFill>
              </a:rPr>
              <a:t>Shipping</a:t>
            </a:r>
          </a:p>
        </p:txBody>
      </p:sp>
      <p:sp>
        <p:nvSpPr>
          <p:cNvPr id="91" name="TextBox 90"/>
          <p:cNvSpPr txBox="1"/>
          <p:nvPr/>
        </p:nvSpPr>
        <p:spPr>
          <a:xfrm>
            <a:off x="580928" y="4627147"/>
            <a:ext cx="2116883" cy="167814"/>
          </a:xfrm>
          <a:prstGeom prst="rect">
            <a:avLst/>
          </a:prstGeom>
          <a:noFill/>
        </p:spPr>
        <p:txBody>
          <a:bodyPr wrap="square" rtlCol="0" anchor="ctr" anchorCtr="0">
            <a:noAutofit/>
          </a:bodyPr>
          <a:lstStyle/>
          <a:p>
            <a:r>
              <a:rPr lang="en-US" sz="1029" dirty="0">
                <a:gradFill>
                  <a:gsLst>
                    <a:gs pos="18000">
                      <a:schemeClr val="bg2"/>
                    </a:gs>
                    <a:gs pos="46000">
                      <a:schemeClr val="bg2"/>
                    </a:gs>
                  </a:gsLst>
                  <a:lin ang="5400000" scaled="0"/>
                </a:gradFill>
              </a:rPr>
              <a:t>Preview</a:t>
            </a:r>
          </a:p>
        </p:txBody>
      </p:sp>
      <p:grpSp>
        <p:nvGrpSpPr>
          <p:cNvPr id="93" name="Group 92"/>
          <p:cNvGrpSpPr/>
          <p:nvPr/>
        </p:nvGrpSpPr>
        <p:grpSpPr>
          <a:xfrm>
            <a:off x="336161" y="4252547"/>
            <a:ext cx="244767" cy="542414"/>
            <a:chOff x="457201" y="5338764"/>
            <a:chExt cx="533483" cy="1182220"/>
          </a:xfrm>
        </p:grpSpPr>
        <p:sp>
          <p:nvSpPr>
            <p:cNvPr id="88" name="Rectangle 87"/>
            <p:cNvSpPr/>
            <p:nvPr/>
          </p:nvSpPr>
          <p:spPr bwMode="auto">
            <a:xfrm>
              <a:off x="457201" y="5338764"/>
              <a:ext cx="533483" cy="365760"/>
            </a:xfrm>
            <a:prstGeom prst="rect">
              <a:avLst/>
            </a:prstGeom>
            <a:solidFill>
              <a:schemeClr val="accent5"/>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592" fontAlgn="base">
                <a:spcBef>
                  <a:spcPct val="0"/>
                </a:spcBef>
                <a:spcAft>
                  <a:spcPct val="0"/>
                </a:spcAft>
              </a:pPr>
              <a:endParaRPr lang="en-US" sz="1471" dirty="0">
                <a:gradFill>
                  <a:gsLst>
                    <a:gs pos="16814">
                      <a:srgbClr val="FFFFFF"/>
                    </a:gs>
                    <a:gs pos="46000">
                      <a:srgbClr val="FFFFFF"/>
                    </a:gs>
                  </a:gsLst>
                  <a:lin ang="5400000" scaled="0"/>
                </a:gradFill>
              </a:endParaRPr>
            </a:p>
          </p:txBody>
        </p:sp>
        <p:sp>
          <p:nvSpPr>
            <p:cNvPr id="90" name="Rectangle 89"/>
            <p:cNvSpPr/>
            <p:nvPr/>
          </p:nvSpPr>
          <p:spPr bwMode="auto">
            <a:xfrm>
              <a:off x="457201" y="5746994"/>
              <a:ext cx="533483" cy="365760"/>
            </a:xfrm>
            <a:prstGeom prst="rect">
              <a:avLst/>
            </a:prstGeom>
            <a:solidFill>
              <a:schemeClr val="accent1"/>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592" fontAlgn="base">
                <a:spcBef>
                  <a:spcPct val="0"/>
                </a:spcBef>
                <a:spcAft>
                  <a:spcPct val="0"/>
                </a:spcAft>
              </a:pPr>
              <a:endParaRPr lang="en-US" sz="1471" dirty="0">
                <a:gradFill>
                  <a:gsLst>
                    <a:gs pos="16814">
                      <a:srgbClr val="FFFFFF"/>
                    </a:gs>
                    <a:gs pos="46000">
                      <a:srgbClr val="FFFFFF"/>
                    </a:gs>
                  </a:gsLst>
                  <a:lin ang="5400000" scaled="0"/>
                </a:gradFill>
              </a:endParaRPr>
            </a:p>
          </p:txBody>
        </p:sp>
        <p:sp>
          <p:nvSpPr>
            <p:cNvPr id="92" name="Rectangle 91"/>
            <p:cNvSpPr/>
            <p:nvPr/>
          </p:nvSpPr>
          <p:spPr bwMode="auto">
            <a:xfrm>
              <a:off x="457201" y="6155224"/>
              <a:ext cx="533483" cy="365760"/>
            </a:xfrm>
            <a:prstGeom prst="rect">
              <a:avLst/>
            </a:prstGeom>
            <a:solidFill>
              <a:schemeClr val="accent1">
                <a:lumMod val="50000"/>
              </a:schemeClr>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592" fontAlgn="base">
                <a:spcBef>
                  <a:spcPct val="0"/>
                </a:spcBef>
                <a:spcAft>
                  <a:spcPct val="0"/>
                </a:spcAft>
              </a:pPr>
              <a:endParaRPr lang="en-US" sz="1471" dirty="0">
                <a:gradFill>
                  <a:gsLst>
                    <a:gs pos="16814">
                      <a:srgbClr val="FFFFFF"/>
                    </a:gs>
                    <a:gs pos="46000">
                      <a:srgbClr val="FFFFFF"/>
                    </a:gs>
                  </a:gsLst>
                  <a:lin ang="5400000" scaled="0"/>
                </a:gradFill>
              </a:endParaRPr>
            </a:p>
          </p:txBody>
        </p:sp>
      </p:grpSp>
    </p:spTree>
    <p:extLst>
      <p:ext uri="{BB962C8B-B14F-4D97-AF65-F5344CB8AC3E}">
        <p14:creationId xmlns:p14="http://schemas.microsoft.com/office/powerpoint/2010/main" val="3664558144"/>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p:txBody>
          <a:bodyPr/>
          <a:lstStyle/>
          <a:p>
            <a:r>
              <a:rPr lang="en-US" dirty="0"/>
              <a:t>Architectural Overview</a:t>
            </a:r>
          </a:p>
        </p:txBody>
      </p:sp>
      <p:sp>
        <p:nvSpPr>
          <p:cNvPr id="6" name="Rounded Rectangle 5"/>
          <p:cNvSpPr/>
          <p:nvPr/>
        </p:nvSpPr>
        <p:spPr bwMode="auto">
          <a:xfrm>
            <a:off x="1056495" y="1157712"/>
            <a:ext cx="2554579" cy="3163366"/>
          </a:xfrm>
          <a:prstGeom prst="roundRect">
            <a:avLst>
              <a:gd name="adj" fmla="val 10032"/>
            </a:avLst>
          </a:prstGeom>
          <a:solidFill>
            <a:schemeClr val="tx1">
              <a:lumMod val="85000"/>
            </a:schemeClr>
          </a:solidFill>
          <a:ln>
            <a:solidFill>
              <a:schemeClr val="bg1"/>
            </a:solidFill>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endParaRPr lang="en-US" sz="2175" dirty="0">
              <a:gradFill>
                <a:gsLst>
                  <a:gs pos="0">
                    <a:srgbClr val="FFFFFF"/>
                  </a:gs>
                  <a:gs pos="100000">
                    <a:srgbClr val="FFFFFF"/>
                  </a:gs>
                </a:gsLst>
                <a:lin ang="5400000" scaled="0"/>
              </a:gradFill>
            </a:endParaRPr>
          </a:p>
        </p:txBody>
      </p:sp>
      <p:sp>
        <p:nvSpPr>
          <p:cNvPr id="8" name="Rectangle 7"/>
          <p:cNvSpPr/>
          <p:nvPr/>
        </p:nvSpPr>
        <p:spPr bwMode="auto">
          <a:xfrm>
            <a:off x="1799342" y="2402951"/>
            <a:ext cx="1203914" cy="419268"/>
          </a:xfrm>
          <a:prstGeom prst="rect">
            <a:avLst/>
          </a:prstGeom>
          <a:ln>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200" b="1" dirty="0">
                <a:solidFill>
                  <a:srgbClr val="FFFFFF"/>
                </a:solidFill>
              </a:rPr>
              <a:t>Health</a:t>
            </a:r>
          </a:p>
          <a:p>
            <a:pPr algn="ctr" defTabSz="913857" fontAlgn="base">
              <a:spcBef>
                <a:spcPct val="0"/>
              </a:spcBef>
              <a:spcAft>
                <a:spcPct val="0"/>
              </a:spcAft>
            </a:pPr>
            <a:r>
              <a:rPr lang="en-US" sz="1200" b="1" dirty="0">
                <a:solidFill>
                  <a:srgbClr val="FFFFFF"/>
                </a:solidFill>
              </a:rPr>
              <a:t>Service</a:t>
            </a:r>
          </a:p>
        </p:txBody>
      </p:sp>
      <p:grpSp>
        <p:nvGrpSpPr>
          <p:cNvPr id="9" name="Group 8"/>
          <p:cNvGrpSpPr/>
          <p:nvPr/>
        </p:nvGrpSpPr>
        <p:grpSpPr>
          <a:xfrm>
            <a:off x="1271050" y="2000309"/>
            <a:ext cx="436967" cy="622692"/>
            <a:chOff x="2700346" y="5034220"/>
            <a:chExt cx="582706" cy="830373"/>
          </a:xfrm>
        </p:grpSpPr>
        <p:sp>
          <p:nvSpPr>
            <p:cNvPr id="10" name="Rectangle 9"/>
            <p:cNvSpPr/>
            <p:nvPr/>
          </p:nvSpPr>
          <p:spPr bwMode="auto">
            <a:xfrm>
              <a:off x="2700346" y="5034220"/>
              <a:ext cx="582706" cy="276791"/>
            </a:xfrm>
            <a:prstGeom prst="rect">
              <a:avLst/>
            </a:prstGeom>
            <a:ln w="22225">
              <a:solidFill>
                <a:schemeClr val="tx1"/>
              </a:solidFill>
              <a:headEnd type="none" w="med" len="med"/>
              <a:tailEnd type="none" w="med" len="med"/>
            </a:ln>
          </p:spPr>
          <p:style>
            <a:lnRef idx="3">
              <a:schemeClr val="lt1"/>
            </a:lnRef>
            <a:fillRef idx="1">
              <a:schemeClr val="accent2"/>
            </a:fillRef>
            <a:effectRef idx="1">
              <a:schemeClr val="accent2"/>
            </a:effectRef>
            <a:fontRef idx="minor">
              <a:schemeClr val="lt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r>
                <a:rPr lang="en-US" sz="1125" dirty="0">
                  <a:solidFill>
                    <a:srgbClr val="000000"/>
                  </a:solidFill>
                </a:rPr>
                <a:t>MP</a:t>
              </a:r>
              <a:endParaRPr lang="en-US" sz="1200" dirty="0">
                <a:solidFill>
                  <a:srgbClr val="000000"/>
                </a:solidFill>
              </a:endParaRPr>
            </a:p>
          </p:txBody>
        </p:sp>
        <p:sp>
          <p:nvSpPr>
            <p:cNvPr id="11" name="Rectangle 10"/>
            <p:cNvSpPr/>
            <p:nvPr/>
          </p:nvSpPr>
          <p:spPr bwMode="auto">
            <a:xfrm>
              <a:off x="2700346" y="5311011"/>
              <a:ext cx="582706" cy="276791"/>
            </a:xfrm>
            <a:prstGeom prst="rect">
              <a:avLst/>
            </a:prstGeom>
            <a:ln w="22225">
              <a:solidFill>
                <a:schemeClr val="tx1"/>
              </a:solidFill>
              <a:headEnd type="none" w="med" len="med"/>
              <a:tailEnd type="none" w="med" len="med"/>
            </a:ln>
          </p:spPr>
          <p:style>
            <a:lnRef idx="3">
              <a:schemeClr val="lt1"/>
            </a:lnRef>
            <a:fillRef idx="1">
              <a:schemeClr val="accent2"/>
            </a:fillRef>
            <a:effectRef idx="1">
              <a:schemeClr val="accent2"/>
            </a:effectRef>
            <a:fontRef idx="minor">
              <a:schemeClr val="lt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r>
                <a:rPr lang="en-US" sz="1200" dirty="0">
                  <a:solidFill>
                    <a:srgbClr val="000000"/>
                  </a:solidFill>
                </a:rPr>
                <a:t>MP</a:t>
              </a:r>
            </a:p>
          </p:txBody>
        </p:sp>
        <p:sp>
          <p:nvSpPr>
            <p:cNvPr id="12" name="Rectangle 11"/>
            <p:cNvSpPr/>
            <p:nvPr/>
          </p:nvSpPr>
          <p:spPr bwMode="auto">
            <a:xfrm>
              <a:off x="2700346" y="5587802"/>
              <a:ext cx="582706" cy="276791"/>
            </a:xfrm>
            <a:prstGeom prst="rect">
              <a:avLst/>
            </a:prstGeom>
            <a:ln w="22225">
              <a:solidFill>
                <a:schemeClr val="tx1"/>
              </a:solidFill>
              <a:headEnd type="none" w="med" len="med"/>
              <a:tailEnd type="none" w="med" len="med"/>
            </a:ln>
          </p:spPr>
          <p:style>
            <a:lnRef idx="3">
              <a:schemeClr val="lt1"/>
            </a:lnRef>
            <a:fillRef idx="1">
              <a:schemeClr val="accent2"/>
            </a:fillRef>
            <a:effectRef idx="1">
              <a:schemeClr val="accent2"/>
            </a:effectRef>
            <a:fontRef idx="minor">
              <a:schemeClr val="lt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r>
                <a:rPr lang="en-US" sz="1200" dirty="0">
                  <a:solidFill>
                    <a:srgbClr val="000000"/>
                  </a:solidFill>
                </a:rPr>
                <a:t>MP</a:t>
              </a:r>
            </a:p>
          </p:txBody>
        </p:sp>
      </p:grpSp>
      <p:sp>
        <p:nvSpPr>
          <p:cNvPr id="13" name="TextBox 12"/>
          <p:cNvSpPr txBox="1"/>
          <p:nvPr/>
        </p:nvSpPr>
        <p:spPr>
          <a:xfrm>
            <a:off x="953806" y="4373126"/>
            <a:ext cx="2785863" cy="242374"/>
          </a:xfrm>
          <a:prstGeom prst="rect">
            <a:avLst/>
          </a:prstGeom>
          <a:noFill/>
        </p:spPr>
        <p:txBody>
          <a:bodyPr wrap="square" lIns="0" tIns="0" rIns="0" bIns="0" rtlCol="0">
            <a:spAutoFit/>
          </a:bodyPr>
          <a:lstStyle/>
          <a:p>
            <a:pPr algn="ctr"/>
            <a:r>
              <a:rPr lang="en-US" sz="1575" b="1" i="1" dirty="0">
                <a:solidFill>
                  <a:srgbClr val="FFFFFF"/>
                </a:solidFill>
              </a:rPr>
              <a:t>OpsMgr Management Server</a:t>
            </a:r>
          </a:p>
        </p:txBody>
      </p:sp>
      <p:sp>
        <p:nvSpPr>
          <p:cNvPr id="15" name="Rounded Rectangle 14"/>
          <p:cNvSpPr/>
          <p:nvPr/>
        </p:nvSpPr>
        <p:spPr bwMode="auto">
          <a:xfrm>
            <a:off x="5859759" y="2604285"/>
            <a:ext cx="2200071" cy="1618784"/>
          </a:xfrm>
          <a:prstGeom prst="roundRect">
            <a:avLst>
              <a:gd name="adj" fmla="val 10032"/>
            </a:avLst>
          </a:prstGeom>
          <a:solidFill>
            <a:schemeClr val="tx1">
              <a:lumMod val="85000"/>
            </a:schemeClr>
          </a:solidFill>
          <a:ln>
            <a:solidFill>
              <a:schemeClr val="bg1"/>
            </a:solidFill>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endParaRPr lang="en-US" sz="1350" dirty="0">
              <a:solidFill>
                <a:srgbClr val="000000"/>
              </a:solidFill>
            </a:endParaRPr>
          </a:p>
        </p:txBody>
      </p:sp>
      <p:sp>
        <p:nvSpPr>
          <p:cNvPr id="16" name="TextBox 15"/>
          <p:cNvSpPr txBox="1"/>
          <p:nvPr/>
        </p:nvSpPr>
        <p:spPr>
          <a:xfrm>
            <a:off x="5582079" y="4389127"/>
            <a:ext cx="2875879" cy="230832"/>
          </a:xfrm>
          <a:prstGeom prst="rect">
            <a:avLst/>
          </a:prstGeom>
          <a:noFill/>
          <a:ln>
            <a:noFill/>
          </a:ln>
        </p:spPr>
        <p:style>
          <a:lnRef idx="1">
            <a:schemeClr val="dk1"/>
          </a:lnRef>
          <a:fillRef idx="2">
            <a:schemeClr val="dk1"/>
          </a:fillRef>
          <a:effectRef idx="1">
            <a:schemeClr val="dk1"/>
          </a:effectRef>
          <a:fontRef idx="minor">
            <a:schemeClr val="dk1"/>
          </a:fontRef>
        </p:style>
        <p:txBody>
          <a:bodyPr wrap="square" lIns="0" tIns="0" rIns="0" bIns="0" rtlCol="0">
            <a:spAutoFit/>
          </a:bodyPr>
          <a:lstStyle/>
          <a:p>
            <a:pPr algn="ctr"/>
            <a:r>
              <a:rPr lang="en-US" sz="1500" b="1" i="1" dirty="0">
                <a:solidFill>
                  <a:srgbClr val="FFFFFF"/>
                </a:solidFill>
              </a:rPr>
              <a:t>Managed Linux/UNIX Computer</a:t>
            </a:r>
          </a:p>
        </p:txBody>
      </p:sp>
      <p:sp>
        <p:nvSpPr>
          <p:cNvPr id="17" name="Rounded Rectangle 16"/>
          <p:cNvSpPr/>
          <p:nvPr/>
        </p:nvSpPr>
        <p:spPr bwMode="auto">
          <a:xfrm>
            <a:off x="5995882" y="2667851"/>
            <a:ext cx="1908029" cy="1146518"/>
          </a:xfrm>
          <a:prstGeom prst="roundRect">
            <a:avLst>
              <a:gd name="adj" fmla="val 9795"/>
            </a:avLst>
          </a:prstGeom>
          <a:ln>
            <a:solidFill>
              <a:schemeClr val="bg1">
                <a:lumMod val="95000"/>
                <a:lumOff val="5000"/>
                <a:alpha val="50000"/>
              </a:schemeClr>
            </a:solidFill>
            <a:headEnd type="none" w="med" len="med"/>
            <a:tailEnd type="none" w="med" len="med"/>
          </a:ln>
        </p:spPr>
        <p:style>
          <a:lnRef idx="3">
            <a:schemeClr val="lt1"/>
          </a:lnRef>
          <a:fillRef idx="1">
            <a:schemeClr val="accent1"/>
          </a:fillRef>
          <a:effectRef idx="1">
            <a:schemeClr val="accent1"/>
          </a:effectRef>
          <a:fontRef idx="minor">
            <a:schemeClr val="lt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endParaRPr lang="en-US" sz="1200" dirty="0">
              <a:solidFill>
                <a:srgbClr val="000000"/>
              </a:solidFill>
            </a:endParaRPr>
          </a:p>
        </p:txBody>
      </p:sp>
      <p:sp>
        <p:nvSpPr>
          <p:cNvPr id="18" name="TextBox 17"/>
          <p:cNvSpPr txBox="1"/>
          <p:nvPr/>
        </p:nvSpPr>
        <p:spPr>
          <a:xfrm>
            <a:off x="6003024" y="2866538"/>
            <a:ext cx="1811864" cy="884858"/>
          </a:xfrm>
          <a:prstGeom prst="rect">
            <a:avLst/>
          </a:prstGeom>
          <a:noFill/>
          <a:ln>
            <a:noFill/>
          </a:ln>
        </p:spPr>
        <p:style>
          <a:lnRef idx="1">
            <a:schemeClr val="dk1"/>
          </a:lnRef>
          <a:fillRef idx="2">
            <a:schemeClr val="dk1"/>
          </a:fillRef>
          <a:effectRef idx="1">
            <a:schemeClr val="dk1"/>
          </a:effectRef>
          <a:fontRef idx="minor">
            <a:schemeClr val="dk1"/>
          </a:fontRef>
        </p:style>
        <p:txBody>
          <a:bodyPr wrap="square" lIns="0" tIns="0" rIns="0" bIns="0" rtlCol="0">
            <a:spAutoFit/>
          </a:bodyPr>
          <a:lstStyle/>
          <a:p>
            <a:pPr algn="ctr"/>
            <a:r>
              <a:rPr lang="en-US" sz="1425" dirty="0">
                <a:solidFill>
                  <a:srgbClr val="FFFFFF"/>
                </a:solidFill>
              </a:rPr>
              <a:t>OpsMgr agent</a:t>
            </a:r>
          </a:p>
          <a:p>
            <a:pPr algn="ctr">
              <a:spcAft>
                <a:spcPts val="600"/>
              </a:spcAft>
            </a:pPr>
            <a:r>
              <a:rPr lang="en-US" sz="1425" dirty="0">
                <a:solidFill>
                  <a:srgbClr val="FFFFFF"/>
                </a:solidFill>
              </a:rPr>
              <a:t>for Linux/UNIX</a:t>
            </a:r>
          </a:p>
          <a:p>
            <a:pPr algn="ctr"/>
            <a:r>
              <a:rPr lang="en-US" sz="1200" i="1" dirty="0">
                <a:solidFill>
                  <a:srgbClr val="FFFFFF"/>
                </a:solidFill>
              </a:rPr>
              <a:t>(</a:t>
            </a:r>
            <a:r>
              <a:rPr lang="en-US" sz="1200" i="1" dirty="0" err="1">
                <a:solidFill>
                  <a:srgbClr val="FFFFFF"/>
                </a:solidFill>
              </a:rPr>
              <a:t>OpenPegasus</a:t>
            </a:r>
            <a:r>
              <a:rPr lang="en-US" sz="1200" i="1" dirty="0">
                <a:solidFill>
                  <a:srgbClr val="FFFFFF"/>
                </a:solidFill>
              </a:rPr>
              <a:t> CIM</a:t>
            </a:r>
          </a:p>
          <a:p>
            <a:pPr algn="ctr"/>
            <a:r>
              <a:rPr lang="en-US" sz="1200" i="1" dirty="0">
                <a:solidFill>
                  <a:srgbClr val="FFFFFF"/>
                </a:solidFill>
              </a:rPr>
              <a:t>Server + providers)</a:t>
            </a:r>
          </a:p>
        </p:txBody>
      </p:sp>
      <p:sp>
        <p:nvSpPr>
          <p:cNvPr id="21" name="Rounded Rectangle 20"/>
          <p:cNvSpPr/>
          <p:nvPr/>
        </p:nvSpPr>
        <p:spPr bwMode="auto">
          <a:xfrm>
            <a:off x="6003024" y="3851496"/>
            <a:ext cx="580920" cy="288998"/>
          </a:xfrm>
          <a:prstGeom prst="roundRect">
            <a:avLst/>
          </a:prstGeom>
          <a:solidFill>
            <a:schemeClr val="accent1">
              <a:lumMod val="60000"/>
              <a:lumOff val="40000"/>
            </a:schemeClr>
          </a:solidFill>
          <a:ln w="19050">
            <a:solidFill>
              <a:schemeClr val="tx1"/>
            </a:solidFill>
            <a:headEnd type="none" w="med" len="med"/>
            <a:tailEnd type="none" w="med" len="med"/>
          </a:ln>
        </p:spPr>
        <p:style>
          <a:lnRef idx="3">
            <a:schemeClr val="lt1"/>
          </a:lnRef>
          <a:fillRef idx="1">
            <a:schemeClr val="accent3"/>
          </a:fillRef>
          <a:effectRef idx="1">
            <a:schemeClr val="accent3"/>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200" dirty="0" err="1">
                <a:solidFill>
                  <a:srgbClr val="000000"/>
                </a:solidFill>
              </a:rPr>
              <a:t>sshd</a:t>
            </a:r>
            <a:endParaRPr lang="en-US" sz="1200" dirty="0">
              <a:solidFill>
                <a:srgbClr val="000000"/>
              </a:solidFill>
            </a:endParaRPr>
          </a:p>
        </p:txBody>
      </p:sp>
      <p:sp>
        <p:nvSpPr>
          <p:cNvPr id="22" name="Rounded Rectangle 21"/>
          <p:cNvSpPr/>
          <p:nvPr/>
        </p:nvSpPr>
        <p:spPr bwMode="auto">
          <a:xfrm>
            <a:off x="2778743" y="3678341"/>
            <a:ext cx="745975" cy="557980"/>
          </a:xfrm>
          <a:prstGeom prst="roundRect">
            <a:avLst/>
          </a:prstGeom>
          <a:solidFill>
            <a:schemeClr val="accent1">
              <a:lumMod val="60000"/>
              <a:lumOff val="40000"/>
            </a:schemeClr>
          </a:solidFill>
          <a:ln w="19050">
            <a:solidFill>
              <a:schemeClr val="tx1"/>
            </a:solidFill>
            <a:headEnd type="none" w="med" len="med"/>
            <a:tailEnd type="none" w="med" len="med"/>
          </a:ln>
        </p:spPr>
        <p:style>
          <a:lnRef idx="3">
            <a:schemeClr val="lt1"/>
          </a:lnRef>
          <a:fillRef idx="1">
            <a:schemeClr val="accent3"/>
          </a:fillRef>
          <a:effectRef idx="1">
            <a:schemeClr val="accent3"/>
          </a:effectRef>
          <a:fontRef idx="minor">
            <a:schemeClr val="lt1"/>
          </a:fontRef>
        </p:style>
        <p:txBody>
          <a:bodyPr vert="horz" wrap="square" lIns="0" tIns="45704" rIns="0" bIns="45704" numCol="1" rtlCol="0" anchor="ctr" anchorCtr="0" compatLnSpc="1">
            <a:prstTxWarp prst="textNoShape">
              <a:avLst/>
            </a:prstTxWarp>
          </a:bodyPr>
          <a:lstStyle/>
          <a:p>
            <a:pPr algn="ctr" defTabSz="913857" fontAlgn="base">
              <a:spcBef>
                <a:spcPct val="0"/>
              </a:spcBef>
              <a:spcAft>
                <a:spcPct val="0"/>
              </a:spcAft>
            </a:pPr>
            <a:r>
              <a:rPr lang="en-US" sz="1200" dirty="0">
                <a:solidFill>
                  <a:srgbClr val="000000"/>
                </a:solidFill>
              </a:rPr>
              <a:t>ssh client</a:t>
            </a:r>
          </a:p>
          <a:p>
            <a:pPr algn="ctr" defTabSz="913857" fontAlgn="base">
              <a:spcBef>
                <a:spcPct val="0"/>
              </a:spcBef>
              <a:spcAft>
                <a:spcPct val="0"/>
              </a:spcAft>
            </a:pPr>
            <a:r>
              <a:rPr lang="en-US" sz="1200" dirty="0">
                <a:solidFill>
                  <a:srgbClr val="000000"/>
                </a:solidFill>
              </a:rPr>
              <a:t>library</a:t>
            </a:r>
          </a:p>
        </p:txBody>
      </p:sp>
      <p:sp>
        <p:nvSpPr>
          <p:cNvPr id="23" name="Rounded Rectangle 22"/>
          <p:cNvSpPr/>
          <p:nvPr/>
        </p:nvSpPr>
        <p:spPr bwMode="auto">
          <a:xfrm>
            <a:off x="2778743" y="2965148"/>
            <a:ext cx="732211" cy="660447"/>
          </a:xfrm>
          <a:prstGeom prst="roundRect">
            <a:avLst/>
          </a:prstGeom>
          <a:solidFill>
            <a:schemeClr val="accent1">
              <a:lumMod val="60000"/>
              <a:lumOff val="40000"/>
            </a:schemeClr>
          </a:solidFill>
          <a:ln w="19050">
            <a:solidFill>
              <a:schemeClr val="tx1"/>
            </a:solidFill>
            <a:headEnd type="none" w="med" len="med"/>
            <a:tailEnd type="none" w="med" len="med"/>
          </a:ln>
        </p:spPr>
        <p:style>
          <a:lnRef idx="3">
            <a:schemeClr val="lt1"/>
          </a:lnRef>
          <a:fillRef idx="1">
            <a:schemeClr val="accent3"/>
          </a:fillRef>
          <a:effectRef idx="1">
            <a:schemeClr val="accent3"/>
          </a:effectRef>
          <a:fontRef idx="minor">
            <a:schemeClr val="lt1"/>
          </a:fontRef>
        </p:style>
        <p:txBody>
          <a:bodyPr vert="horz" wrap="square" lIns="0" tIns="45704" rIns="0" bIns="45704" numCol="1" rtlCol="0" anchor="ctr" anchorCtr="0" compatLnSpc="1">
            <a:prstTxWarp prst="textNoShape">
              <a:avLst/>
            </a:prstTxWarp>
          </a:bodyPr>
          <a:lstStyle/>
          <a:p>
            <a:pPr algn="ctr" defTabSz="913857" fontAlgn="base">
              <a:spcBef>
                <a:spcPct val="0"/>
              </a:spcBef>
              <a:spcAft>
                <a:spcPct val="0"/>
              </a:spcAft>
            </a:pPr>
            <a:r>
              <a:rPr lang="en-US" sz="1200" dirty="0" err="1">
                <a:solidFill>
                  <a:srgbClr val="000000"/>
                </a:solidFill>
              </a:rPr>
              <a:t>WinRM</a:t>
            </a:r>
            <a:endParaRPr lang="en-US" sz="1200" dirty="0">
              <a:solidFill>
                <a:srgbClr val="000000"/>
              </a:solidFill>
            </a:endParaRPr>
          </a:p>
          <a:p>
            <a:pPr algn="ctr" defTabSz="913857" fontAlgn="base">
              <a:spcBef>
                <a:spcPct val="0"/>
              </a:spcBef>
              <a:spcAft>
                <a:spcPct val="0"/>
              </a:spcAft>
            </a:pPr>
            <a:r>
              <a:rPr lang="en-US" sz="1200" dirty="0">
                <a:solidFill>
                  <a:srgbClr val="000000"/>
                </a:solidFill>
              </a:rPr>
              <a:t>library</a:t>
            </a:r>
          </a:p>
        </p:txBody>
      </p:sp>
      <p:sp>
        <p:nvSpPr>
          <p:cNvPr id="26" name="Right Arrow 25"/>
          <p:cNvSpPr/>
          <p:nvPr/>
        </p:nvSpPr>
        <p:spPr bwMode="auto">
          <a:xfrm>
            <a:off x="3562580" y="2978885"/>
            <a:ext cx="2410084" cy="274281"/>
          </a:xfrm>
          <a:prstGeom prst="rightArrow">
            <a:avLst/>
          </a:prstGeom>
          <a:solidFill>
            <a:schemeClr val="accent3">
              <a:lumMod val="20000"/>
              <a:lumOff val="80000"/>
            </a:schemeClr>
          </a:solidFill>
          <a:ln>
            <a:headEnd type="none" w="med" len="med"/>
            <a:tailEnd type="none" w="med" len="med"/>
          </a:ln>
        </p:spPr>
        <p:style>
          <a:lnRef idx="0">
            <a:schemeClr val="accent5"/>
          </a:lnRef>
          <a:fillRef idx="3">
            <a:schemeClr val="accent5"/>
          </a:fillRef>
          <a:effectRef idx="3">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050" b="1" i="1" dirty="0">
                <a:solidFill>
                  <a:srgbClr val="000000"/>
                </a:solidFill>
              </a:rPr>
              <a:t>    HTTPS </a:t>
            </a:r>
            <a:r>
              <a:rPr lang="en-US" sz="825" b="1" i="1" dirty="0">
                <a:solidFill>
                  <a:srgbClr val="000000"/>
                </a:solidFill>
              </a:rPr>
              <a:t>transport</a:t>
            </a:r>
            <a:endParaRPr lang="en-US" sz="1050" b="1" i="1" dirty="0">
              <a:solidFill>
                <a:srgbClr val="000000"/>
              </a:solidFill>
            </a:endParaRPr>
          </a:p>
        </p:txBody>
      </p:sp>
      <p:sp>
        <p:nvSpPr>
          <p:cNvPr id="28" name="TextBox 27"/>
          <p:cNvSpPr txBox="1"/>
          <p:nvPr/>
        </p:nvSpPr>
        <p:spPr>
          <a:xfrm>
            <a:off x="3982791" y="3439304"/>
            <a:ext cx="1238801" cy="207749"/>
          </a:xfrm>
          <a:prstGeom prst="rect">
            <a:avLst/>
          </a:prstGeom>
          <a:noFill/>
        </p:spPr>
        <p:txBody>
          <a:bodyPr wrap="none" lIns="0" tIns="0" rIns="0" bIns="0" rtlCol="0">
            <a:spAutoFit/>
          </a:bodyPr>
          <a:lstStyle/>
          <a:p>
            <a:r>
              <a:rPr lang="en-US" sz="1350" dirty="0">
                <a:solidFill>
                  <a:srgbClr val="FFFFFF"/>
                </a:solidFill>
              </a:rPr>
              <a:t>WS-Man protocol</a:t>
            </a:r>
          </a:p>
        </p:txBody>
      </p:sp>
      <p:sp>
        <p:nvSpPr>
          <p:cNvPr id="29" name="TextBox 28"/>
          <p:cNvSpPr txBox="1"/>
          <p:nvPr/>
        </p:nvSpPr>
        <p:spPr>
          <a:xfrm>
            <a:off x="3734354" y="4045529"/>
            <a:ext cx="2149942" cy="184666"/>
          </a:xfrm>
          <a:prstGeom prst="rect">
            <a:avLst/>
          </a:prstGeom>
          <a:noFill/>
        </p:spPr>
        <p:txBody>
          <a:bodyPr wrap="square" lIns="0" tIns="0" rIns="0" bIns="0" rtlCol="0">
            <a:spAutoFit/>
          </a:bodyPr>
          <a:lstStyle/>
          <a:p>
            <a:r>
              <a:rPr lang="en-US" sz="1200" dirty="0">
                <a:solidFill>
                  <a:srgbClr val="FFFFFF"/>
                </a:solidFill>
              </a:rPr>
              <a:t>Agent Maintenance Actions</a:t>
            </a:r>
          </a:p>
        </p:txBody>
      </p:sp>
      <p:sp>
        <p:nvSpPr>
          <p:cNvPr id="30" name="Right Arrow 29"/>
          <p:cNvSpPr/>
          <p:nvPr/>
        </p:nvSpPr>
        <p:spPr bwMode="auto">
          <a:xfrm rot="2109748">
            <a:off x="2119088" y="2988526"/>
            <a:ext cx="650132" cy="239072"/>
          </a:xfrm>
          <a:prstGeom prst="rightArrow">
            <a:avLst/>
          </a:prstGeom>
          <a:ln w="19050">
            <a:solidFill>
              <a:schemeClr val="tx1"/>
            </a:solidFill>
            <a:headEnd type="none" w="med" len="med"/>
            <a:tailEnd type="none" w="med" len="med"/>
          </a:ln>
        </p:spPr>
        <p:style>
          <a:lnRef idx="3">
            <a:schemeClr val="lt1"/>
          </a:lnRef>
          <a:fillRef idx="1">
            <a:schemeClr val="accent6"/>
          </a:fillRef>
          <a:effectRef idx="1">
            <a:schemeClr val="accent6"/>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endParaRPr lang="en-US" sz="2175" dirty="0">
              <a:gradFill>
                <a:gsLst>
                  <a:gs pos="0">
                    <a:srgbClr val="FFFFFF"/>
                  </a:gs>
                  <a:gs pos="100000">
                    <a:srgbClr val="FFFFFF"/>
                  </a:gs>
                </a:gsLst>
                <a:lin ang="5400000" scaled="0"/>
              </a:gradFill>
            </a:endParaRPr>
          </a:p>
        </p:txBody>
      </p:sp>
      <p:sp>
        <p:nvSpPr>
          <p:cNvPr id="31" name="Left Arrow 30"/>
          <p:cNvSpPr/>
          <p:nvPr/>
        </p:nvSpPr>
        <p:spPr bwMode="auto">
          <a:xfrm>
            <a:off x="3555439" y="3207347"/>
            <a:ext cx="2410084" cy="274281"/>
          </a:xfrm>
          <a:prstGeom prst="leftArrow">
            <a:avLst/>
          </a:prstGeom>
          <a:solidFill>
            <a:schemeClr val="accent3">
              <a:lumMod val="20000"/>
              <a:lumOff val="80000"/>
            </a:schemeClr>
          </a:solidFill>
          <a:ln>
            <a:headEnd type="none" w="med" len="med"/>
            <a:tailEnd type="none" w="med" len="med"/>
          </a:ln>
        </p:spPr>
        <p:style>
          <a:lnRef idx="0">
            <a:schemeClr val="accent5"/>
          </a:lnRef>
          <a:fillRef idx="3">
            <a:schemeClr val="accent5"/>
          </a:fillRef>
          <a:effectRef idx="3">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050" b="1" i="1" dirty="0">
                <a:solidFill>
                  <a:srgbClr val="000000"/>
                </a:solidFill>
              </a:rPr>
              <a:t>HTTPS </a:t>
            </a:r>
            <a:r>
              <a:rPr lang="en-US" sz="825" b="1" i="1" dirty="0">
                <a:solidFill>
                  <a:srgbClr val="000000"/>
                </a:solidFill>
              </a:rPr>
              <a:t>transport</a:t>
            </a:r>
            <a:endParaRPr lang="en-US" sz="1050" b="1" i="1" dirty="0">
              <a:solidFill>
                <a:srgbClr val="000000"/>
              </a:solidFill>
            </a:endParaRPr>
          </a:p>
        </p:txBody>
      </p:sp>
      <p:sp>
        <p:nvSpPr>
          <p:cNvPr id="33" name="Right Arrow 32"/>
          <p:cNvSpPr/>
          <p:nvPr/>
        </p:nvSpPr>
        <p:spPr bwMode="auto">
          <a:xfrm>
            <a:off x="3583486" y="3804334"/>
            <a:ext cx="2389178" cy="274281"/>
          </a:xfrm>
          <a:prstGeom prst="rightArrow">
            <a:avLst/>
          </a:prstGeom>
          <a:solidFill>
            <a:schemeClr val="accent3">
              <a:lumMod val="20000"/>
              <a:lumOff val="80000"/>
            </a:schemeClr>
          </a:solidFill>
          <a:ln>
            <a:headEnd type="none" w="med" len="med"/>
            <a:tailEnd type="none" w="med" len="med"/>
          </a:ln>
        </p:spPr>
        <p:style>
          <a:lnRef idx="0">
            <a:schemeClr val="accent5"/>
          </a:lnRef>
          <a:fillRef idx="3">
            <a:schemeClr val="accent5"/>
          </a:fillRef>
          <a:effectRef idx="3">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endParaRPr lang="en-US" sz="1200" b="1" i="1" dirty="0">
              <a:solidFill>
                <a:srgbClr val="000000"/>
              </a:solidFill>
            </a:endParaRPr>
          </a:p>
        </p:txBody>
      </p:sp>
      <p:sp>
        <p:nvSpPr>
          <p:cNvPr id="36" name="Rectangle 35"/>
          <p:cNvSpPr/>
          <p:nvPr/>
        </p:nvSpPr>
        <p:spPr bwMode="auto">
          <a:xfrm>
            <a:off x="1792978" y="1851670"/>
            <a:ext cx="1203914" cy="454028"/>
          </a:xfrm>
          <a:prstGeom prst="rect">
            <a:avLst/>
          </a:prstGeom>
          <a:ln>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200" b="1" dirty="0" err="1">
                <a:solidFill>
                  <a:srgbClr val="FFFFFF"/>
                </a:solidFill>
              </a:rPr>
              <a:t>Config</a:t>
            </a:r>
            <a:endParaRPr lang="en-US" sz="1200" b="1" dirty="0">
              <a:solidFill>
                <a:srgbClr val="FFFFFF"/>
              </a:solidFill>
            </a:endParaRPr>
          </a:p>
          <a:p>
            <a:pPr algn="ctr" defTabSz="913857" fontAlgn="base">
              <a:spcBef>
                <a:spcPct val="0"/>
              </a:spcBef>
              <a:spcAft>
                <a:spcPct val="0"/>
              </a:spcAft>
            </a:pPr>
            <a:r>
              <a:rPr lang="en-US" sz="1200" b="1" dirty="0">
                <a:solidFill>
                  <a:srgbClr val="FFFFFF"/>
                </a:solidFill>
              </a:rPr>
              <a:t>Service</a:t>
            </a:r>
          </a:p>
        </p:txBody>
      </p:sp>
      <p:sp>
        <p:nvSpPr>
          <p:cNvPr id="37" name="Rectangle 36"/>
          <p:cNvSpPr/>
          <p:nvPr/>
        </p:nvSpPr>
        <p:spPr bwMode="auto">
          <a:xfrm>
            <a:off x="1792978" y="1451219"/>
            <a:ext cx="1203914" cy="390851"/>
          </a:xfrm>
          <a:prstGeom prst="rect">
            <a:avLst/>
          </a:prstGeom>
          <a:ln>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200" b="1" dirty="0">
                <a:solidFill>
                  <a:srgbClr val="FFFFFF"/>
                </a:solidFill>
              </a:rPr>
              <a:t>SDK</a:t>
            </a:r>
          </a:p>
        </p:txBody>
      </p:sp>
      <p:sp>
        <p:nvSpPr>
          <p:cNvPr id="40" name="TextBox 39"/>
          <p:cNvSpPr txBox="1"/>
          <p:nvPr/>
        </p:nvSpPr>
        <p:spPr>
          <a:xfrm>
            <a:off x="6053862" y="3363289"/>
            <a:ext cx="1811864" cy="369332"/>
          </a:xfrm>
          <a:prstGeom prst="rect">
            <a:avLst/>
          </a:prstGeom>
          <a:ln/>
        </p:spPr>
        <p:style>
          <a:lnRef idx="2">
            <a:schemeClr val="accent5">
              <a:shade val="50000"/>
            </a:schemeClr>
          </a:lnRef>
          <a:fillRef idx="1">
            <a:schemeClr val="accent5"/>
          </a:fillRef>
          <a:effectRef idx="0">
            <a:schemeClr val="accent5"/>
          </a:effectRef>
          <a:fontRef idx="minor">
            <a:schemeClr val="lt1"/>
          </a:fontRef>
        </p:style>
        <p:txBody>
          <a:bodyPr wrap="square" lIns="0" tIns="0" rIns="0" bIns="0" rtlCol="0">
            <a:spAutoFit/>
          </a:bodyPr>
          <a:lstStyle/>
          <a:p>
            <a:pPr algn="ctr"/>
            <a:r>
              <a:rPr lang="en-US" sz="1200" b="1" dirty="0">
                <a:solidFill>
                  <a:srgbClr val="FFFFFF"/>
                </a:solidFill>
              </a:rPr>
              <a:t>(OMI CIM Server </a:t>
            </a:r>
            <a:br>
              <a:rPr lang="en-US" sz="1200" b="1" dirty="0">
                <a:solidFill>
                  <a:srgbClr val="FFFFFF"/>
                </a:solidFill>
              </a:rPr>
            </a:br>
            <a:r>
              <a:rPr lang="en-US" sz="1200" b="1" dirty="0">
                <a:solidFill>
                  <a:srgbClr val="FFFFFF"/>
                </a:solidFill>
              </a:rPr>
              <a:t>+ providers)</a:t>
            </a:r>
          </a:p>
        </p:txBody>
      </p:sp>
      <p:sp>
        <p:nvSpPr>
          <p:cNvPr id="24" name="TextBox 23"/>
          <p:cNvSpPr txBox="1"/>
          <p:nvPr/>
        </p:nvSpPr>
        <p:spPr>
          <a:xfrm>
            <a:off x="4159637" y="3855333"/>
            <a:ext cx="812723" cy="158377"/>
          </a:xfrm>
          <a:prstGeom prst="rect">
            <a:avLst/>
          </a:prstGeom>
          <a:noFill/>
        </p:spPr>
        <p:txBody>
          <a:bodyPr wrap="none" lIns="0" tIns="0" rIns="0" bIns="0" rtlCol="0">
            <a:spAutoFit/>
          </a:bodyPr>
          <a:lstStyle/>
          <a:p>
            <a:r>
              <a:rPr lang="en-US" sz="1029" b="1" dirty="0">
                <a:solidFill>
                  <a:srgbClr val="000000"/>
                </a:solidFill>
              </a:rPr>
              <a:t>ssh connection</a:t>
            </a:r>
          </a:p>
        </p:txBody>
      </p:sp>
      <p:sp>
        <p:nvSpPr>
          <p:cNvPr id="48" name="Rounded Rectangle 47"/>
          <p:cNvSpPr/>
          <p:nvPr/>
        </p:nvSpPr>
        <p:spPr bwMode="auto">
          <a:xfrm>
            <a:off x="5847692" y="1157712"/>
            <a:ext cx="2200071" cy="1358012"/>
          </a:xfrm>
          <a:prstGeom prst="roundRect">
            <a:avLst>
              <a:gd name="adj" fmla="val 10032"/>
            </a:avLst>
          </a:prstGeom>
          <a:solidFill>
            <a:schemeClr val="tx1">
              <a:lumMod val="85000"/>
            </a:schemeClr>
          </a:solidFill>
          <a:ln>
            <a:solidFill>
              <a:schemeClr val="bg1"/>
            </a:solidFill>
            <a:headEnd type="none" w="med" len="med"/>
            <a:tailEnd type="none" w="med" len="med"/>
          </a:ln>
        </p:spPr>
        <p:style>
          <a:lnRef idx="1">
            <a:schemeClr val="accent1"/>
          </a:lnRef>
          <a:fillRef idx="2">
            <a:schemeClr val="accent1"/>
          </a:fillRef>
          <a:effectRef idx="1">
            <a:schemeClr val="accent1"/>
          </a:effectRef>
          <a:fontRef idx="minor">
            <a:schemeClr val="dk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endParaRPr lang="en-US" sz="1350" dirty="0">
              <a:solidFill>
                <a:srgbClr val="000000"/>
              </a:solidFill>
            </a:endParaRPr>
          </a:p>
        </p:txBody>
      </p:sp>
      <p:sp>
        <p:nvSpPr>
          <p:cNvPr id="49" name="Rounded Rectangle 48"/>
          <p:cNvSpPr/>
          <p:nvPr/>
        </p:nvSpPr>
        <p:spPr bwMode="auto">
          <a:xfrm>
            <a:off x="5996977" y="1271782"/>
            <a:ext cx="1908029" cy="1077883"/>
          </a:xfrm>
          <a:prstGeom prst="roundRect">
            <a:avLst>
              <a:gd name="adj" fmla="val 9795"/>
            </a:avLst>
          </a:prstGeom>
          <a:ln>
            <a:solidFill>
              <a:schemeClr val="bg1">
                <a:lumMod val="95000"/>
                <a:lumOff val="5000"/>
                <a:alpha val="50000"/>
              </a:schemeClr>
            </a:solidFill>
            <a:headEnd type="none" w="med" len="med"/>
            <a:tailEnd type="none" w="med" len="med"/>
          </a:ln>
        </p:spPr>
        <p:style>
          <a:lnRef idx="3">
            <a:schemeClr val="lt1"/>
          </a:lnRef>
          <a:fillRef idx="1">
            <a:schemeClr val="accent1"/>
          </a:fillRef>
          <a:effectRef idx="1">
            <a:schemeClr val="accent1"/>
          </a:effectRef>
          <a:fontRef idx="minor">
            <a:schemeClr val="lt1"/>
          </a:fontRef>
        </p:style>
        <p:txBody>
          <a:bodyPr vert="horz" wrap="square" lIns="68567" tIns="34284" rIns="68567" bIns="34284" numCol="1" rtlCol="0" anchor="ctr" anchorCtr="0" compatLnSpc="1">
            <a:prstTxWarp prst="textNoShape">
              <a:avLst/>
            </a:prstTxWarp>
          </a:bodyPr>
          <a:lstStyle/>
          <a:p>
            <a:pPr algn="ctr" defTabSz="913857" fontAlgn="base">
              <a:spcBef>
                <a:spcPct val="0"/>
              </a:spcBef>
              <a:spcAft>
                <a:spcPct val="0"/>
              </a:spcAft>
            </a:pPr>
            <a:endParaRPr lang="en-US" sz="1200" dirty="0">
              <a:solidFill>
                <a:srgbClr val="000000"/>
              </a:solidFill>
            </a:endParaRPr>
          </a:p>
        </p:txBody>
      </p:sp>
      <p:sp>
        <p:nvSpPr>
          <p:cNvPr id="50" name="TextBox 49"/>
          <p:cNvSpPr txBox="1"/>
          <p:nvPr/>
        </p:nvSpPr>
        <p:spPr>
          <a:xfrm>
            <a:off x="6004118" y="1470469"/>
            <a:ext cx="1811864" cy="700192"/>
          </a:xfrm>
          <a:prstGeom prst="rect">
            <a:avLst/>
          </a:prstGeom>
          <a:noFill/>
          <a:ln>
            <a:noFill/>
          </a:ln>
        </p:spPr>
        <p:style>
          <a:lnRef idx="1">
            <a:schemeClr val="dk1"/>
          </a:lnRef>
          <a:fillRef idx="2">
            <a:schemeClr val="dk1"/>
          </a:fillRef>
          <a:effectRef idx="1">
            <a:schemeClr val="dk1"/>
          </a:effectRef>
          <a:fontRef idx="minor">
            <a:schemeClr val="dk1"/>
          </a:fontRef>
        </p:style>
        <p:txBody>
          <a:bodyPr wrap="square" lIns="0" tIns="0" rIns="0" bIns="0" rtlCol="0">
            <a:spAutoFit/>
          </a:bodyPr>
          <a:lstStyle/>
          <a:p>
            <a:pPr algn="ctr"/>
            <a:r>
              <a:rPr lang="en-US" sz="1425" dirty="0">
                <a:solidFill>
                  <a:srgbClr val="FFFFFF"/>
                </a:solidFill>
              </a:rPr>
              <a:t>OpsMgr agent</a:t>
            </a:r>
          </a:p>
          <a:p>
            <a:pPr algn="ctr">
              <a:spcAft>
                <a:spcPts val="600"/>
              </a:spcAft>
            </a:pPr>
            <a:r>
              <a:rPr lang="en-US" sz="1425" dirty="0">
                <a:solidFill>
                  <a:srgbClr val="FFFFFF"/>
                </a:solidFill>
              </a:rPr>
              <a:t>for Windows</a:t>
            </a:r>
          </a:p>
          <a:p>
            <a:pPr algn="ctr"/>
            <a:endParaRPr lang="en-US" sz="1200" i="1" dirty="0">
              <a:solidFill>
                <a:srgbClr val="FFFFFF"/>
              </a:solidFill>
            </a:endParaRPr>
          </a:p>
        </p:txBody>
      </p:sp>
      <p:sp>
        <p:nvSpPr>
          <p:cNvPr id="65" name="Right Arrow 64"/>
          <p:cNvSpPr/>
          <p:nvPr/>
        </p:nvSpPr>
        <p:spPr bwMode="auto">
          <a:xfrm>
            <a:off x="3562580" y="1560412"/>
            <a:ext cx="2410084" cy="274281"/>
          </a:xfrm>
          <a:prstGeom prst="rightArrow">
            <a:avLst/>
          </a:prstGeom>
          <a:solidFill>
            <a:schemeClr val="accent3">
              <a:lumMod val="20000"/>
              <a:lumOff val="80000"/>
            </a:schemeClr>
          </a:solidFill>
          <a:ln>
            <a:headEnd type="none" w="med" len="med"/>
            <a:tailEnd type="none" w="med" len="med"/>
          </a:ln>
        </p:spPr>
        <p:style>
          <a:lnRef idx="0">
            <a:schemeClr val="accent5"/>
          </a:lnRef>
          <a:fillRef idx="3">
            <a:schemeClr val="accent5"/>
          </a:fillRef>
          <a:effectRef idx="3">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050" b="1" i="1" dirty="0" err="1">
                <a:solidFill>
                  <a:srgbClr val="000000"/>
                </a:solidFill>
              </a:rPr>
              <a:t>Config</a:t>
            </a:r>
            <a:r>
              <a:rPr lang="en-US" sz="1050" b="1" i="1" dirty="0">
                <a:solidFill>
                  <a:srgbClr val="000000"/>
                </a:solidFill>
              </a:rPr>
              <a:t> (MPs)</a:t>
            </a:r>
          </a:p>
        </p:txBody>
      </p:sp>
      <p:sp>
        <p:nvSpPr>
          <p:cNvPr id="66" name="Left Arrow 65"/>
          <p:cNvSpPr/>
          <p:nvPr/>
        </p:nvSpPr>
        <p:spPr bwMode="auto">
          <a:xfrm>
            <a:off x="3555439" y="1788874"/>
            <a:ext cx="2410084" cy="274281"/>
          </a:xfrm>
          <a:prstGeom prst="leftArrow">
            <a:avLst/>
          </a:prstGeom>
          <a:solidFill>
            <a:schemeClr val="accent3">
              <a:lumMod val="20000"/>
              <a:lumOff val="80000"/>
            </a:schemeClr>
          </a:solidFill>
          <a:ln>
            <a:headEnd type="none" w="med" len="med"/>
            <a:tailEnd type="none" w="med" len="med"/>
          </a:ln>
        </p:spPr>
        <p:style>
          <a:lnRef idx="0">
            <a:schemeClr val="accent5"/>
          </a:lnRef>
          <a:fillRef idx="3">
            <a:schemeClr val="accent5"/>
          </a:fillRef>
          <a:effectRef idx="3">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050" b="1" i="1" dirty="0">
                <a:solidFill>
                  <a:srgbClr val="000000"/>
                </a:solidFill>
              </a:rPr>
              <a:t>Events, Data, State</a:t>
            </a:r>
          </a:p>
        </p:txBody>
      </p:sp>
      <p:sp>
        <p:nvSpPr>
          <p:cNvPr id="67" name="TextBox 66"/>
          <p:cNvSpPr txBox="1"/>
          <p:nvPr/>
        </p:nvSpPr>
        <p:spPr>
          <a:xfrm>
            <a:off x="5582078" y="828654"/>
            <a:ext cx="2875879" cy="230832"/>
          </a:xfrm>
          <a:prstGeom prst="rect">
            <a:avLst/>
          </a:prstGeom>
          <a:noFill/>
          <a:ln>
            <a:noFill/>
          </a:ln>
        </p:spPr>
        <p:style>
          <a:lnRef idx="1">
            <a:schemeClr val="dk1"/>
          </a:lnRef>
          <a:fillRef idx="2">
            <a:schemeClr val="dk1"/>
          </a:fillRef>
          <a:effectRef idx="1">
            <a:schemeClr val="dk1"/>
          </a:effectRef>
          <a:fontRef idx="minor">
            <a:schemeClr val="dk1"/>
          </a:fontRef>
        </p:style>
        <p:txBody>
          <a:bodyPr wrap="square" lIns="0" tIns="0" rIns="0" bIns="0" rtlCol="0">
            <a:spAutoFit/>
          </a:bodyPr>
          <a:lstStyle/>
          <a:p>
            <a:pPr algn="ctr"/>
            <a:r>
              <a:rPr lang="en-US" sz="1500" b="1" i="1" dirty="0">
                <a:solidFill>
                  <a:srgbClr val="FFFFFF"/>
                </a:solidFill>
              </a:rPr>
              <a:t>Managed Windows Computer</a:t>
            </a:r>
          </a:p>
        </p:txBody>
      </p:sp>
      <p:pic>
        <p:nvPicPr>
          <p:cNvPr id="76" name="Picture 7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934" y="2318469"/>
            <a:ext cx="583239" cy="628308"/>
          </a:xfrm>
          <a:prstGeom prst="rect">
            <a:avLst/>
          </a:prstGeom>
        </p:spPr>
      </p:pic>
      <p:sp>
        <p:nvSpPr>
          <p:cNvPr id="79" name="Rectangle 78"/>
          <p:cNvSpPr/>
          <p:nvPr/>
        </p:nvSpPr>
        <p:spPr bwMode="auto">
          <a:xfrm>
            <a:off x="6055442" y="1894992"/>
            <a:ext cx="1813843" cy="358468"/>
          </a:xfrm>
          <a:prstGeom prst="rect">
            <a:avLst/>
          </a:prstGeom>
          <a:ln>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7" tIns="45704" rIns="91407" bIns="45704" numCol="1" rtlCol="0" anchor="ctr" anchorCtr="0" compatLnSpc="1">
            <a:prstTxWarp prst="textNoShape">
              <a:avLst/>
            </a:prstTxWarp>
          </a:bodyPr>
          <a:lstStyle/>
          <a:p>
            <a:pPr algn="ctr" defTabSz="913857" fontAlgn="base">
              <a:spcBef>
                <a:spcPct val="0"/>
              </a:spcBef>
              <a:spcAft>
                <a:spcPct val="0"/>
              </a:spcAft>
            </a:pPr>
            <a:r>
              <a:rPr lang="en-US" sz="1200" b="1" dirty="0">
                <a:solidFill>
                  <a:srgbClr val="FFFFFF"/>
                </a:solidFill>
              </a:rPr>
              <a:t>Health Service</a:t>
            </a:r>
          </a:p>
        </p:txBody>
      </p:sp>
      <p:sp>
        <p:nvSpPr>
          <p:cNvPr id="38" name="TextBox 37"/>
          <p:cNvSpPr txBox="1"/>
          <p:nvPr/>
        </p:nvSpPr>
        <p:spPr>
          <a:xfrm>
            <a:off x="4247682" y="1332861"/>
            <a:ext cx="987450" cy="207749"/>
          </a:xfrm>
          <a:prstGeom prst="rect">
            <a:avLst/>
          </a:prstGeom>
          <a:noFill/>
        </p:spPr>
        <p:txBody>
          <a:bodyPr wrap="none" lIns="0" tIns="0" rIns="0" bIns="0" rtlCol="0">
            <a:spAutoFit/>
          </a:bodyPr>
          <a:lstStyle/>
          <a:p>
            <a:r>
              <a:rPr lang="en-US" sz="1350" dirty="0" err="1">
                <a:solidFill>
                  <a:srgbClr val="FFFFFF"/>
                </a:solidFill>
              </a:rPr>
              <a:t>MOMChannel</a:t>
            </a:r>
            <a:endParaRPr lang="en-US" sz="1350" dirty="0">
              <a:solidFill>
                <a:srgbClr val="FFFFFF"/>
              </a:solidFill>
            </a:endParaRPr>
          </a:p>
        </p:txBody>
      </p:sp>
    </p:spTree>
    <p:extLst>
      <p:ext uri="{BB962C8B-B14F-4D97-AF65-F5344CB8AC3E}">
        <p14:creationId xmlns:p14="http://schemas.microsoft.com/office/powerpoint/2010/main" val="7455512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P spid="17" grpId="0" animBg="1"/>
      <p:bldP spid="18" grpId="0"/>
      <p:bldP spid="21" grpId="0" animBg="1"/>
      <p:bldP spid="22" grpId="0" animBg="1"/>
      <p:bldP spid="23" grpId="0" animBg="1"/>
      <p:bldP spid="26" grpId="0" animBg="1"/>
      <p:bldP spid="28" grpId="0"/>
      <p:bldP spid="29" grpId="0"/>
      <p:bldP spid="30" grpId="0" animBg="1"/>
      <p:bldP spid="31" grpId="0" animBg="1"/>
      <p:bldP spid="33" grpId="0" animBg="1"/>
      <p:bldP spid="40" grpId="0" animBg="1"/>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Built-In Monitoring</a:t>
            </a:r>
          </a:p>
        </p:txBody>
      </p:sp>
      <p:graphicFrame>
        <p:nvGraphicFramePr>
          <p:cNvPr id="6" name="Content Placeholder 5"/>
          <p:cNvGraphicFramePr>
            <a:graphicFrameLocks noGrp="1"/>
          </p:cNvGraphicFramePr>
          <p:nvPr>
            <p:ph sz="quarter" idx="10"/>
            <p:extLst/>
          </p:nvPr>
        </p:nvGraphicFramePr>
        <p:xfrm>
          <a:off x="179512" y="3765018"/>
          <a:ext cx="8858374" cy="8405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4" name="Diagram 3"/>
          <p:cNvGraphicFramePr/>
          <p:nvPr>
            <p:extLst/>
          </p:nvPr>
        </p:nvGraphicFramePr>
        <p:xfrm>
          <a:off x="106114" y="759128"/>
          <a:ext cx="7054001" cy="294878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33" name="Group 32"/>
          <p:cNvGrpSpPr/>
          <p:nvPr/>
        </p:nvGrpSpPr>
        <p:grpSpPr>
          <a:xfrm>
            <a:off x="179513" y="4659982"/>
            <a:ext cx="8858374" cy="432048"/>
            <a:chOff x="179513" y="4659982"/>
            <a:chExt cx="8858374" cy="432048"/>
          </a:xfrm>
        </p:grpSpPr>
        <p:sp>
          <p:nvSpPr>
            <p:cNvPr id="3" name="Rectangle 2"/>
            <p:cNvSpPr/>
            <p:nvPr/>
          </p:nvSpPr>
          <p:spPr>
            <a:xfrm>
              <a:off x="179513" y="4659982"/>
              <a:ext cx="8858374" cy="432048"/>
            </a:xfrm>
            <a:prstGeom prst="rect">
              <a:avLst/>
            </a:prstGeom>
            <a:scene3d>
              <a:camera prst="orthographicFront"/>
              <a:lightRig rig="threePt" dir="t"/>
            </a:scene3d>
            <a:sp3d>
              <a:bevelT/>
            </a:sp3d>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pic>
          <p:nvPicPr>
            <p:cNvPr id="15" name="Picture 6" descr="https://assets.ubuntu.com/v1/c037fd75-ubuntu-logo.png">
              <a:extLst/>
            </p:cNvPr>
            <p:cNvPicPr>
              <a:picLocks noChangeAspect="1"/>
            </p:cNvPicPr>
            <p:nvPr/>
          </p:nvPicPr>
          <p:blipFill>
            <a:blip r:embed="rId13"/>
            <a:srcRect/>
            <a:stretch>
              <a:fillRect/>
            </a:stretch>
          </p:blipFill>
          <p:spPr>
            <a:xfrm>
              <a:off x="2472398" y="4786567"/>
              <a:ext cx="701883" cy="158340"/>
            </a:xfrm>
            <a:prstGeom prst="rect">
              <a:avLst/>
            </a:prstGeom>
            <a:noFill/>
            <a:ln cap="flat">
              <a:noFill/>
            </a:ln>
          </p:spPr>
        </p:pic>
        <p:pic>
          <p:nvPicPr>
            <p:cNvPr id="16" name="Picture 14" descr="https://d0.awsstatic.com/logos/partners/logo-oracle-linux.png">
              <a:extLst/>
            </p:cNvPr>
            <p:cNvPicPr>
              <a:picLocks noChangeAspect="1"/>
            </p:cNvPicPr>
            <p:nvPr/>
          </p:nvPicPr>
          <p:blipFill>
            <a:blip r:embed="rId14"/>
            <a:srcRect/>
            <a:stretch>
              <a:fillRect/>
            </a:stretch>
          </p:blipFill>
          <p:spPr>
            <a:xfrm>
              <a:off x="4334975" y="4767184"/>
              <a:ext cx="640126" cy="217643"/>
            </a:xfrm>
            <a:prstGeom prst="rect">
              <a:avLst/>
            </a:prstGeom>
            <a:noFill/>
            <a:ln cap="flat">
              <a:noFill/>
            </a:ln>
          </p:spPr>
        </p:pic>
        <p:pic>
          <p:nvPicPr>
            <p:cNvPr id="17" name="Picture 10" descr="https://upload.wikimedia.org/wikipedia/commons/thumb/b/bf/Centos-logo-light.svg/200px-Centos-logo-light.svg.png">
              <a:extLst/>
            </p:cNvPr>
            <p:cNvPicPr>
              <a:picLocks noChangeAspect="1"/>
            </p:cNvPicPr>
            <p:nvPr/>
          </p:nvPicPr>
          <p:blipFill>
            <a:blip r:embed="rId15"/>
            <a:srcRect/>
            <a:stretch>
              <a:fillRect/>
            </a:stretch>
          </p:blipFill>
          <p:spPr>
            <a:xfrm>
              <a:off x="3371868" y="4748185"/>
              <a:ext cx="696544" cy="233342"/>
            </a:xfrm>
            <a:prstGeom prst="rect">
              <a:avLst/>
            </a:prstGeom>
            <a:noFill/>
            <a:ln cap="flat">
              <a:noFill/>
            </a:ln>
          </p:spPr>
        </p:pic>
        <p:pic>
          <p:nvPicPr>
            <p:cNvPr id="18" name="Picture 2" descr="http://www.linuxservice.be/nl/images/debian5.png">
              <a:extLst/>
            </p:cNvPr>
            <p:cNvPicPr>
              <a:picLocks noChangeAspect="1"/>
            </p:cNvPicPr>
            <p:nvPr/>
          </p:nvPicPr>
          <p:blipFill>
            <a:blip r:embed="rId16"/>
            <a:srcRect/>
            <a:stretch>
              <a:fillRect/>
            </a:stretch>
          </p:blipFill>
          <p:spPr>
            <a:xfrm>
              <a:off x="1485043" y="4749947"/>
              <a:ext cx="896441" cy="231580"/>
            </a:xfrm>
            <a:prstGeom prst="rect">
              <a:avLst/>
            </a:prstGeom>
            <a:noFill/>
            <a:ln cap="flat">
              <a:noFill/>
            </a:ln>
          </p:spPr>
        </p:pic>
        <p:pic>
          <p:nvPicPr>
            <p:cNvPr id="19" name="Picture 4" descr="http://www.radicaltechnologiesbangalore.com/wp-content/plugins/ambil-services/resources/images/technologies/SLD4736999.png">
              <a:extLst/>
            </p:cNvPr>
            <p:cNvPicPr>
              <a:picLocks noChangeAspect="1"/>
            </p:cNvPicPr>
            <p:nvPr/>
          </p:nvPicPr>
          <p:blipFill>
            <a:blip r:embed="rId17"/>
            <a:srcRect/>
            <a:stretch>
              <a:fillRect/>
            </a:stretch>
          </p:blipFill>
          <p:spPr>
            <a:xfrm>
              <a:off x="611560" y="4659982"/>
              <a:ext cx="411510" cy="411510"/>
            </a:xfrm>
            <a:prstGeom prst="rect">
              <a:avLst/>
            </a:prstGeom>
            <a:noFill/>
            <a:ln cap="flat">
              <a:noFill/>
            </a:ln>
          </p:spPr>
        </p:pic>
        <p:pic>
          <p:nvPicPr>
            <p:cNvPr id="20" name="Picture 19"/>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1105699" y="4794658"/>
              <a:ext cx="291001" cy="162696"/>
            </a:xfrm>
            <a:prstGeom prst="rect">
              <a:avLst/>
            </a:prstGeom>
          </p:spPr>
        </p:pic>
        <p:pic>
          <p:nvPicPr>
            <p:cNvPr id="21" name="Picture 20"/>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5370059" y="4748185"/>
              <a:ext cx="306040" cy="306040"/>
            </a:xfrm>
            <a:prstGeom prst="rect">
              <a:avLst/>
            </a:prstGeom>
          </p:spPr>
        </p:pic>
        <p:pic>
          <p:nvPicPr>
            <p:cNvPr id="22" name="Picture 21"/>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6209508" y="4762725"/>
              <a:ext cx="553355" cy="291500"/>
            </a:xfrm>
            <a:prstGeom prst="rect">
              <a:avLst/>
            </a:prstGeom>
          </p:spPr>
        </p:pic>
        <p:pic>
          <p:nvPicPr>
            <p:cNvPr id="23" name="Picture 22"/>
            <p:cNvPicPr>
              <a:picLocks noChangeAspect="1"/>
            </p:cNvPicPr>
            <p:nvPr/>
          </p:nvPicPr>
          <p:blipFill>
            <a:blip r:embed="rId21" cstate="print">
              <a:extLst>
                <a:ext uri="{28A0092B-C50C-407E-A947-70E740481C1C}">
                  <a14:useLocalDpi xmlns:a14="http://schemas.microsoft.com/office/drawing/2010/main" val="0"/>
                </a:ext>
              </a:extLst>
            </a:blip>
            <a:stretch>
              <a:fillRect/>
            </a:stretch>
          </p:blipFill>
          <p:spPr>
            <a:xfrm>
              <a:off x="7203459" y="4730574"/>
              <a:ext cx="635621" cy="306040"/>
            </a:xfrm>
            <a:prstGeom prst="rect">
              <a:avLst/>
            </a:prstGeom>
          </p:spPr>
        </p:pic>
      </p:grpSp>
      <p:grpSp>
        <p:nvGrpSpPr>
          <p:cNvPr id="34" name="Group 33"/>
          <p:cNvGrpSpPr/>
          <p:nvPr/>
        </p:nvGrpSpPr>
        <p:grpSpPr>
          <a:xfrm>
            <a:off x="7125941" y="759128"/>
            <a:ext cx="1945606" cy="2948781"/>
            <a:chOff x="7125941" y="759128"/>
            <a:chExt cx="1945606" cy="2948781"/>
          </a:xfrm>
        </p:grpSpPr>
        <p:sp>
          <p:nvSpPr>
            <p:cNvPr id="25" name="Rectangle 24"/>
            <p:cNvSpPr/>
            <p:nvPr/>
          </p:nvSpPr>
          <p:spPr>
            <a:xfrm>
              <a:off x="7125941" y="759128"/>
              <a:ext cx="1945606" cy="2948781"/>
            </a:xfrm>
            <a:prstGeom prst="rect">
              <a:avLst/>
            </a:prstGeom>
            <a:solidFill>
              <a:srgbClr val="4F81BD">
                <a:hueOff val="0"/>
                <a:satOff val="0"/>
                <a:lumOff val="0"/>
                <a:alphaOff val="0"/>
              </a:srgbClr>
            </a:solidFill>
            <a:ln w="25400" cap="flat" cmpd="sng" algn="ctr">
              <a:solidFill>
                <a:prstClr val="white">
                  <a:hueOff val="0"/>
                  <a:satOff val="0"/>
                  <a:lumOff val="0"/>
                  <a:alphaOff val="0"/>
                </a:prstClr>
              </a:solidFill>
              <a:prstDash val="solid"/>
            </a:ln>
            <a:effectLst/>
            <a:scene3d>
              <a:camera prst="orthographicFront"/>
              <a:lightRig rig="threePt" dir="t"/>
            </a:scene3d>
            <a:sp3d>
              <a:bevelT/>
            </a:sp3d>
          </p:spPr>
          <p:txBody>
            <a:bodyPr spcFirstLastPara="0" vert="horz" wrap="square" lIns="60960" tIns="30480" rIns="60960" bIns="30480" numCol="1" spcCol="1270" anchor="ctr" anchorCtr="0">
              <a:noAutofit/>
            </a:bodyPr>
            <a:lstStyle/>
            <a:p>
              <a:endParaRPr lang="en-US" sz="1600"/>
            </a:p>
          </p:txBody>
        </p:sp>
        <p:sp>
          <p:nvSpPr>
            <p:cNvPr id="27" name="TextBox 26"/>
            <p:cNvSpPr txBox="1"/>
            <p:nvPr/>
          </p:nvSpPr>
          <p:spPr>
            <a:xfrm>
              <a:off x="7270973" y="759785"/>
              <a:ext cx="1689716" cy="369332"/>
            </a:xfrm>
            <a:prstGeom prst="rect">
              <a:avLst/>
            </a:prstGeom>
            <a:noFill/>
          </p:spPr>
          <p:txBody>
            <a:bodyPr wrap="square" rtlCol="0">
              <a:spAutoFit/>
            </a:bodyPr>
            <a:lstStyle/>
            <a:p>
              <a:r>
                <a:rPr lang="en-US" dirty="0">
                  <a:solidFill>
                    <a:schemeClr val="bg1"/>
                  </a:solidFill>
                </a:rPr>
                <a:t>JEE </a:t>
              </a:r>
              <a:r>
                <a:rPr lang="en-US" dirty="0" err="1">
                  <a:solidFill>
                    <a:schemeClr val="bg1"/>
                  </a:solidFill>
                </a:rPr>
                <a:t>AppServer</a:t>
              </a:r>
              <a:endParaRPr lang="en-US" dirty="0">
                <a:solidFill>
                  <a:schemeClr val="bg1"/>
                </a:solidFill>
              </a:endParaRPr>
            </a:p>
          </p:txBody>
        </p:sp>
        <p:sp>
          <p:nvSpPr>
            <p:cNvPr id="28" name="TextBox 27"/>
            <p:cNvSpPr txBox="1"/>
            <p:nvPr/>
          </p:nvSpPr>
          <p:spPr>
            <a:xfrm>
              <a:off x="7160114" y="1075610"/>
              <a:ext cx="1877771" cy="2400657"/>
            </a:xfrm>
            <a:prstGeom prst="rect">
              <a:avLst/>
            </a:prstGeom>
            <a:noFill/>
          </p:spPr>
          <p:txBody>
            <a:bodyPr wrap="square" rtlCol="0">
              <a:spAutoFit/>
            </a:bodyPr>
            <a:lstStyle/>
            <a:p>
              <a:r>
                <a:rPr lang="en-US" sz="900" b="1" dirty="0">
                  <a:solidFill>
                    <a:schemeClr val="bg1"/>
                  </a:solidFill>
                </a:rPr>
                <a:t>Basic</a:t>
              </a:r>
            </a:p>
            <a:p>
              <a:pPr marL="171450" indent="-171450">
                <a:buFont typeface="Arial" panose="020B0604020202020204" pitchFamily="34" charset="0"/>
                <a:buChar char="•"/>
              </a:pPr>
              <a:r>
                <a:rPr lang="en-US" sz="900" dirty="0">
                  <a:solidFill>
                    <a:schemeClr val="bg1"/>
                  </a:solidFill>
                </a:rPr>
                <a:t>Application server instances</a:t>
              </a:r>
            </a:p>
            <a:p>
              <a:pPr marL="171450" indent="-171450">
                <a:buFont typeface="Arial" panose="020B0604020202020204" pitchFamily="34" charset="0"/>
                <a:buChar char="•"/>
              </a:pPr>
              <a:r>
                <a:rPr lang="en-US" sz="900" dirty="0">
                  <a:solidFill>
                    <a:schemeClr val="bg1"/>
                  </a:solidFill>
                </a:rPr>
                <a:t>Basic discovery of apps, </a:t>
              </a:r>
              <a:r>
                <a:rPr lang="en-US" sz="900">
                  <a:solidFill>
                    <a:schemeClr val="bg1"/>
                  </a:solidFill>
                </a:rPr>
                <a:t>ports etc.</a:t>
              </a:r>
              <a:endParaRPr lang="en-US" sz="900" b="1" dirty="0">
                <a:solidFill>
                  <a:schemeClr val="bg1"/>
                </a:solidFill>
              </a:endParaRPr>
            </a:p>
            <a:p>
              <a:r>
                <a:rPr lang="en-US" sz="900" b="1" dirty="0">
                  <a:solidFill>
                    <a:schemeClr val="bg1"/>
                  </a:solidFill>
                </a:rPr>
                <a:t>Deep (Bean Spy)</a:t>
              </a:r>
            </a:p>
            <a:p>
              <a:pPr marL="171450" indent="-171450">
                <a:buFont typeface="Arial" panose="020B0604020202020204" pitchFamily="34" charset="0"/>
                <a:buChar char="•"/>
              </a:pPr>
              <a:r>
                <a:rPr lang="en-US" sz="900" dirty="0">
                  <a:solidFill>
                    <a:schemeClr val="bg1"/>
                  </a:solidFill>
                </a:rPr>
                <a:t>Applications deployed in the application server.</a:t>
              </a:r>
            </a:p>
            <a:p>
              <a:pPr marL="171450" indent="-171450">
                <a:buFont typeface="Arial" panose="020B0604020202020204" pitchFamily="34" charset="0"/>
                <a:buChar char="•"/>
              </a:pPr>
              <a:r>
                <a:rPr lang="en-US" sz="900" dirty="0">
                  <a:solidFill>
                    <a:schemeClr val="bg1"/>
                  </a:solidFill>
                </a:rPr>
                <a:t>Garbage collections per second.</a:t>
              </a:r>
            </a:p>
            <a:p>
              <a:pPr marL="171450" indent="-171450">
                <a:buFont typeface="Arial" panose="020B0604020202020204" pitchFamily="34" charset="0"/>
                <a:buChar char="•"/>
              </a:pPr>
              <a:r>
                <a:rPr lang="en-US" sz="900" dirty="0">
                  <a:solidFill>
                    <a:schemeClr val="bg1"/>
                  </a:solidFill>
                </a:rPr>
                <a:t>Time spent in garbage collection.</a:t>
              </a:r>
            </a:p>
            <a:p>
              <a:pPr marL="171450" indent="-171450">
                <a:buFont typeface="Arial" panose="020B0604020202020204" pitchFamily="34" charset="0"/>
                <a:buChar char="•"/>
              </a:pPr>
              <a:r>
                <a:rPr lang="en-US" sz="900" dirty="0">
                  <a:solidFill>
                    <a:schemeClr val="bg1"/>
                  </a:solidFill>
                </a:rPr>
                <a:t>JVM memory usage and capacity.</a:t>
              </a:r>
            </a:p>
            <a:p>
              <a:pPr marL="171450" indent="-171450">
                <a:buFont typeface="Arial" panose="020B0604020202020204" pitchFamily="34" charset="0"/>
                <a:buChar char="•"/>
              </a:pPr>
              <a:r>
                <a:rPr lang="en-US" sz="900" dirty="0">
                  <a:solidFill>
                    <a:schemeClr val="bg1"/>
                  </a:solidFill>
                </a:rPr>
                <a:t>Number of class loaded in the JVM.</a:t>
              </a:r>
            </a:p>
            <a:p>
              <a:pPr marL="171450" indent="-171450">
                <a:buFont typeface="Arial" panose="020B0604020202020204" pitchFamily="34" charset="0"/>
                <a:buChar char="•"/>
              </a:pPr>
              <a:r>
                <a:rPr lang="en-US" sz="900" dirty="0">
                  <a:solidFill>
                    <a:schemeClr val="bg1"/>
                  </a:solidFill>
                </a:rPr>
                <a:t>Number of active threads.</a:t>
              </a:r>
            </a:p>
            <a:p>
              <a:pPr marL="171450" indent="-171450">
                <a:buFont typeface="Arial" panose="020B0604020202020204" pitchFamily="34" charset="0"/>
                <a:buChar char="•"/>
              </a:pPr>
              <a:r>
                <a:rPr lang="en-US" sz="900" b="1" dirty="0">
                  <a:solidFill>
                    <a:schemeClr val="bg1"/>
                  </a:solidFill>
                </a:rPr>
                <a:t>More using </a:t>
              </a:r>
              <a:r>
                <a:rPr lang="en-US" sz="900" b="1" dirty="0" err="1">
                  <a:solidFill>
                    <a:schemeClr val="bg1"/>
                  </a:solidFill>
                </a:rPr>
                <a:t>MBeans</a:t>
              </a:r>
              <a:r>
                <a:rPr lang="en-US" sz="900" b="1" dirty="0">
                  <a:solidFill>
                    <a:schemeClr val="bg1"/>
                  </a:solidFill>
                </a:rPr>
                <a:t> (JMX)</a:t>
              </a:r>
            </a:p>
            <a:p>
              <a:endParaRPr lang="en-US" sz="600" dirty="0">
                <a:solidFill>
                  <a:schemeClr val="bg1"/>
                </a:solidFill>
              </a:endParaRPr>
            </a:p>
          </p:txBody>
        </p:sp>
        <p:pic>
          <p:nvPicPr>
            <p:cNvPr id="29" name="Picture 28"/>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7131863" y="3384619"/>
              <a:ext cx="439283" cy="292741"/>
            </a:xfrm>
            <a:prstGeom prst="rect">
              <a:avLst/>
            </a:prstGeom>
          </p:spPr>
        </p:pic>
        <p:pic>
          <p:nvPicPr>
            <p:cNvPr id="30" name="Picture 29"/>
            <p:cNvPicPr>
              <a:picLocks noChangeAspect="1"/>
            </p:cNvPicPr>
            <p:nvPr/>
          </p:nvPicPr>
          <p:blipFill>
            <a:blip r:embed="rId23" cstate="print">
              <a:extLst>
                <a:ext uri="{28A0092B-C50C-407E-A947-70E740481C1C}">
                  <a14:useLocalDpi xmlns:a14="http://schemas.microsoft.com/office/drawing/2010/main" val="0"/>
                </a:ext>
              </a:extLst>
            </a:blip>
            <a:stretch>
              <a:fillRect/>
            </a:stretch>
          </p:blipFill>
          <p:spPr>
            <a:xfrm>
              <a:off x="7587859" y="3462405"/>
              <a:ext cx="502441" cy="182706"/>
            </a:xfrm>
            <a:prstGeom prst="rect">
              <a:avLst/>
            </a:prstGeom>
          </p:spPr>
        </p:pic>
        <p:pic>
          <p:nvPicPr>
            <p:cNvPr id="31" name="Picture 30"/>
            <p:cNvPicPr>
              <a:picLocks noChangeAspect="1"/>
            </p:cNvPicPr>
            <p:nvPr/>
          </p:nvPicPr>
          <p:blipFill>
            <a:blip r:embed="rId24" cstate="print">
              <a:extLst>
                <a:ext uri="{28A0092B-C50C-407E-A947-70E740481C1C}">
                  <a14:useLocalDpi xmlns:a14="http://schemas.microsoft.com/office/drawing/2010/main" val="0"/>
                </a:ext>
              </a:extLst>
            </a:blip>
            <a:stretch>
              <a:fillRect/>
            </a:stretch>
          </p:blipFill>
          <p:spPr>
            <a:xfrm>
              <a:off x="8576735" y="3380198"/>
              <a:ext cx="445026" cy="275742"/>
            </a:xfrm>
            <a:prstGeom prst="rect">
              <a:avLst/>
            </a:prstGeom>
          </p:spPr>
        </p:pic>
        <p:pic>
          <p:nvPicPr>
            <p:cNvPr id="32" name="Picture 31"/>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8139896" y="3380198"/>
              <a:ext cx="393944" cy="262630"/>
            </a:xfrm>
            <a:prstGeom prst="rect">
              <a:avLst/>
            </a:prstGeom>
          </p:spPr>
        </p:pic>
      </p:grpSp>
    </p:spTree>
    <p:extLst>
      <p:ext uri="{BB962C8B-B14F-4D97-AF65-F5344CB8AC3E}">
        <p14:creationId xmlns:p14="http://schemas.microsoft.com/office/powerpoint/2010/main" val="14656125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wipe(down)">
                                      <p:cBhvr>
                                        <p:cTn id="7" dur="5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down)">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wipe(down)">
                                      <p:cBhvr>
                                        <p:cTn id="22"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4" grpId="0">
        <p:bldAsOne/>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Apache Monitoring Architecture</a:t>
            </a:r>
          </a:p>
        </p:txBody>
      </p:sp>
      <p:grpSp>
        <p:nvGrpSpPr>
          <p:cNvPr id="2" name="Group 1"/>
          <p:cNvGrpSpPr/>
          <p:nvPr/>
        </p:nvGrpSpPr>
        <p:grpSpPr>
          <a:xfrm>
            <a:off x="107504" y="1018692"/>
            <a:ext cx="6769447" cy="3105423"/>
            <a:chOff x="370009" y="1059033"/>
            <a:chExt cx="8494371" cy="3529673"/>
          </a:xfrm>
        </p:grpSpPr>
        <p:sp>
          <p:nvSpPr>
            <p:cNvPr id="8" name="Rectangle 7"/>
            <p:cNvSpPr/>
            <p:nvPr/>
          </p:nvSpPr>
          <p:spPr bwMode="auto">
            <a:xfrm>
              <a:off x="370009" y="1059033"/>
              <a:ext cx="7059345" cy="3529673"/>
            </a:xfrm>
            <a:prstGeom prst="rect">
              <a:avLst/>
            </a:prstGeom>
            <a:ln>
              <a:headEnd type="none" w="med" len="med"/>
              <a:tailEnd type="none" w="med" len="me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134464" tIns="107571" rIns="134464" bIns="107571" numCol="1" spcCol="0" rtlCol="0" fromWordArt="0" anchor="t" anchorCtr="0" forceAA="0" compatLnSpc="1">
              <a:prstTxWarp prst="textNoShape">
                <a:avLst/>
              </a:prstTxWarp>
              <a:noAutofit/>
            </a:bodyPr>
            <a:lstStyle/>
            <a:p>
              <a:pPr algn="ctr" defTabSz="685647"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4" name="Rectangle 3"/>
            <p:cNvSpPr/>
            <p:nvPr/>
          </p:nvSpPr>
          <p:spPr bwMode="auto">
            <a:xfrm>
              <a:off x="3809293" y="1250538"/>
              <a:ext cx="2969407" cy="819147"/>
            </a:xfrm>
            <a:prstGeom prst="rect">
              <a:avLst/>
            </a:prstGeom>
            <a:ln>
              <a:headEnd type="none" w="med" len="med"/>
              <a:tailEnd type="none" w="med" len="med"/>
            </a:ln>
          </p:spPr>
          <p:style>
            <a:lnRef idx="3">
              <a:schemeClr val="lt1"/>
            </a:lnRef>
            <a:fillRef idx="1">
              <a:schemeClr val="accent3"/>
            </a:fillRef>
            <a:effectRef idx="1">
              <a:schemeClr val="accent3"/>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OMI Server</a:t>
              </a:r>
            </a:p>
            <a:p>
              <a:pPr algn="ctr" defTabSz="685647" fontAlgn="base">
                <a:spcBef>
                  <a:spcPct val="0"/>
                </a:spcBef>
                <a:spcAft>
                  <a:spcPct val="0"/>
                </a:spcAft>
              </a:pPr>
              <a:r>
                <a:rPr lang="en-US" sz="1100" dirty="0">
                  <a:gradFill>
                    <a:gsLst>
                      <a:gs pos="0">
                        <a:srgbClr val="FFFFFF"/>
                      </a:gs>
                      <a:gs pos="100000">
                        <a:srgbClr val="FFFFFF"/>
                      </a:gs>
                    </a:gsLst>
                    <a:lin ang="5400000" scaled="0"/>
                  </a:gradFill>
                </a:rPr>
                <a:t>(CIM Server)</a:t>
              </a:r>
            </a:p>
          </p:txBody>
        </p:sp>
        <p:sp>
          <p:nvSpPr>
            <p:cNvPr id="5" name="Rectangle 4"/>
            <p:cNvSpPr/>
            <p:nvPr/>
          </p:nvSpPr>
          <p:spPr bwMode="auto">
            <a:xfrm>
              <a:off x="5959554" y="2070663"/>
              <a:ext cx="819147" cy="1951526"/>
            </a:xfrm>
            <a:prstGeom prst="rect">
              <a:avLst/>
            </a:prstGeom>
            <a:ln>
              <a:headEnd type="none" w="med" len="med"/>
              <a:tailEnd type="none" w="med" len="med"/>
            </a:ln>
          </p:spPr>
          <p:style>
            <a:lnRef idx="3">
              <a:schemeClr val="lt1"/>
            </a:lnRef>
            <a:fillRef idx="1">
              <a:schemeClr val="accent4"/>
            </a:fillRef>
            <a:effectRef idx="1">
              <a:schemeClr val="accent4"/>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Providers</a:t>
              </a:r>
            </a:p>
          </p:txBody>
        </p:sp>
        <p:sp>
          <p:nvSpPr>
            <p:cNvPr id="6" name="Rectangle 5"/>
            <p:cNvSpPr/>
            <p:nvPr/>
          </p:nvSpPr>
          <p:spPr bwMode="auto">
            <a:xfrm>
              <a:off x="3809294" y="2073695"/>
              <a:ext cx="2150260" cy="491255"/>
            </a:xfrm>
            <a:prstGeom prst="rect">
              <a:avLst/>
            </a:prstGeom>
            <a:ln>
              <a:headEnd type="none" w="med" len="med"/>
              <a:tailEnd type="none" w="med" len="med"/>
            </a:ln>
          </p:spPr>
          <p:style>
            <a:lnRef idx="3">
              <a:schemeClr val="lt1"/>
            </a:lnRef>
            <a:fillRef idx="1">
              <a:schemeClr val="accent2"/>
            </a:fillRef>
            <a:effectRef idx="1">
              <a:schemeClr val="accent2"/>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Apache_HTTPD</a:t>
              </a:r>
              <a:r>
                <a:rPr lang="en-US" sz="1100" dirty="0">
                  <a:gradFill>
                    <a:gsLst>
                      <a:gs pos="0">
                        <a:srgbClr val="FFFFFF"/>
                      </a:gs>
                      <a:gs pos="100000">
                        <a:srgbClr val="FFFFFF"/>
                      </a:gs>
                    </a:gsLst>
                    <a:lin ang="5400000" scaled="0"/>
                  </a:gradFill>
                </a:rPr>
                <a:t>*</a:t>
              </a:r>
            </a:p>
          </p:txBody>
        </p:sp>
        <p:sp>
          <p:nvSpPr>
            <p:cNvPr id="7" name="Rectangle 6"/>
            <p:cNvSpPr/>
            <p:nvPr/>
          </p:nvSpPr>
          <p:spPr bwMode="auto">
            <a:xfrm>
              <a:off x="3809294" y="2566016"/>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SCX_OperatingSystem</a:t>
              </a:r>
              <a:endParaRPr lang="en-US" sz="1100" dirty="0">
                <a:gradFill>
                  <a:gsLst>
                    <a:gs pos="0">
                      <a:srgbClr val="FFFFFF"/>
                    </a:gs>
                    <a:gs pos="100000">
                      <a:srgbClr val="FFFFFF"/>
                    </a:gs>
                  </a:gsLst>
                  <a:lin ang="5400000" scaled="0"/>
                </a:gradFill>
              </a:endParaRPr>
            </a:p>
          </p:txBody>
        </p:sp>
        <p:sp>
          <p:nvSpPr>
            <p:cNvPr id="9" name="Rectangle 8"/>
            <p:cNvSpPr/>
            <p:nvPr/>
          </p:nvSpPr>
          <p:spPr bwMode="auto">
            <a:xfrm>
              <a:off x="3809294" y="3050240"/>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SCX_FileSystem</a:t>
              </a:r>
              <a:endParaRPr lang="en-US" sz="1100" dirty="0">
                <a:gradFill>
                  <a:gsLst>
                    <a:gs pos="0">
                      <a:srgbClr val="FFFFFF"/>
                    </a:gs>
                    <a:gs pos="100000">
                      <a:srgbClr val="FFFFFF"/>
                    </a:gs>
                  </a:gsLst>
                  <a:lin ang="5400000" scaled="0"/>
                </a:gradFill>
              </a:endParaRPr>
            </a:p>
          </p:txBody>
        </p:sp>
        <p:sp>
          <p:nvSpPr>
            <p:cNvPr id="10" name="Rectangle 9"/>
            <p:cNvSpPr/>
            <p:nvPr/>
          </p:nvSpPr>
          <p:spPr bwMode="auto">
            <a:xfrm>
              <a:off x="3809294" y="3530935"/>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SCX_UnixProcess</a:t>
              </a:r>
              <a:endParaRPr lang="en-US" sz="1100" dirty="0">
                <a:gradFill>
                  <a:gsLst>
                    <a:gs pos="0">
                      <a:srgbClr val="FFFFFF"/>
                    </a:gs>
                    <a:gs pos="100000">
                      <a:srgbClr val="FFFFFF"/>
                    </a:gs>
                  </a:gsLst>
                  <a:lin ang="5400000" scaled="0"/>
                </a:gradFill>
              </a:endParaRPr>
            </a:p>
          </p:txBody>
        </p:sp>
        <p:sp>
          <p:nvSpPr>
            <p:cNvPr id="11" name="TextBox 10"/>
            <p:cNvSpPr txBox="1"/>
            <p:nvPr/>
          </p:nvSpPr>
          <p:spPr>
            <a:xfrm>
              <a:off x="3731602" y="4046689"/>
              <a:ext cx="3249541" cy="435826"/>
            </a:xfrm>
            <a:prstGeom prst="rect">
              <a:avLst/>
            </a:prstGeom>
            <a:noFill/>
          </p:spPr>
          <p:txBody>
            <a:bodyPr wrap="square" lIns="134464" tIns="107571" rIns="134464" bIns="107571" rtlCol="0">
              <a:spAutoFit/>
            </a:bodyPr>
            <a:lstStyle/>
            <a:p>
              <a:pPr>
                <a:lnSpc>
                  <a:spcPct val="90000"/>
                </a:lnSpc>
                <a:spcAft>
                  <a:spcPts val="441"/>
                </a:spcAft>
              </a:pPr>
              <a:r>
                <a:rPr lang="en-US" sz="1200" dirty="0" err="1">
                  <a:solidFill>
                    <a:srgbClr val="505050">
                      <a:lumMod val="50000"/>
                    </a:srgbClr>
                  </a:solidFill>
                </a:rPr>
                <a:t>OpsMgr</a:t>
              </a:r>
              <a:r>
                <a:rPr lang="en-US" sz="1200" dirty="0">
                  <a:solidFill>
                    <a:srgbClr val="505050">
                      <a:lumMod val="50000"/>
                    </a:srgbClr>
                  </a:solidFill>
                </a:rPr>
                <a:t> Linux Agent</a:t>
              </a:r>
            </a:p>
          </p:txBody>
        </p:sp>
        <p:sp>
          <p:nvSpPr>
            <p:cNvPr id="13" name="Rectangle 12"/>
            <p:cNvSpPr/>
            <p:nvPr/>
          </p:nvSpPr>
          <p:spPr bwMode="auto">
            <a:xfrm>
              <a:off x="594115" y="1270937"/>
              <a:ext cx="1960929" cy="804489"/>
            </a:xfrm>
            <a:prstGeom prst="rect">
              <a:avLst/>
            </a:prstGeom>
            <a:ln>
              <a:headEnd type="none" w="med" len="med"/>
              <a:tailEnd type="none" w="med" len="med"/>
            </a:ln>
          </p:spPr>
          <p:style>
            <a:lnRef idx="3">
              <a:schemeClr val="lt1"/>
            </a:lnRef>
            <a:fillRef idx="1">
              <a:schemeClr val="accent3"/>
            </a:fillRef>
            <a:effectRef idx="1">
              <a:schemeClr val="accent3"/>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Apache HTTP Server</a:t>
              </a:r>
            </a:p>
          </p:txBody>
        </p:sp>
        <p:sp>
          <p:nvSpPr>
            <p:cNvPr id="14" name="Rectangle 13"/>
            <p:cNvSpPr/>
            <p:nvPr/>
          </p:nvSpPr>
          <p:spPr bwMode="auto">
            <a:xfrm>
              <a:off x="594115" y="2075426"/>
              <a:ext cx="1960930" cy="491255"/>
            </a:xfrm>
            <a:prstGeom prst="rect">
              <a:avLst/>
            </a:prstGeom>
            <a:ln>
              <a:headEnd type="none" w="med" len="med"/>
              <a:tailEnd type="none" w="med" len="med"/>
            </a:ln>
          </p:spPr>
          <p:style>
            <a:lnRef idx="3">
              <a:schemeClr val="lt1"/>
            </a:lnRef>
            <a:fillRef idx="1">
              <a:schemeClr val="accent2"/>
            </a:fillRef>
            <a:effectRef idx="1">
              <a:schemeClr val="accent2"/>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mod_cimprov</a:t>
              </a:r>
              <a:endParaRPr lang="en-US" sz="1100" dirty="0">
                <a:gradFill>
                  <a:gsLst>
                    <a:gs pos="0">
                      <a:srgbClr val="FFFFFF"/>
                    </a:gs>
                    <a:gs pos="100000">
                      <a:srgbClr val="FFFFFF"/>
                    </a:gs>
                  </a:gsLst>
                  <a:lin ang="5400000" scaled="0"/>
                </a:gradFill>
              </a:endParaRPr>
            </a:p>
          </p:txBody>
        </p:sp>
        <p:sp>
          <p:nvSpPr>
            <p:cNvPr id="15" name="Rectangle 14"/>
            <p:cNvSpPr/>
            <p:nvPr/>
          </p:nvSpPr>
          <p:spPr bwMode="auto">
            <a:xfrm>
              <a:off x="594115" y="2563843"/>
              <a:ext cx="196093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mod_php</a:t>
              </a:r>
              <a:endParaRPr lang="en-US" sz="1100" dirty="0">
                <a:gradFill>
                  <a:gsLst>
                    <a:gs pos="0">
                      <a:srgbClr val="FFFFFF"/>
                    </a:gs>
                    <a:gs pos="100000">
                      <a:srgbClr val="FFFFFF"/>
                    </a:gs>
                  </a:gsLst>
                  <a:lin ang="5400000" scaled="0"/>
                </a:gradFill>
              </a:endParaRPr>
            </a:p>
          </p:txBody>
        </p:sp>
        <p:sp>
          <p:nvSpPr>
            <p:cNvPr id="16" name="Rectangle 15"/>
            <p:cNvSpPr/>
            <p:nvPr/>
          </p:nvSpPr>
          <p:spPr bwMode="auto">
            <a:xfrm>
              <a:off x="594115" y="3039679"/>
              <a:ext cx="196093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mod_ssl</a:t>
              </a:r>
              <a:endParaRPr lang="en-US" sz="1100" dirty="0">
                <a:gradFill>
                  <a:gsLst>
                    <a:gs pos="0">
                      <a:srgbClr val="FFFFFF"/>
                    </a:gs>
                    <a:gs pos="100000">
                      <a:srgbClr val="FFFFFF"/>
                    </a:gs>
                  </a:gsLst>
                  <a:lin ang="5400000" scaled="0"/>
                </a:gradFill>
              </a:endParaRPr>
            </a:p>
          </p:txBody>
        </p:sp>
        <p:sp>
          <p:nvSpPr>
            <p:cNvPr id="17" name="Rectangle 16"/>
            <p:cNvSpPr/>
            <p:nvPr/>
          </p:nvSpPr>
          <p:spPr bwMode="auto">
            <a:xfrm>
              <a:off x="594115" y="3530935"/>
              <a:ext cx="196093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mod_alias</a:t>
              </a:r>
              <a:endParaRPr lang="en-US" sz="1100" dirty="0">
                <a:gradFill>
                  <a:gsLst>
                    <a:gs pos="0">
                      <a:srgbClr val="FFFFFF"/>
                    </a:gs>
                    <a:gs pos="100000">
                      <a:srgbClr val="FFFFFF"/>
                    </a:gs>
                  </a:gsLst>
                  <a:lin ang="5400000" scaled="0"/>
                </a:gradFill>
              </a:endParaRPr>
            </a:p>
          </p:txBody>
        </p:sp>
        <p:sp>
          <p:nvSpPr>
            <p:cNvPr id="19" name="TextBox 18"/>
            <p:cNvSpPr txBox="1"/>
            <p:nvPr/>
          </p:nvSpPr>
          <p:spPr>
            <a:xfrm>
              <a:off x="479766" y="4046689"/>
              <a:ext cx="2859650" cy="435826"/>
            </a:xfrm>
            <a:prstGeom prst="rect">
              <a:avLst/>
            </a:prstGeom>
            <a:noFill/>
          </p:spPr>
          <p:txBody>
            <a:bodyPr wrap="square" lIns="134464" tIns="107571" rIns="134464" bIns="107571" rtlCol="0">
              <a:spAutoFit/>
            </a:bodyPr>
            <a:lstStyle/>
            <a:p>
              <a:pPr>
                <a:lnSpc>
                  <a:spcPct val="90000"/>
                </a:lnSpc>
                <a:spcAft>
                  <a:spcPts val="441"/>
                </a:spcAft>
              </a:pPr>
              <a:r>
                <a:rPr lang="en-US" sz="1200" dirty="0">
                  <a:solidFill>
                    <a:srgbClr val="505050">
                      <a:lumMod val="50000"/>
                    </a:srgbClr>
                  </a:solidFill>
                </a:rPr>
                <a:t>Apache Web Server</a:t>
              </a:r>
            </a:p>
          </p:txBody>
        </p:sp>
        <p:cxnSp>
          <p:nvCxnSpPr>
            <p:cNvPr id="21" name="Straight Arrow Connector 20"/>
            <p:cNvCxnSpPr>
              <a:stCxn id="14" idx="3"/>
              <a:endCxn id="6" idx="1"/>
            </p:cNvCxnSpPr>
            <p:nvPr/>
          </p:nvCxnSpPr>
          <p:spPr>
            <a:xfrm flipV="1">
              <a:off x="2555045" y="2319322"/>
              <a:ext cx="1254248" cy="1731"/>
            </a:xfrm>
            <a:prstGeom prst="straightConnector1">
              <a:avLst/>
            </a:prstGeom>
            <a:ln w="66675">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2371370" y="1946248"/>
              <a:ext cx="1621597" cy="420084"/>
            </a:xfrm>
            <a:prstGeom prst="rect">
              <a:avLst/>
            </a:prstGeom>
            <a:noFill/>
          </p:spPr>
          <p:txBody>
            <a:bodyPr wrap="square" lIns="134464" tIns="107571" rIns="134464" bIns="107571" rtlCol="0">
              <a:spAutoFit/>
            </a:bodyPr>
            <a:lstStyle/>
            <a:p>
              <a:pPr algn="ctr">
                <a:lnSpc>
                  <a:spcPct val="90000"/>
                </a:lnSpc>
                <a:spcAft>
                  <a:spcPts val="441"/>
                </a:spcAft>
              </a:pPr>
              <a:r>
                <a:rPr lang="en-US" sz="1000" dirty="0">
                  <a:solidFill>
                    <a:srgbClr val="505050">
                      <a:lumMod val="50000"/>
                    </a:srgbClr>
                  </a:solidFill>
                </a:rPr>
                <a:t>Shared memory</a:t>
              </a:r>
            </a:p>
          </p:txBody>
        </p:sp>
        <p:sp>
          <p:nvSpPr>
            <p:cNvPr id="23" name="Left Arrow 22"/>
            <p:cNvSpPr/>
            <p:nvPr/>
          </p:nvSpPr>
          <p:spPr bwMode="auto">
            <a:xfrm>
              <a:off x="6981142" y="1366587"/>
              <a:ext cx="1883238" cy="448212"/>
            </a:xfrm>
            <a:prstGeom prst="leftArrow">
              <a:avLst/>
            </a:prstGeom>
            <a:ln>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WS-Man</a:t>
              </a:r>
            </a:p>
          </p:txBody>
        </p:sp>
        <p:sp>
          <p:nvSpPr>
            <p:cNvPr id="18" name="TextBox 17"/>
            <p:cNvSpPr txBox="1"/>
            <p:nvPr/>
          </p:nvSpPr>
          <p:spPr>
            <a:xfrm>
              <a:off x="7434991" y="3896201"/>
              <a:ext cx="1127151" cy="683036"/>
            </a:xfrm>
            <a:prstGeom prst="rect">
              <a:avLst/>
            </a:prstGeom>
            <a:noFill/>
          </p:spPr>
          <p:txBody>
            <a:bodyPr wrap="none" lIns="134464" tIns="107571" rIns="134464" bIns="107571" rtlCol="0">
              <a:spAutoFit/>
            </a:bodyPr>
            <a:lstStyle/>
            <a:p>
              <a:pPr>
                <a:lnSpc>
                  <a:spcPct val="90000"/>
                </a:lnSpc>
                <a:spcAft>
                  <a:spcPts val="441"/>
                </a:spcAft>
              </a:pPr>
              <a:r>
                <a:rPr lang="en-US" sz="1200" dirty="0">
                  <a:gradFill>
                    <a:gsLst>
                      <a:gs pos="2917">
                        <a:srgbClr val="FFFFFF"/>
                      </a:gs>
                      <a:gs pos="30000">
                        <a:srgbClr val="FFFFFF"/>
                      </a:gs>
                    </a:gsLst>
                    <a:lin ang="5400000" scaled="0"/>
                  </a:gradFill>
                </a:rPr>
                <a:t>Linux</a:t>
              </a:r>
            </a:p>
            <a:p>
              <a:pPr>
                <a:lnSpc>
                  <a:spcPct val="90000"/>
                </a:lnSpc>
                <a:spcAft>
                  <a:spcPts val="441"/>
                </a:spcAft>
              </a:pPr>
              <a:r>
                <a:rPr lang="en-US" sz="1200" dirty="0">
                  <a:gradFill>
                    <a:gsLst>
                      <a:gs pos="2917">
                        <a:srgbClr val="FFFFFF"/>
                      </a:gs>
                      <a:gs pos="30000">
                        <a:srgbClr val="FFFFFF"/>
                      </a:gs>
                    </a:gsLst>
                    <a:lin ang="5400000" scaled="0"/>
                  </a:gradFill>
                </a:rPr>
                <a:t>Computer</a:t>
              </a:r>
            </a:p>
          </p:txBody>
        </p:sp>
      </p:grpSp>
      <p:sp>
        <p:nvSpPr>
          <p:cNvPr id="12" name="TextBox 11"/>
          <p:cNvSpPr txBox="1"/>
          <p:nvPr/>
        </p:nvSpPr>
        <p:spPr>
          <a:xfrm>
            <a:off x="5858771" y="1676605"/>
            <a:ext cx="3160063" cy="1838241"/>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dirty="0">
                <a:solidFill>
                  <a:schemeClr val="bg1"/>
                </a:solidFill>
              </a:rPr>
              <a:t>Step 1: Import MP</a:t>
            </a:r>
          </a:p>
          <a:p>
            <a:r>
              <a:rPr lang="en-US" sz="1400" dirty="0">
                <a:solidFill>
                  <a:schemeClr val="bg1"/>
                </a:solidFill>
              </a:rPr>
              <a:t>Step 2: Deploy SCOM agent*</a:t>
            </a:r>
          </a:p>
          <a:p>
            <a:r>
              <a:rPr lang="en-US" sz="1400" dirty="0">
                <a:solidFill>
                  <a:schemeClr val="bg1"/>
                </a:solidFill>
              </a:rPr>
              <a:t>Step 3: Run SCOM task to deploy </a:t>
            </a:r>
            <a:r>
              <a:rPr lang="en-US" sz="1400" dirty="0" err="1">
                <a:solidFill>
                  <a:schemeClr val="bg1"/>
                </a:solidFill>
              </a:rPr>
              <a:t>mod_cimprov</a:t>
            </a:r>
            <a:r>
              <a:rPr lang="en-US" sz="1400" dirty="0">
                <a:solidFill>
                  <a:schemeClr val="bg1"/>
                </a:solidFill>
              </a:rPr>
              <a:t> Apache module **</a:t>
            </a:r>
          </a:p>
          <a:p>
            <a:endParaRPr lang="en-US" sz="1400" dirty="0">
              <a:solidFill>
                <a:schemeClr val="bg1"/>
              </a:solidFill>
            </a:endParaRPr>
          </a:p>
          <a:p>
            <a:endParaRPr lang="en-US" sz="1400" dirty="0">
              <a:solidFill>
                <a:schemeClr val="bg1"/>
              </a:solidFill>
            </a:endParaRPr>
          </a:p>
          <a:p>
            <a:r>
              <a:rPr lang="en-US" sz="1400" dirty="0">
                <a:solidFill>
                  <a:schemeClr val="bg1"/>
                </a:solidFill>
              </a:rPr>
              <a:t>* </a:t>
            </a:r>
            <a:r>
              <a:rPr lang="en-US" sz="1200" dirty="0">
                <a:solidFill>
                  <a:schemeClr val="bg1"/>
                </a:solidFill>
              </a:rPr>
              <a:t>Automatically deploys OMI module</a:t>
            </a:r>
            <a:endParaRPr lang="en-US" sz="1400" dirty="0">
              <a:solidFill>
                <a:schemeClr val="bg1"/>
              </a:solidFill>
            </a:endParaRPr>
          </a:p>
          <a:p>
            <a:r>
              <a:rPr lang="en-US" sz="1200" dirty="0">
                <a:solidFill>
                  <a:schemeClr val="bg1"/>
                </a:solidFill>
              </a:rPr>
              <a:t>**UNIX/Linux Privileged Account Run As Profile </a:t>
            </a:r>
          </a:p>
        </p:txBody>
      </p:sp>
    </p:spTree>
    <p:extLst>
      <p:ext uri="{BB962C8B-B14F-4D97-AF65-F5344CB8AC3E}">
        <p14:creationId xmlns:p14="http://schemas.microsoft.com/office/powerpoint/2010/main" val="18368993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down)">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Demo</a:t>
            </a:r>
            <a:br>
              <a:rPr lang="en-US" dirty="0"/>
            </a:br>
            <a:r>
              <a:rPr lang="en-US" dirty="0"/>
              <a:t>Apache Monitoring</a:t>
            </a:r>
            <a:endParaRPr lang="de-DE" dirty="0">
              <a:solidFill>
                <a:srgbClr val="FFFF00"/>
              </a:solidFill>
            </a:endParaRPr>
          </a:p>
        </p:txBody>
      </p:sp>
    </p:spTree>
    <p:extLst>
      <p:ext uri="{BB962C8B-B14F-4D97-AF65-F5344CB8AC3E}">
        <p14:creationId xmlns:p14="http://schemas.microsoft.com/office/powerpoint/2010/main" val="38232667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MySQL Monitoring Architecture</a:t>
            </a:r>
          </a:p>
        </p:txBody>
      </p:sp>
      <p:grpSp>
        <p:nvGrpSpPr>
          <p:cNvPr id="2" name="Group 1"/>
          <p:cNvGrpSpPr/>
          <p:nvPr/>
        </p:nvGrpSpPr>
        <p:grpSpPr>
          <a:xfrm>
            <a:off x="179513" y="1028391"/>
            <a:ext cx="6768752" cy="3241092"/>
            <a:chOff x="370009" y="1059033"/>
            <a:chExt cx="8516036" cy="3529673"/>
          </a:xfrm>
        </p:grpSpPr>
        <p:sp>
          <p:nvSpPr>
            <p:cNvPr id="8" name="Rectangle 7"/>
            <p:cNvSpPr/>
            <p:nvPr/>
          </p:nvSpPr>
          <p:spPr bwMode="auto">
            <a:xfrm>
              <a:off x="370009" y="1059033"/>
              <a:ext cx="7059345" cy="3529673"/>
            </a:xfrm>
            <a:prstGeom prst="rect">
              <a:avLst/>
            </a:prstGeom>
            <a:ln>
              <a:headEnd type="none" w="med" len="med"/>
              <a:tailEnd type="none" w="med" len="med"/>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34464" tIns="107571" rIns="134464" bIns="107571" numCol="1" spcCol="0" rtlCol="0" fromWordArt="0" anchor="t" anchorCtr="0" forceAA="0" compatLnSpc="1">
              <a:prstTxWarp prst="textNoShape">
                <a:avLst/>
              </a:prstTxWarp>
              <a:noAutofit/>
            </a:bodyPr>
            <a:lstStyle/>
            <a:p>
              <a:pPr algn="ctr" defTabSz="685647" fontAlgn="base">
                <a:lnSpc>
                  <a:spcPct val="90000"/>
                </a:lnSpc>
                <a:spcBef>
                  <a:spcPct val="0"/>
                </a:spcBef>
                <a:spcAft>
                  <a:spcPct val="0"/>
                </a:spcAft>
              </a:pPr>
              <a:endParaRPr lang="en-US" sz="1200" dirty="0" err="1">
                <a:gradFill>
                  <a:gsLst>
                    <a:gs pos="0">
                      <a:srgbClr val="FFFFFF"/>
                    </a:gs>
                    <a:gs pos="100000">
                      <a:srgbClr val="FFFFFF"/>
                    </a:gs>
                  </a:gsLst>
                  <a:lin ang="5400000" scaled="0"/>
                </a:gradFill>
                <a:ea typeface="Segoe UI" pitchFamily="34" charset="0"/>
                <a:cs typeface="Segoe UI" pitchFamily="34" charset="0"/>
              </a:endParaRPr>
            </a:p>
          </p:txBody>
        </p:sp>
        <p:sp>
          <p:nvSpPr>
            <p:cNvPr id="4" name="Rectangle 3"/>
            <p:cNvSpPr/>
            <p:nvPr/>
          </p:nvSpPr>
          <p:spPr bwMode="auto">
            <a:xfrm>
              <a:off x="3809293" y="1250538"/>
              <a:ext cx="2969407" cy="819147"/>
            </a:xfrm>
            <a:prstGeom prst="rect">
              <a:avLst/>
            </a:prstGeom>
            <a:ln>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OMI Server</a:t>
              </a:r>
            </a:p>
            <a:p>
              <a:pPr algn="ctr" defTabSz="685647" fontAlgn="base">
                <a:spcBef>
                  <a:spcPct val="0"/>
                </a:spcBef>
                <a:spcAft>
                  <a:spcPct val="0"/>
                </a:spcAft>
              </a:pPr>
              <a:r>
                <a:rPr lang="en-US" sz="1100" dirty="0">
                  <a:gradFill>
                    <a:gsLst>
                      <a:gs pos="0">
                        <a:srgbClr val="FFFFFF"/>
                      </a:gs>
                      <a:gs pos="100000">
                        <a:srgbClr val="FFFFFF"/>
                      </a:gs>
                    </a:gsLst>
                    <a:lin ang="5400000" scaled="0"/>
                  </a:gradFill>
                </a:rPr>
                <a:t>(CIM Server)</a:t>
              </a:r>
            </a:p>
          </p:txBody>
        </p:sp>
        <p:sp>
          <p:nvSpPr>
            <p:cNvPr id="5" name="Rectangle 4"/>
            <p:cNvSpPr/>
            <p:nvPr/>
          </p:nvSpPr>
          <p:spPr bwMode="auto">
            <a:xfrm>
              <a:off x="5959554" y="2070663"/>
              <a:ext cx="819147" cy="1951526"/>
            </a:xfrm>
            <a:prstGeom prst="rect">
              <a:avLst/>
            </a:prstGeom>
            <a:ln>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Providers</a:t>
              </a:r>
            </a:p>
          </p:txBody>
        </p:sp>
        <p:sp>
          <p:nvSpPr>
            <p:cNvPr id="6" name="Rectangle 5"/>
            <p:cNvSpPr/>
            <p:nvPr/>
          </p:nvSpPr>
          <p:spPr bwMode="auto">
            <a:xfrm>
              <a:off x="3809294" y="2073695"/>
              <a:ext cx="2150260" cy="491255"/>
            </a:xfrm>
            <a:prstGeom prst="rect">
              <a:avLst/>
            </a:prstGeom>
            <a:ln>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MySQL_Server</a:t>
              </a:r>
              <a:r>
                <a:rPr lang="en-US" sz="1100" dirty="0">
                  <a:gradFill>
                    <a:gsLst>
                      <a:gs pos="0">
                        <a:srgbClr val="FFFFFF"/>
                      </a:gs>
                      <a:gs pos="100000">
                        <a:srgbClr val="FFFFFF"/>
                      </a:gs>
                    </a:gsLst>
                    <a:lin ang="5400000" scaled="0"/>
                  </a:gradFill>
                </a:rPr>
                <a:t>*</a:t>
              </a:r>
            </a:p>
          </p:txBody>
        </p:sp>
        <p:sp>
          <p:nvSpPr>
            <p:cNvPr id="7" name="Rectangle 6"/>
            <p:cNvSpPr/>
            <p:nvPr/>
          </p:nvSpPr>
          <p:spPr bwMode="auto">
            <a:xfrm>
              <a:off x="3809294" y="2566016"/>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SCX_OperatingSystem</a:t>
              </a:r>
              <a:endParaRPr lang="en-US" sz="1100" dirty="0">
                <a:gradFill>
                  <a:gsLst>
                    <a:gs pos="0">
                      <a:srgbClr val="FFFFFF"/>
                    </a:gs>
                    <a:gs pos="100000">
                      <a:srgbClr val="FFFFFF"/>
                    </a:gs>
                  </a:gsLst>
                  <a:lin ang="5400000" scaled="0"/>
                </a:gradFill>
              </a:endParaRPr>
            </a:p>
          </p:txBody>
        </p:sp>
        <p:sp>
          <p:nvSpPr>
            <p:cNvPr id="9" name="Rectangle 8"/>
            <p:cNvSpPr/>
            <p:nvPr/>
          </p:nvSpPr>
          <p:spPr bwMode="auto">
            <a:xfrm>
              <a:off x="3809294" y="3050240"/>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SCX_FileSystem</a:t>
              </a:r>
              <a:endParaRPr lang="en-US" sz="1100" dirty="0">
                <a:gradFill>
                  <a:gsLst>
                    <a:gs pos="0">
                      <a:srgbClr val="FFFFFF"/>
                    </a:gs>
                    <a:gs pos="100000">
                      <a:srgbClr val="FFFFFF"/>
                    </a:gs>
                  </a:gsLst>
                  <a:lin ang="5400000" scaled="0"/>
                </a:gradFill>
              </a:endParaRPr>
            </a:p>
          </p:txBody>
        </p:sp>
        <p:sp>
          <p:nvSpPr>
            <p:cNvPr id="10" name="Rectangle 9"/>
            <p:cNvSpPr/>
            <p:nvPr/>
          </p:nvSpPr>
          <p:spPr bwMode="auto">
            <a:xfrm>
              <a:off x="3809294" y="3530935"/>
              <a:ext cx="2150260" cy="491255"/>
            </a:xfrm>
            <a:prstGeom prst="rect">
              <a:avLst/>
            </a:prstGeom>
            <a:ln>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err="1">
                  <a:gradFill>
                    <a:gsLst>
                      <a:gs pos="0">
                        <a:srgbClr val="FFFFFF"/>
                      </a:gs>
                      <a:gs pos="100000">
                        <a:srgbClr val="FFFFFF"/>
                      </a:gs>
                    </a:gsLst>
                    <a:lin ang="5400000" scaled="0"/>
                  </a:gradFill>
                </a:rPr>
                <a:t>SCX_UnixProcess</a:t>
              </a:r>
              <a:endParaRPr lang="en-US" sz="1100" dirty="0">
                <a:gradFill>
                  <a:gsLst>
                    <a:gs pos="0">
                      <a:srgbClr val="FFFFFF"/>
                    </a:gs>
                    <a:gs pos="100000">
                      <a:srgbClr val="FFFFFF"/>
                    </a:gs>
                  </a:gsLst>
                  <a:lin ang="5400000" scaled="0"/>
                </a:gradFill>
              </a:endParaRPr>
            </a:p>
          </p:txBody>
        </p:sp>
        <p:sp>
          <p:nvSpPr>
            <p:cNvPr id="11" name="TextBox 10"/>
            <p:cNvSpPr txBox="1"/>
            <p:nvPr/>
          </p:nvSpPr>
          <p:spPr>
            <a:xfrm>
              <a:off x="3731602" y="4046688"/>
              <a:ext cx="3249540" cy="383442"/>
            </a:xfrm>
            <a:prstGeom prst="rect">
              <a:avLst/>
            </a:prstGeom>
            <a:noFill/>
          </p:spPr>
          <p:txBody>
            <a:bodyPr wrap="square" lIns="134464" tIns="107571" rIns="134464" bIns="107571" rtlCol="0">
              <a:spAutoFit/>
            </a:bodyPr>
            <a:lstStyle/>
            <a:p>
              <a:pPr>
                <a:lnSpc>
                  <a:spcPct val="90000"/>
                </a:lnSpc>
                <a:spcAft>
                  <a:spcPts val="441"/>
                </a:spcAft>
              </a:pPr>
              <a:r>
                <a:rPr lang="en-US" sz="1200" dirty="0" err="1">
                  <a:solidFill>
                    <a:srgbClr val="505050">
                      <a:lumMod val="50000"/>
                    </a:srgbClr>
                  </a:solidFill>
                </a:rPr>
                <a:t>OpsMgr</a:t>
              </a:r>
              <a:r>
                <a:rPr lang="en-US" sz="1200" dirty="0">
                  <a:solidFill>
                    <a:srgbClr val="505050">
                      <a:lumMod val="50000"/>
                    </a:srgbClr>
                  </a:solidFill>
                </a:rPr>
                <a:t> Linux Agent</a:t>
              </a:r>
            </a:p>
          </p:txBody>
        </p:sp>
        <p:sp>
          <p:nvSpPr>
            <p:cNvPr id="13" name="Rectangle 12"/>
            <p:cNvSpPr/>
            <p:nvPr/>
          </p:nvSpPr>
          <p:spPr bwMode="auto">
            <a:xfrm>
              <a:off x="594115" y="1767261"/>
              <a:ext cx="1960929" cy="804489"/>
            </a:xfrm>
            <a:prstGeom prst="rect">
              <a:avLst/>
            </a:prstGeom>
            <a:ln>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MySQL Server</a:t>
              </a:r>
            </a:p>
          </p:txBody>
        </p:sp>
        <p:sp>
          <p:nvSpPr>
            <p:cNvPr id="15" name="Rectangle 14"/>
            <p:cNvSpPr/>
            <p:nvPr/>
          </p:nvSpPr>
          <p:spPr bwMode="auto">
            <a:xfrm>
              <a:off x="594116" y="2563842"/>
              <a:ext cx="1002843" cy="520643"/>
            </a:xfrm>
            <a:prstGeom prst="rect">
              <a:avLst/>
            </a:prstGeom>
            <a:ln>
              <a:solidFill>
                <a:schemeClr val="tx1"/>
              </a:solidFill>
              <a:headEnd type="none" w="med" len="med"/>
              <a:tailEnd type="none" w="med" len="med"/>
            </a:ln>
          </p:spPr>
          <p:style>
            <a:lnRef idx="3">
              <a:schemeClr val="lt1"/>
            </a:lnRef>
            <a:fillRef idx="1">
              <a:schemeClr val="dk1"/>
            </a:fillRef>
            <a:effectRef idx="1">
              <a:schemeClr val="dk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Database</a:t>
              </a:r>
            </a:p>
          </p:txBody>
        </p:sp>
        <p:sp>
          <p:nvSpPr>
            <p:cNvPr id="19" name="TextBox 18"/>
            <p:cNvSpPr txBox="1"/>
            <p:nvPr/>
          </p:nvSpPr>
          <p:spPr>
            <a:xfrm>
              <a:off x="479766" y="4046688"/>
              <a:ext cx="2859650" cy="383442"/>
            </a:xfrm>
            <a:prstGeom prst="rect">
              <a:avLst/>
            </a:prstGeom>
            <a:noFill/>
          </p:spPr>
          <p:txBody>
            <a:bodyPr wrap="square" lIns="134464" tIns="107571" rIns="134464" bIns="107571" rtlCol="0">
              <a:spAutoFit/>
            </a:bodyPr>
            <a:lstStyle/>
            <a:p>
              <a:pPr>
                <a:lnSpc>
                  <a:spcPct val="90000"/>
                </a:lnSpc>
                <a:spcAft>
                  <a:spcPts val="441"/>
                </a:spcAft>
              </a:pPr>
              <a:r>
                <a:rPr lang="en-US" sz="1200" dirty="0">
                  <a:solidFill>
                    <a:srgbClr val="505050">
                      <a:lumMod val="50000"/>
                    </a:srgbClr>
                  </a:solidFill>
                </a:rPr>
                <a:t>MySQL Server</a:t>
              </a:r>
            </a:p>
          </p:txBody>
        </p:sp>
        <p:cxnSp>
          <p:nvCxnSpPr>
            <p:cNvPr id="21" name="Straight Arrow Connector 20"/>
            <p:cNvCxnSpPr>
              <a:endCxn id="6" idx="1"/>
            </p:cNvCxnSpPr>
            <p:nvPr/>
          </p:nvCxnSpPr>
          <p:spPr>
            <a:xfrm flipV="1">
              <a:off x="2555045" y="2319322"/>
              <a:ext cx="1254248" cy="1731"/>
            </a:xfrm>
            <a:prstGeom prst="straightConnector1">
              <a:avLst/>
            </a:prstGeom>
            <a:ln w="66675">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2371370" y="1459039"/>
              <a:ext cx="1621597" cy="545538"/>
            </a:xfrm>
            <a:prstGeom prst="rect">
              <a:avLst/>
            </a:prstGeom>
            <a:noFill/>
          </p:spPr>
          <p:txBody>
            <a:bodyPr wrap="square" lIns="134464" tIns="107571" rIns="134464" bIns="107571" rtlCol="0">
              <a:spAutoFit/>
            </a:bodyPr>
            <a:lstStyle/>
            <a:p>
              <a:pPr algn="ctr">
                <a:lnSpc>
                  <a:spcPct val="90000"/>
                </a:lnSpc>
                <a:spcAft>
                  <a:spcPts val="441"/>
                </a:spcAft>
              </a:pPr>
              <a:r>
                <a:rPr lang="en-US" sz="1000" dirty="0">
                  <a:solidFill>
                    <a:srgbClr val="505050">
                      <a:lumMod val="50000"/>
                    </a:srgbClr>
                  </a:solidFill>
                </a:rPr>
                <a:t>Authentication</a:t>
              </a:r>
            </a:p>
            <a:p>
              <a:pPr algn="ctr">
                <a:lnSpc>
                  <a:spcPct val="90000"/>
                </a:lnSpc>
                <a:spcAft>
                  <a:spcPts val="441"/>
                </a:spcAft>
              </a:pPr>
              <a:r>
                <a:rPr lang="en-US" sz="1000" dirty="0">
                  <a:solidFill>
                    <a:srgbClr val="505050">
                      <a:lumMod val="50000"/>
                    </a:srgbClr>
                  </a:solidFill>
                </a:rPr>
                <a:t> File defines credentials</a:t>
              </a:r>
            </a:p>
          </p:txBody>
        </p:sp>
        <p:sp>
          <p:nvSpPr>
            <p:cNvPr id="23" name="Left Arrow 22"/>
            <p:cNvSpPr/>
            <p:nvPr/>
          </p:nvSpPr>
          <p:spPr bwMode="auto">
            <a:xfrm>
              <a:off x="7002807" y="1451219"/>
              <a:ext cx="1883238" cy="448212"/>
            </a:xfrm>
            <a:prstGeom prst="leftArrow">
              <a:avLst/>
            </a:prstGeom>
            <a:ln>
              <a:headEnd type="none" w="med" len="med"/>
              <a:tailEnd type="none" w="med" len="med"/>
            </a:ln>
          </p:spPr>
          <p:style>
            <a:lnRef idx="3">
              <a:schemeClr val="lt1"/>
            </a:lnRef>
            <a:fillRef idx="1">
              <a:schemeClr val="accent6"/>
            </a:fillRef>
            <a:effectRef idx="1">
              <a:schemeClr val="accent6"/>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WS-Man</a:t>
              </a:r>
            </a:p>
          </p:txBody>
        </p:sp>
        <p:sp>
          <p:nvSpPr>
            <p:cNvPr id="18" name="TextBox 17"/>
            <p:cNvSpPr txBox="1"/>
            <p:nvPr/>
          </p:nvSpPr>
          <p:spPr>
            <a:xfrm>
              <a:off x="7434990" y="3896201"/>
              <a:ext cx="898264" cy="600938"/>
            </a:xfrm>
            <a:prstGeom prst="rect">
              <a:avLst/>
            </a:prstGeom>
            <a:noFill/>
          </p:spPr>
          <p:txBody>
            <a:bodyPr wrap="none" lIns="134464" tIns="107571" rIns="134464" bIns="107571" rtlCol="0">
              <a:spAutoFit/>
            </a:bodyPr>
            <a:lstStyle/>
            <a:p>
              <a:pPr>
                <a:lnSpc>
                  <a:spcPct val="90000"/>
                </a:lnSpc>
                <a:spcAft>
                  <a:spcPts val="441"/>
                </a:spcAft>
              </a:pPr>
              <a:r>
                <a:rPr lang="en-US" sz="1200" dirty="0">
                  <a:gradFill>
                    <a:gsLst>
                      <a:gs pos="2917">
                        <a:srgbClr val="FFFFFF"/>
                      </a:gs>
                      <a:gs pos="30000">
                        <a:srgbClr val="FFFFFF"/>
                      </a:gs>
                    </a:gsLst>
                    <a:lin ang="5400000" scaled="0"/>
                  </a:gradFill>
                </a:rPr>
                <a:t>Linux</a:t>
              </a:r>
            </a:p>
            <a:p>
              <a:pPr>
                <a:lnSpc>
                  <a:spcPct val="90000"/>
                </a:lnSpc>
                <a:spcAft>
                  <a:spcPts val="441"/>
                </a:spcAft>
              </a:pPr>
              <a:r>
                <a:rPr lang="en-US" sz="1200" dirty="0">
                  <a:gradFill>
                    <a:gsLst>
                      <a:gs pos="2917">
                        <a:srgbClr val="FFFFFF"/>
                      </a:gs>
                      <a:gs pos="30000">
                        <a:srgbClr val="FFFFFF"/>
                      </a:gs>
                    </a:gsLst>
                    <a:lin ang="5400000" scaled="0"/>
                  </a:gradFill>
                </a:rPr>
                <a:t>Computer</a:t>
              </a:r>
            </a:p>
          </p:txBody>
        </p:sp>
        <p:sp>
          <p:nvSpPr>
            <p:cNvPr id="25" name="Rectangle 24"/>
            <p:cNvSpPr/>
            <p:nvPr/>
          </p:nvSpPr>
          <p:spPr bwMode="auto">
            <a:xfrm>
              <a:off x="1602594" y="2563843"/>
              <a:ext cx="952451" cy="520643"/>
            </a:xfrm>
            <a:prstGeom prst="rect">
              <a:avLst/>
            </a:prstGeom>
            <a:ln>
              <a:solidFill>
                <a:schemeClr val="tx1"/>
              </a:solidFill>
              <a:headEnd type="none" w="med" len="med"/>
              <a:tailEnd type="none" w="med" len="med"/>
            </a:ln>
          </p:spPr>
          <p:style>
            <a:lnRef idx="3">
              <a:schemeClr val="lt1"/>
            </a:lnRef>
            <a:fillRef idx="1">
              <a:schemeClr val="dk1"/>
            </a:fillRef>
            <a:effectRef idx="1">
              <a:schemeClr val="dk1"/>
            </a:effectRef>
            <a:fontRef idx="minor">
              <a:schemeClr val="lt1"/>
            </a:fontRef>
          </p:style>
          <p:txBody>
            <a:bodyPr vert="horz" wrap="square" lIns="0" tIns="34290" rIns="0" bIns="34290" numCol="1" rtlCol="0" anchor="ctr" anchorCtr="0" compatLnSpc="1">
              <a:prstTxWarp prst="textNoShape">
                <a:avLst/>
              </a:prstTxWarp>
            </a:bodyPr>
            <a:lstStyle/>
            <a:p>
              <a:pPr algn="ctr" defTabSz="685647" fontAlgn="base">
                <a:spcBef>
                  <a:spcPct val="0"/>
                </a:spcBef>
                <a:spcAft>
                  <a:spcPct val="0"/>
                </a:spcAft>
              </a:pPr>
              <a:r>
                <a:rPr lang="en-US" sz="1100" dirty="0">
                  <a:gradFill>
                    <a:gsLst>
                      <a:gs pos="0">
                        <a:srgbClr val="FFFFFF"/>
                      </a:gs>
                      <a:gs pos="100000">
                        <a:srgbClr val="FFFFFF"/>
                      </a:gs>
                    </a:gsLst>
                    <a:lin ang="5400000" scaled="0"/>
                  </a:gradFill>
                </a:rPr>
                <a:t>Database</a:t>
              </a:r>
            </a:p>
          </p:txBody>
        </p:sp>
        <p:sp>
          <p:nvSpPr>
            <p:cNvPr id="20" name="TextBox 19"/>
            <p:cNvSpPr txBox="1"/>
            <p:nvPr/>
          </p:nvSpPr>
          <p:spPr>
            <a:xfrm>
              <a:off x="2371370" y="2291618"/>
              <a:ext cx="1621597" cy="362667"/>
            </a:xfrm>
            <a:prstGeom prst="rect">
              <a:avLst/>
            </a:prstGeom>
            <a:noFill/>
          </p:spPr>
          <p:txBody>
            <a:bodyPr wrap="square" lIns="134464" tIns="107571" rIns="134464" bIns="107571" rtlCol="0">
              <a:spAutoFit/>
            </a:bodyPr>
            <a:lstStyle/>
            <a:p>
              <a:pPr algn="ctr">
                <a:lnSpc>
                  <a:spcPct val="90000"/>
                </a:lnSpc>
                <a:spcAft>
                  <a:spcPts val="441"/>
                </a:spcAft>
              </a:pPr>
              <a:r>
                <a:rPr lang="en-US" sz="1000" b="1" dirty="0">
                  <a:solidFill>
                    <a:srgbClr val="505050">
                      <a:lumMod val="50000"/>
                    </a:srgbClr>
                  </a:solidFill>
                </a:rPr>
                <a:t>MySQL Client</a:t>
              </a:r>
            </a:p>
          </p:txBody>
        </p:sp>
      </p:grpSp>
      <p:sp>
        <p:nvSpPr>
          <p:cNvPr id="24" name="TextBox 23"/>
          <p:cNvSpPr txBox="1"/>
          <p:nvPr/>
        </p:nvSpPr>
        <p:spPr>
          <a:xfrm>
            <a:off x="5868144" y="1797717"/>
            <a:ext cx="3160063" cy="1785104"/>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dirty="0">
                <a:solidFill>
                  <a:schemeClr val="bg1"/>
                </a:solidFill>
              </a:rPr>
              <a:t>Step 1: Import MP</a:t>
            </a:r>
          </a:p>
          <a:p>
            <a:r>
              <a:rPr lang="en-US" sz="1400" dirty="0">
                <a:solidFill>
                  <a:schemeClr val="bg1"/>
                </a:solidFill>
              </a:rPr>
              <a:t>Step 2: Deploy SCOM agent*</a:t>
            </a:r>
          </a:p>
          <a:p>
            <a:r>
              <a:rPr lang="en-US" sz="1400" dirty="0">
                <a:solidFill>
                  <a:schemeClr val="bg1"/>
                </a:solidFill>
              </a:rPr>
              <a:t>Step 3: Configure MySQL user</a:t>
            </a:r>
          </a:p>
          <a:p>
            <a:r>
              <a:rPr lang="en-US" sz="1400" dirty="0">
                <a:solidFill>
                  <a:schemeClr val="bg1"/>
                </a:solidFill>
              </a:rPr>
              <a:t>Step 3: Run SCOM task “</a:t>
            </a:r>
            <a:r>
              <a:rPr lang="en-US" sz="1400" dirty="0"/>
              <a:t>Set Default MySQL Credentials”</a:t>
            </a:r>
            <a:r>
              <a:rPr lang="en-US" sz="1400" dirty="0">
                <a:solidFill>
                  <a:schemeClr val="bg1"/>
                </a:solidFill>
              </a:rPr>
              <a:t>**</a:t>
            </a:r>
          </a:p>
          <a:p>
            <a:endParaRPr lang="en-US" sz="1400" dirty="0">
              <a:solidFill>
                <a:schemeClr val="bg1"/>
              </a:solidFill>
            </a:endParaRPr>
          </a:p>
          <a:p>
            <a:r>
              <a:rPr lang="en-US" sz="1400" dirty="0">
                <a:solidFill>
                  <a:schemeClr val="bg1"/>
                </a:solidFill>
              </a:rPr>
              <a:t>* </a:t>
            </a:r>
            <a:r>
              <a:rPr lang="en-US" sz="1200" dirty="0">
                <a:solidFill>
                  <a:schemeClr val="bg1"/>
                </a:solidFill>
              </a:rPr>
              <a:t>Automatically deploys OMI module</a:t>
            </a:r>
            <a:endParaRPr lang="en-US" sz="1400" dirty="0">
              <a:solidFill>
                <a:schemeClr val="bg1"/>
              </a:solidFill>
            </a:endParaRPr>
          </a:p>
          <a:p>
            <a:r>
              <a:rPr lang="en-US" sz="1200" dirty="0">
                <a:solidFill>
                  <a:schemeClr val="bg1"/>
                </a:solidFill>
              </a:rPr>
              <a:t>**UNIX/Linux Privileged Account Run As Profile </a:t>
            </a:r>
          </a:p>
        </p:txBody>
      </p:sp>
    </p:spTree>
    <p:extLst>
      <p:ext uri="{BB962C8B-B14F-4D97-AF65-F5344CB8AC3E}">
        <p14:creationId xmlns:p14="http://schemas.microsoft.com/office/powerpoint/2010/main" val="6847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down)">
                                      <p:cBhvr>
                                        <p:cTn id="12"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Demo</a:t>
            </a:r>
            <a:br>
              <a:rPr lang="en-US" dirty="0"/>
            </a:br>
            <a:r>
              <a:rPr lang="en-US" dirty="0"/>
              <a:t>MySQL Monitoring</a:t>
            </a:r>
            <a:endParaRPr lang="de-DE" dirty="0">
              <a:solidFill>
                <a:srgbClr val="FFFF00"/>
              </a:solidFill>
            </a:endParaRPr>
          </a:p>
        </p:txBody>
      </p:sp>
    </p:spTree>
    <p:extLst>
      <p:ext uri="{BB962C8B-B14F-4D97-AF65-F5344CB8AC3E}">
        <p14:creationId xmlns:p14="http://schemas.microsoft.com/office/powerpoint/2010/main" val="840526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Demo</a:t>
            </a:r>
            <a:br>
              <a:rPr lang="en-US" dirty="0"/>
            </a:br>
            <a:r>
              <a:rPr lang="en-US" dirty="0"/>
              <a:t>Overview SCOM 2016 Features</a:t>
            </a:r>
            <a:endParaRPr lang="de-DE" dirty="0">
              <a:solidFill>
                <a:srgbClr val="FFFF00"/>
              </a:solidFill>
            </a:endParaRPr>
          </a:p>
        </p:txBody>
      </p:sp>
    </p:spTree>
    <p:extLst>
      <p:ext uri="{BB962C8B-B14F-4D97-AF65-F5344CB8AC3E}">
        <p14:creationId xmlns:p14="http://schemas.microsoft.com/office/powerpoint/2010/main" val="5944121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OMS</a:t>
            </a:r>
            <a:br>
              <a:rPr lang="en-US" dirty="0"/>
            </a:br>
            <a:r>
              <a:rPr lang="en-US" dirty="0"/>
              <a:t>Agent for Linux</a:t>
            </a:r>
            <a:endParaRPr lang="de-DE" dirty="0">
              <a:solidFill>
                <a:srgbClr val="FFFF00"/>
              </a:solidFill>
            </a:endParaRPr>
          </a:p>
        </p:txBody>
      </p:sp>
    </p:spTree>
    <p:extLst>
      <p:ext uri="{BB962C8B-B14F-4D97-AF65-F5344CB8AC3E}">
        <p14:creationId xmlns:p14="http://schemas.microsoft.com/office/powerpoint/2010/main" val="34087045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0825" y="138292"/>
            <a:ext cx="8642350" cy="857250"/>
          </a:xfrm>
        </p:spPr>
        <p:txBody>
          <a:bodyPr/>
          <a:lstStyle/>
          <a:p>
            <a:r>
              <a:rPr lang="de-CH" dirty="0"/>
              <a:t>Big Picture</a:t>
            </a:r>
          </a:p>
        </p:txBody>
      </p:sp>
      <p:grpSp>
        <p:nvGrpSpPr>
          <p:cNvPr id="44" name="Group 43"/>
          <p:cNvGrpSpPr/>
          <p:nvPr/>
        </p:nvGrpSpPr>
        <p:grpSpPr>
          <a:xfrm>
            <a:off x="971600" y="843558"/>
            <a:ext cx="7074532" cy="3824733"/>
            <a:chOff x="0" y="102831"/>
            <a:chExt cx="9144000" cy="4924824"/>
          </a:xfrm>
        </p:grpSpPr>
        <p:pic>
          <p:nvPicPr>
            <p:cNvPr id="46" name="Picture 2" descr="https://acom.azurecomcdn.net/80C57D/cdn/mediahandler/docarticles/dpsmedia-prod/azure.microsoft.com/en-us/documentation/articles/operations-management-suite-architecture/20160601100259/log-analytics.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02831"/>
              <a:ext cx="9144000" cy="4917191"/>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p:cNvSpPr txBox="1"/>
            <p:nvPr/>
          </p:nvSpPr>
          <p:spPr>
            <a:xfrm>
              <a:off x="1835348" y="4522248"/>
              <a:ext cx="5473303" cy="505407"/>
            </a:xfrm>
            <a:prstGeom prst="rect">
              <a:avLst/>
            </a:prstGeom>
            <a:noFill/>
          </p:spPr>
          <p:txBody>
            <a:bodyPr wrap="square" rtlCol="0">
              <a:spAutoFit/>
            </a:bodyPr>
            <a:lstStyle/>
            <a:p>
              <a:pPr algn="ctr"/>
              <a:r>
                <a:rPr lang="en-US" sz="700" b="1" dirty="0">
                  <a:solidFill>
                    <a:schemeClr val="tx1">
                      <a:lumMod val="50000"/>
                      <a:lumOff val="50000"/>
                    </a:schemeClr>
                  </a:solidFill>
                </a:rPr>
                <a:t>Sources</a:t>
              </a:r>
              <a:r>
                <a:rPr lang="en-US" sz="700" dirty="0">
                  <a:solidFill>
                    <a:schemeClr val="tx1">
                      <a:lumMod val="50000"/>
                      <a:lumOff val="50000"/>
                    </a:schemeClr>
                  </a:solidFill>
                </a:rPr>
                <a:t>:</a:t>
              </a:r>
            </a:p>
            <a:p>
              <a:pPr algn="ctr"/>
              <a:r>
                <a:rPr lang="en-US" sz="700" dirty="0">
                  <a:solidFill>
                    <a:schemeClr val="tx1">
                      <a:lumMod val="50000"/>
                      <a:lumOff val="50000"/>
                    </a:schemeClr>
                  </a:solidFill>
                </a:rPr>
                <a:t>https://azure.microsoft.com/en-us/documentation/articles/log-analytics-overview/</a:t>
              </a:r>
            </a:p>
            <a:p>
              <a:pPr algn="ctr"/>
              <a:r>
                <a:rPr lang="de-CH" sz="700" dirty="0">
                  <a:solidFill>
                    <a:schemeClr val="tx1">
                      <a:lumMod val="50000"/>
                      <a:lumOff val="50000"/>
                    </a:schemeClr>
                  </a:solidFill>
                </a:rPr>
                <a:t>https://azure.microsoft.com/en-us/documentation/articles/log-analytics-security/</a:t>
              </a:r>
            </a:p>
          </p:txBody>
        </p:sp>
        <p:grpSp>
          <p:nvGrpSpPr>
            <p:cNvPr id="48" name="Group 47"/>
            <p:cNvGrpSpPr/>
            <p:nvPr/>
          </p:nvGrpSpPr>
          <p:grpSpPr>
            <a:xfrm>
              <a:off x="3010156" y="2183333"/>
              <a:ext cx="393493" cy="302772"/>
              <a:chOff x="2771800" y="403802"/>
              <a:chExt cx="609171" cy="472500"/>
            </a:xfrm>
          </p:grpSpPr>
          <p:pic>
            <p:nvPicPr>
              <p:cNvPr id="64" name="Picture 63"/>
              <p:cNvPicPr>
                <a:picLocks noChangeAspect="1"/>
              </p:cNvPicPr>
              <p:nvPr/>
            </p:nvPicPr>
            <p:blipFill>
              <a:blip r:embed="rId4"/>
              <a:stretch>
                <a:fillRect/>
              </a:stretch>
            </p:blipFill>
            <p:spPr>
              <a:xfrm>
                <a:off x="2771800" y="483518"/>
                <a:ext cx="360040" cy="313068"/>
              </a:xfrm>
              <a:prstGeom prst="rect">
                <a:avLst/>
              </a:prstGeom>
            </p:spPr>
          </p:pic>
          <p:pic>
            <p:nvPicPr>
              <p:cNvPr id="65" name="Picture 64"/>
              <p:cNvPicPr>
                <a:picLocks noChangeAspect="1"/>
              </p:cNvPicPr>
              <p:nvPr/>
            </p:nvPicPr>
            <p:blipFill>
              <a:blip r:embed="rId5"/>
              <a:stretch>
                <a:fillRect/>
              </a:stretch>
            </p:blipFill>
            <p:spPr>
              <a:xfrm>
                <a:off x="3131840" y="403802"/>
                <a:ext cx="249131" cy="472500"/>
              </a:xfrm>
              <a:prstGeom prst="rect">
                <a:avLst/>
              </a:prstGeom>
            </p:spPr>
          </p:pic>
        </p:grpSp>
        <p:grpSp>
          <p:nvGrpSpPr>
            <p:cNvPr id="49" name="Group 48"/>
            <p:cNvGrpSpPr/>
            <p:nvPr/>
          </p:nvGrpSpPr>
          <p:grpSpPr>
            <a:xfrm>
              <a:off x="3006541" y="1591902"/>
              <a:ext cx="393493" cy="302772"/>
              <a:chOff x="2771800" y="403802"/>
              <a:chExt cx="609171" cy="472500"/>
            </a:xfrm>
          </p:grpSpPr>
          <p:pic>
            <p:nvPicPr>
              <p:cNvPr id="62" name="Picture 61"/>
              <p:cNvPicPr>
                <a:picLocks noChangeAspect="1"/>
              </p:cNvPicPr>
              <p:nvPr/>
            </p:nvPicPr>
            <p:blipFill>
              <a:blip r:embed="rId4"/>
              <a:stretch>
                <a:fillRect/>
              </a:stretch>
            </p:blipFill>
            <p:spPr>
              <a:xfrm>
                <a:off x="2771800" y="483518"/>
                <a:ext cx="360040" cy="313068"/>
              </a:xfrm>
              <a:prstGeom prst="rect">
                <a:avLst/>
              </a:prstGeom>
            </p:spPr>
          </p:pic>
          <p:pic>
            <p:nvPicPr>
              <p:cNvPr id="63" name="Picture 62"/>
              <p:cNvPicPr>
                <a:picLocks noChangeAspect="1"/>
              </p:cNvPicPr>
              <p:nvPr/>
            </p:nvPicPr>
            <p:blipFill>
              <a:blip r:embed="rId5"/>
              <a:stretch>
                <a:fillRect/>
              </a:stretch>
            </p:blipFill>
            <p:spPr>
              <a:xfrm>
                <a:off x="3131840" y="403802"/>
                <a:ext cx="249131" cy="472500"/>
              </a:xfrm>
              <a:prstGeom prst="rect">
                <a:avLst/>
              </a:prstGeom>
            </p:spPr>
          </p:pic>
        </p:grpSp>
        <p:grpSp>
          <p:nvGrpSpPr>
            <p:cNvPr id="50" name="Group 49"/>
            <p:cNvGrpSpPr/>
            <p:nvPr/>
          </p:nvGrpSpPr>
          <p:grpSpPr>
            <a:xfrm>
              <a:off x="3006541" y="473440"/>
              <a:ext cx="393493" cy="302772"/>
              <a:chOff x="2771800" y="403802"/>
              <a:chExt cx="609171" cy="472500"/>
            </a:xfrm>
          </p:grpSpPr>
          <p:pic>
            <p:nvPicPr>
              <p:cNvPr id="60" name="Picture 59"/>
              <p:cNvPicPr>
                <a:picLocks noChangeAspect="1"/>
              </p:cNvPicPr>
              <p:nvPr/>
            </p:nvPicPr>
            <p:blipFill>
              <a:blip r:embed="rId4"/>
              <a:stretch>
                <a:fillRect/>
              </a:stretch>
            </p:blipFill>
            <p:spPr>
              <a:xfrm>
                <a:off x="2771800" y="483518"/>
                <a:ext cx="360040" cy="313068"/>
              </a:xfrm>
              <a:prstGeom prst="rect">
                <a:avLst/>
              </a:prstGeom>
            </p:spPr>
          </p:pic>
          <p:pic>
            <p:nvPicPr>
              <p:cNvPr id="61" name="Picture 60"/>
              <p:cNvPicPr>
                <a:picLocks noChangeAspect="1"/>
              </p:cNvPicPr>
              <p:nvPr/>
            </p:nvPicPr>
            <p:blipFill>
              <a:blip r:embed="rId5"/>
              <a:stretch>
                <a:fillRect/>
              </a:stretch>
            </p:blipFill>
            <p:spPr>
              <a:xfrm>
                <a:off x="3131840" y="403802"/>
                <a:ext cx="249131" cy="472500"/>
              </a:xfrm>
              <a:prstGeom prst="rect">
                <a:avLst/>
              </a:prstGeom>
            </p:spPr>
          </p:pic>
        </p:grpSp>
        <p:grpSp>
          <p:nvGrpSpPr>
            <p:cNvPr id="51" name="Group 50"/>
            <p:cNvGrpSpPr/>
            <p:nvPr/>
          </p:nvGrpSpPr>
          <p:grpSpPr>
            <a:xfrm>
              <a:off x="3006541" y="3094713"/>
              <a:ext cx="393493" cy="302772"/>
              <a:chOff x="2771800" y="403802"/>
              <a:chExt cx="609171" cy="472500"/>
            </a:xfrm>
          </p:grpSpPr>
          <p:pic>
            <p:nvPicPr>
              <p:cNvPr id="58" name="Picture 57"/>
              <p:cNvPicPr>
                <a:picLocks noChangeAspect="1"/>
              </p:cNvPicPr>
              <p:nvPr/>
            </p:nvPicPr>
            <p:blipFill>
              <a:blip r:embed="rId4"/>
              <a:stretch>
                <a:fillRect/>
              </a:stretch>
            </p:blipFill>
            <p:spPr>
              <a:xfrm>
                <a:off x="2771800" y="483518"/>
                <a:ext cx="360040" cy="313068"/>
              </a:xfrm>
              <a:prstGeom prst="rect">
                <a:avLst/>
              </a:prstGeom>
            </p:spPr>
          </p:pic>
          <p:pic>
            <p:nvPicPr>
              <p:cNvPr id="59" name="Picture 58"/>
              <p:cNvPicPr>
                <a:picLocks noChangeAspect="1"/>
              </p:cNvPicPr>
              <p:nvPr/>
            </p:nvPicPr>
            <p:blipFill>
              <a:blip r:embed="rId5"/>
              <a:stretch>
                <a:fillRect/>
              </a:stretch>
            </p:blipFill>
            <p:spPr>
              <a:xfrm>
                <a:off x="3131840" y="403802"/>
                <a:ext cx="249131" cy="472500"/>
              </a:xfrm>
              <a:prstGeom prst="rect">
                <a:avLst/>
              </a:prstGeom>
            </p:spPr>
          </p:pic>
        </p:grpSp>
        <p:grpSp>
          <p:nvGrpSpPr>
            <p:cNvPr id="53" name="Group 52"/>
            <p:cNvGrpSpPr/>
            <p:nvPr/>
          </p:nvGrpSpPr>
          <p:grpSpPr>
            <a:xfrm>
              <a:off x="3010942" y="3723112"/>
              <a:ext cx="393493" cy="302772"/>
              <a:chOff x="2771800" y="403802"/>
              <a:chExt cx="609171" cy="472500"/>
            </a:xfrm>
          </p:grpSpPr>
          <p:pic>
            <p:nvPicPr>
              <p:cNvPr id="55" name="Picture 54"/>
              <p:cNvPicPr>
                <a:picLocks noChangeAspect="1"/>
              </p:cNvPicPr>
              <p:nvPr/>
            </p:nvPicPr>
            <p:blipFill>
              <a:blip r:embed="rId4"/>
              <a:stretch>
                <a:fillRect/>
              </a:stretch>
            </p:blipFill>
            <p:spPr>
              <a:xfrm>
                <a:off x="2771800" y="483518"/>
                <a:ext cx="360040" cy="313068"/>
              </a:xfrm>
              <a:prstGeom prst="rect">
                <a:avLst/>
              </a:prstGeom>
            </p:spPr>
          </p:pic>
          <p:pic>
            <p:nvPicPr>
              <p:cNvPr id="57" name="Picture 56"/>
              <p:cNvPicPr>
                <a:picLocks noChangeAspect="1"/>
              </p:cNvPicPr>
              <p:nvPr/>
            </p:nvPicPr>
            <p:blipFill>
              <a:blip r:embed="rId5"/>
              <a:stretch>
                <a:fillRect/>
              </a:stretch>
            </p:blipFill>
            <p:spPr>
              <a:xfrm>
                <a:off x="3131840" y="403802"/>
                <a:ext cx="249131" cy="472500"/>
              </a:xfrm>
              <a:prstGeom prst="rect">
                <a:avLst/>
              </a:prstGeom>
            </p:spPr>
          </p:pic>
        </p:grpSp>
        <p:pic>
          <p:nvPicPr>
            <p:cNvPr id="54" name="Picture 53"/>
            <p:cNvPicPr>
              <a:picLocks noChangeAspect="1"/>
            </p:cNvPicPr>
            <p:nvPr/>
          </p:nvPicPr>
          <p:blipFill>
            <a:blip r:embed="rId5"/>
            <a:stretch>
              <a:fillRect/>
            </a:stretch>
          </p:blipFill>
          <p:spPr>
            <a:xfrm>
              <a:off x="6245649" y="207580"/>
              <a:ext cx="177983" cy="337562"/>
            </a:xfrm>
            <a:prstGeom prst="rect">
              <a:avLst/>
            </a:prstGeom>
          </p:spPr>
        </p:pic>
      </p:grpSp>
    </p:spTree>
    <p:extLst>
      <p:ext uri="{BB962C8B-B14F-4D97-AF65-F5344CB8AC3E}">
        <p14:creationId xmlns:p14="http://schemas.microsoft.com/office/powerpoint/2010/main" val="2899431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Rectangle 55"/>
          <p:cNvSpPr/>
          <p:nvPr/>
        </p:nvSpPr>
        <p:spPr>
          <a:xfrm>
            <a:off x="539552" y="843558"/>
            <a:ext cx="7845012" cy="2846180"/>
          </a:xfrm>
          <a:prstGeom prst="rect">
            <a:avLst/>
          </a:prstGeom>
          <a:solidFill>
            <a:schemeClr val="tx2">
              <a:lumMod val="20000"/>
              <a:lumOff val="80000"/>
            </a:schemeClr>
          </a:solidFill>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45" name="Rectangle 44"/>
          <p:cNvSpPr/>
          <p:nvPr/>
        </p:nvSpPr>
        <p:spPr>
          <a:xfrm>
            <a:off x="539552" y="3790584"/>
            <a:ext cx="7845012" cy="636390"/>
          </a:xfrm>
          <a:prstGeom prst="rect">
            <a:avLst/>
          </a:prstGeom>
          <a:solidFill>
            <a:schemeClr val="accent1">
              <a:lumMod val="75000"/>
            </a:schemeClr>
          </a:solidFill>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 name="Title 1"/>
          <p:cNvSpPr>
            <a:spLocks noGrp="1"/>
          </p:cNvSpPr>
          <p:nvPr>
            <p:ph type="title"/>
          </p:nvPr>
        </p:nvSpPr>
        <p:spPr>
          <a:xfrm>
            <a:off x="250825" y="138292"/>
            <a:ext cx="8642350" cy="857250"/>
          </a:xfrm>
        </p:spPr>
        <p:txBody>
          <a:bodyPr/>
          <a:lstStyle/>
          <a:p>
            <a:r>
              <a:rPr lang="en-US" dirty="0"/>
              <a:t>Architectural Overview</a:t>
            </a:r>
            <a:endParaRPr lang="de-CH" dirty="0"/>
          </a:p>
        </p:txBody>
      </p:sp>
      <p:grpSp>
        <p:nvGrpSpPr>
          <p:cNvPr id="3" name="Group 2"/>
          <p:cNvGrpSpPr/>
          <p:nvPr/>
        </p:nvGrpSpPr>
        <p:grpSpPr>
          <a:xfrm>
            <a:off x="971599" y="1059582"/>
            <a:ext cx="7010027" cy="2458533"/>
            <a:chOff x="334934" y="1131590"/>
            <a:chExt cx="8341522" cy="3384463"/>
          </a:xfrm>
        </p:grpSpPr>
        <p:sp>
          <p:nvSpPr>
            <p:cNvPr id="5" name="Rectangle 4"/>
            <p:cNvSpPr/>
            <p:nvPr/>
          </p:nvSpPr>
          <p:spPr>
            <a:xfrm>
              <a:off x="3203848" y="1131590"/>
              <a:ext cx="2952328" cy="432048"/>
            </a:xfrm>
            <a:prstGeom prst="rect">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err="1">
                  <a:solidFill>
                    <a:schemeClr val="tx1"/>
                  </a:solidFill>
                </a:rPr>
                <a:t>omsagent</a:t>
              </a:r>
              <a:r>
                <a:rPr lang="de-CH" sz="1200" dirty="0">
                  <a:solidFill>
                    <a:schemeClr val="tx1"/>
                  </a:solidFill>
                </a:rPr>
                <a:t> (</a:t>
              </a:r>
              <a:r>
                <a:rPr lang="de-CH" sz="1200" dirty="0" err="1">
                  <a:solidFill>
                    <a:schemeClr val="tx1"/>
                  </a:solidFill>
                </a:rPr>
                <a:t>FluentD</a:t>
              </a:r>
              <a:r>
                <a:rPr lang="de-CH" sz="1200" dirty="0">
                  <a:solidFill>
                    <a:schemeClr val="tx1"/>
                  </a:solidFill>
                </a:rPr>
                <a:t>)</a:t>
              </a:r>
            </a:p>
          </p:txBody>
        </p:sp>
        <p:sp>
          <p:nvSpPr>
            <p:cNvPr id="6" name="Rectangle 5"/>
            <p:cNvSpPr/>
            <p:nvPr/>
          </p:nvSpPr>
          <p:spPr>
            <a:xfrm>
              <a:off x="3203848" y="1960091"/>
              <a:ext cx="2952328" cy="432048"/>
            </a:xfrm>
            <a:prstGeom prst="rect">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a:solidFill>
                    <a:schemeClr val="tx1"/>
                  </a:solidFill>
                </a:rPr>
                <a:t>OMI Server (CIM Server)</a:t>
              </a:r>
            </a:p>
          </p:txBody>
        </p:sp>
        <p:grpSp>
          <p:nvGrpSpPr>
            <p:cNvPr id="14" name="Group 13"/>
            <p:cNvGrpSpPr/>
            <p:nvPr/>
          </p:nvGrpSpPr>
          <p:grpSpPr>
            <a:xfrm>
              <a:off x="3203847" y="2427820"/>
              <a:ext cx="2952328" cy="2088233"/>
              <a:chOff x="3691523" y="2614292"/>
              <a:chExt cx="2952328" cy="2376265"/>
            </a:xfrm>
          </p:grpSpPr>
          <p:sp>
            <p:nvSpPr>
              <p:cNvPr id="13" name="Rectangle 12"/>
              <p:cNvSpPr/>
              <p:nvPr/>
            </p:nvSpPr>
            <p:spPr>
              <a:xfrm>
                <a:off x="3691523" y="2614292"/>
                <a:ext cx="2952328" cy="23762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vert270" rtlCol="0" anchor="b"/>
              <a:lstStyle/>
              <a:p>
                <a:pPr algn="ctr"/>
                <a:r>
                  <a:rPr lang="de-CH" sz="1200" dirty="0">
                    <a:solidFill>
                      <a:schemeClr val="tx1"/>
                    </a:solidFill>
                  </a:rPr>
                  <a:t>Providers</a:t>
                </a:r>
              </a:p>
            </p:txBody>
          </p:sp>
          <p:sp>
            <p:nvSpPr>
              <p:cNvPr id="7" name="Rectangle 6"/>
              <p:cNvSpPr/>
              <p:nvPr/>
            </p:nvSpPr>
            <p:spPr>
              <a:xfrm>
                <a:off x="3849839" y="2809090"/>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a:solidFill>
                      <a:schemeClr val="tx1"/>
                    </a:solidFill>
                  </a:rPr>
                  <a:t>Operating System</a:t>
                </a:r>
              </a:p>
            </p:txBody>
          </p:sp>
          <p:sp>
            <p:nvSpPr>
              <p:cNvPr id="8" name="Rectangle 7"/>
              <p:cNvSpPr/>
              <p:nvPr/>
            </p:nvSpPr>
            <p:spPr>
              <a:xfrm>
                <a:off x="3849839" y="3160891"/>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a:solidFill>
                      <a:schemeClr val="tx1"/>
                    </a:solidFill>
                  </a:rPr>
                  <a:t>Apache</a:t>
                </a:r>
              </a:p>
            </p:txBody>
          </p:sp>
          <p:sp>
            <p:nvSpPr>
              <p:cNvPr id="9" name="Rectangle 8"/>
              <p:cNvSpPr/>
              <p:nvPr/>
            </p:nvSpPr>
            <p:spPr>
              <a:xfrm>
                <a:off x="3849839" y="3519432"/>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a:solidFill>
                      <a:schemeClr val="tx1"/>
                    </a:solidFill>
                  </a:rPr>
                  <a:t>MySQL / </a:t>
                </a:r>
                <a:r>
                  <a:rPr lang="de-CH" sz="1050" dirty="0" err="1">
                    <a:solidFill>
                      <a:schemeClr val="tx1"/>
                    </a:solidFill>
                  </a:rPr>
                  <a:t>MariaDB</a:t>
                </a:r>
                <a:endParaRPr lang="de-CH" sz="1050" dirty="0">
                  <a:solidFill>
                    <a:schemeClr val="tx1"/>
                  </a:solidFill>
                </a:endParaRPr>
              </a:p>
            </p:txBody>
          </p:sp>
          <p:sp>
            <p:nvSpPr>
              <p:cNvPr id="10" name="Rectangle 9"/>
              <p:cNvSpPr/>
              <p:nvPr/>
            </p:nvSpPr>
            <p:spPr>
              <a:xfrm>
                <a:off x="3849839" y="3877973"/>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a:solidFill>
                      <a:schemeClr val="tx1"/>
                    </a:solidFill>
                  </a:rPr>
                  <a:t>Containers</a:t>
                </a:r>
              </a:p>
            </p:txBody>
          </p:sp>
          <p:sp>
            <p:nvSpPr>
              <p:cNvPr id="11" name="Rectangle 10"/>
              <p:cNvSpPr/>
              <p:nvPr/>
            </p:nvSpPr>
            <p:spPr>
              <a:xfrm>
                <a:off x="3851920" y="4235493"/>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err="1">
                    <a:solidFill>
                      <a:schemeClr val="tx1"/>
                    </a:solidFill>
                  </a:rPr>
                  <a:t>omsconfig</a:t>
                </a:r>
                <a:endParaRPr lang="de-CH" sz="1050" dirty="0">
                  <a:solidFill>
                    <a:schemeClr val="tx1"/>
                  </a:solidFill>
                </a:endParaRPr>
              </a:p>
            </p:txBody>
          </p:sp>
          <p:sp>
            <p:nvSpPr>
              <p:cNvPr id="12" name="Rectangle 11"/>
              <p:cNvSpPr/>
              <p:nvPr/>
            </p:nvSpPr>
            <p:spPr>
              <a:xfrm>
                <a:off x="3851920" y="4593013"/>
                <a:ext cx="2160240" cy="28299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050" dirty="0">
                    <a:solidFill>
                      <a:schemeClr val="tx1"/>
                    </a:solidFill>
                  </a:rPr>
                  <a:t>PowerShell DSC</a:t>
                </a:r>
              </a:p>
            </p:txBody>
          </p:sp>
        </p:grpSp>
        <p:sp>
          <p:nvSpPr>
            <p:cNvPr id="15" name="Rectangle 14"/>
            <p:cNvSpPr/>
            <p:nvPr/>
          </p:nvSpPr>
          <p:spPr>
            <a:xfrm>
              <a:off x="6876256" y="1131591"/>
              <a:ext cx="1800200" cy="432048"/>
            </a:xfrm>
            <a:prstGeom prst="rect">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err="1">
                  <a:solidFill>
                    <a:schemeClr val="tx1"/>
                  </a:solidFill>
                </a:rPr>
                <a:t>syslog</a:t>
              </a:r>
              <a:endParaRPr lang="de-CH" sz="1200" dirty="0">
                <a:solidFill>
                  <a:schemeClr val="tx1"/>
                </a:solidFill>
              </a:endParaRPr>
            </a:p>
          </p:txBody>
        </p:sp>
        <p:sp>
          <p:nvSpPr>
            <p:cNvPr id="16" name="Rectangle 15"/>
            <p:cNvSpPr/>
            <p:nvPr/>
          </p:nvSpPr>
          <p:spPr>
            <a:xfrm>
              <a:off x="6876256" y="1779662"/>
              <a:ext cx="1800200" cy="432049"/>
            </a:xfrm>
            <a:prstGeom prst="rect">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err="1">
                  <a:solidFill>
                    <a:schemeClr val="tx1"/>
                  </a:solidFill>
                </a:rPr>
                <a:t>Nagios</a:t>
              </a:r>
              <a:endParaRPr lang="de-CH" sz="1200" dirty="0">
                <a:solidFill>
                  <a:schemeClr val="tx1"/>
                </a:solidFill>
              </a:endParaRPr>
            </a:p>
          </p:txBody>
        </p:sp>
        <p:sp>
          <p:nvSpPr>
            <p:cNvPr id="17" name="Rectangle 16"/>
            <p:cNvSpPr/>
            <p:nvPr/>
          </p:nvSpPr>
          <p:spPr>
            <a:xfrm>
              <a:off x="6876256" y="2427734"/>
              <a:ext cx="1800200" cy="427073"/>
            </a:xfrm>
            <a:prstGeom prst="rect">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err="1">
                  <a:solidFill>
                    <a:schemeClr val="tx1"/>
                  </a:solidFill>
                </a:rPr>
                <a:t>Zabbix</a:t>
              </a:r>
              <a:endParaRPr lang="de-CH" sz="1200" dirty="0">
                <a:solidFill>
                  <a:schemeClr val="tx1"/>
                </a:solidFill>
              </a:endParaRPr>
            </a:p>
          </p:txBody>
        </p:sp>
        <p:sp>
          <p:nvSpPr>
            <p:cNvPr id="18" name="Rectangle 17"/>
            <p:cNvSpPr/>
            <p:nvPr/>
          </p:nvSpPr>
          <p:spPr>
            <a:xfrm>
              <a:off x="6876256" y="3070832"/>
              <a:ext cx="1800200" cy="422722"/>
            </a:xfrm>
            <a:prstGeom prst="rect">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a:solidFill>
                    <a:schemeClr val="tx1"/>
                  </a:solidFill>
                </a:rPr>
                <a:t>Docker</a:t>
              </a:r>
            </a:p>
          </p:txBody>
        </p:sp>
        <p:sp>
          <p:nvSpPr>
            <p:cNvPr id="19" name="Rectangle 18"/>
            <p:cNvSpPr/>
            <p:nvPr/>
          </p:nvSpPr>
          <p:spPr>
            <a:xfrm>
              <a:off x="6876256" y="3707090"/>
              <a:ext cx="1800200" cy="441940"/>
            </a:xfrm>
            <a:prstGeom prst="rect">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200" dirty="0" err="1">
                  <a:solidFill>
                    <a:schemeClr val="tx1"/>
                  </a:solidFill>
                </a:rPr>
                <a:t>collectd</a:t>
              </a:r>
              <a:endParaRPr lang="de-CH" sz="1200" dirty="0">
                <a:solidFill>
                  <a:schemeClr val="tx1"/>
                </a:solidFill>
              </a:endParaRPr>
            </a:p>
          </p:txBody>
        </p:sp>
        <p:cxnSp>
          <p:nvCxnSpPr>
            <p:cNvPr id="21" name="Straight Arrow Connector 20"/>
            <p:cNvCxnSpPr>
              <a:stCxn id="5" idx="2"/>
              <a:endCxn id="6" idx="0"/>
            </p:cNvCxnSpPr>
            <p:nvPr/>
          </p:nvCxnSpPr>
          <p:spPr>
            <a:xfrm>
              <a:off x="4680012" y="1563638"/>
              <a:ext cx="0" cy="396453"/>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5" idx="1"/>
            </p:cNvCxnSpPr>
            <p:nvPr/>
          </p:nvCxnSpPr>
          <p:spPr>
            <a:xfrm rot="10800000" flipV="1">
              <a:off x="1750938" y="1347613"/>
              <a:ext cx="1452911" cy="1423563"/>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p:cNvCxnSpPr/>
            <p:nvPr/>
          </p:nvCxnSpPr>
          <p:spPr>
            <a:xfrm rot="10800000">
              <a:off x="6156174" y="1219978"/>
              <a:ext cx="720080" cy="1"/>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p:cNvCxnSpPr>
              <a:stCxn id="5" idx="3"/>
              <a:endCxn id="16" idx="1"/>
            </p:cNvCxnSpPr>
            <p:nvPr/>
          </p:nvCxnSpPr>
          <p:spPr>
            <a:xfrm>
              <a:off x="6156176" y="1347614"/>
              <a:ext cx="720080" cy="648073"/>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p:cNvCxnSpPr>
              <a:stCxn id="5" idx="3"/>
              <a:endCxn id="17" idx="1"/>
            </p:cNvCxnSpPr>
            <p:nvPr/>
          </p:nvCxnSpPr>
          <p:spPr>
            <a:xfrm>
              <a:off x="6156176" y="1347614"/>
              <a:ext cx="720080" cy="1293657"/>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p:cNvCxnSpPr>
              <a:stCxn id="5" idx="3"/>
              <a:endCxn id="18" idx="1"/>
            </p:cNvCxnSpPr>
            <p:nvPr/>
          </p:nvCxnSpPr>
          <p:spPr>
            <a:xfrm>
              <a:off x="6156176" y="1347614"/>
              <a:ext cx="720080" cy="1934579"/>
            </a:xfrm>
            <a:prstGeom prst="bentConnector3">
              <a:avLst>
                <a:gd name="adj1" fmla="val 50000"/>
              </a:avLst>
            </a:prstGeom>
            <a:ln>
              <a:tailEnd type="none"/>
            </a:ln>
          </p:spPr>
          <p:style>
            <a:lnRef idx="1">
              <a:schemeClr val="dk1"/>
            </a:lnRef>
            <a:fillRef idx="0">
              <a:schemeClr val="dk1"/>
            </a:fillRef>
            <a:effectRef idx="0">
              <a:schemeClr val="dk1"/>
            </a:effectRef>
            <a:fontRef idx="minor">
              <a:schemeClr val="tx1"/>
            </a:fontRef>
          </p:style>
        </p:cxnSp>
        <p:cxnSp>
          <p:nvCxnSpPr>
            <p:cNvPr id="36" name="Straight Arrow Connector 35"/>
            <p:cNvCxnSpPr>
              <a:stCxn id="19" idx="1"/>
              <a:endCxn id="5" idx="3"/>
            </p:cNvCxnSpPr>
            <p:nvPr/>
          </p:nvCxnSpPr>
          <p:spPr>
            <a:xfrm rot="10800000">
              <a:off x="6156176" y="1347614"/>
              <a:ext cx="720080" cy="2580446"/>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pic>
          <p:nvPicPr>
            <p:cNvPr id="2050" name="Picture 2" descr="https://lh3.googleusercontent.com/e7ioSomM1-cRX_4fkSpN-rVl7C9cngTh65CF6nLPqE8LIVqMHnw_-fuNPAbQphixo4ge=w30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0970" y="2284432"/>
              <a:ext cx="1350948" cy="1350948"/>
            </a:xfrm>
            <a:prstGeom prst="rect">
              <a:avLst/>
            </a:prstGeom>
            <a:noFill/>
            <a:extLst>
              <a:ext uri="{909E8E84-426E-40DD-AFC4-6F175D3DCCD1}">
                <a14:hiddenFill xmlns:a14="http://schemas.microsoft.com/office/drawing/2010/main">
                  <a:solidFill>
                    <a:srgbClr val="FFFFFF"/>
                  </a:solidFill>
                </a14:hiddenFill>
              </a:ext>
            </a:extLst>
          </p:spPr>
        </p:pic>
        <p:cxnSp>
          <p:nvCxnSpPr>
            <p:cNvPr id="52" name="Straight Arrow Connector 51"/>
            <p:cNvCxnSpPr/>
            <p:nvPr/>
          </p:nvCxnSpPr>
          <p:spPr>
            <a:xfrm>
              <a:off x="6156174" y="3395417"/>
              <a:ext cx="720081" cy="1"/>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sp>
          <p:nvSpPr>
            <p:cNvPr id="2052" name="TextBox 2051"/>
            <p:cNvSpPr txBox="1"/>
            <p:nvPr/>
          </p:nvSpPr>
          <p:spPr>
            <a:xfrm>
              <a:off x="334934" y="1596526"/>
              <a:ext cx="2106234" cy="394524"/>
            </a:xfrm>
            <a:prstGeom prst="rect">
              <a:avLst/>
            </a:prstGeom>
            <a:noFill/>
          </p:spPr>
          <p:txBody>
            <a:bodyPr wrap="square" rtlCol="0">
              <a:spAutoFit/>
            </a:bodyPr>
            <a:lstStyle/>
            <a:p>
              <a:r>
                <a:rPr lang="de-CH" sz="1200" dirty="0"/>
                <a:t>Upload Data (https)</a:t>
              </a:r>
            </a:p>
          </p:txBody>
        </p:sp>
        <p:cxnSp>
          <p:nvCxnSpPr>
            <p:cNvPr id="2054" name="Connector: Elbow 2053"/>
            <p:cNvCxnSpPr/>
            <p:nvPr/>
          </p:nvCxnSpPr>
          <p:spPr>
            <a:xfrm rot="10800000">
              <a:off x="1750939" y="3148635"/>
              <a:ext cx="1452908" cy="1000395"/>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74" name="TextBox 73"/>
            <p:cNvSpPr txBox="1"/>
            <p:nvPr/>
          </p:nvSpPr>
          <p:spPr>
            <a:xfrm>
              <a:off x="334934" y="3828172"/>
              <a:ext cx="2106234" cy="394524"/>
            </a:xfrm>
            <a:prstGeom prst="rect">
              <a:avLst/>
            </a:prstGeom>
            <a:noFill/>
          </p:spPr>
          <p:txBody>
            <a:bodyPr wrap="square" rtlCol="0">
              <a:spAutoFit/>
            </a:bodyPr>
            <a:lstStyle/>
            <a:p>
              <a:r>
                <a:rPr lang="de-CH" sz="1200" dirty="0"/>
                <a:t>Pull </a:t>
              </a:r>
              <a:r>
                <a:rPr lang="de-CH" sz="1200" dirty="0" err="1"/>
                <a:t>Config</a:t>
              </a:r>
              <a:r>
                <a:rPr lang="de-CH" sz="1200" dirty="0"/>
                <a:t> (https)</a:t>
              </a:r>
            </a:p>
          </p:txBody>
        </p:sp>
      </p:grpSp>
      <p:pic>
        <p:nvPicPr>
          <p:cNvPr id="37" name="Picture 10" descr="http://www.devconf.cz/sites/default/files/redhat_logo.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727935" y="3922110"/>
            <a:ext cx="1188973" cy="383157"/>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12" descr="http://design.ubuntu.com/wp-content/uploads/logo-ubuntu_su-orange-hex.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83275" y="3689738"/>
            <a:ext cx="1678783" cy="829517"/>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16" descr="http://www.sysadminslife.com/wp-content/uploads/2012/12/centos-logo.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47487" y="3863359"/>
            <a:ext cx="1184021" cy="45195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8" descr="https://countability.me/wp-content/uploads/2016/03/aws-logo-large_white-300x111.png"/>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90842" y="3902153"/>
            <a:ext cx="1035712" cy="383214"/>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0" descr="https://upload.wikimedia.org/wikipedia/commons/thumb/5/50/Oracle_logo.svg/663px-Oracle_logo.svg.png"/>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574098" y="4025151"/>
            <a:ext cx="1119292" cy="15869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2" descr="https://ev.kde.org/images/supportingmembers/suse.pn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83068" y="3968853"/>
            <a:ext cx="576181" cy="36491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4" descr="http://www.nixtech.net/sites/default/files/styles/large/public/debian-logo.png?itok=fAlwGPXx"/>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396054" y="3968853"/>
            <a:ext cx="751348" cy="3631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9855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OMS </a:t>
            </a:r>
            <a:r>
              <a:rPr lang="en-US" dirty="0" err="1"/>
              <a:t>CollectD</a:t>
            </a:r>
            <a:endParaRPr lang="en-US" dirty="0"/>
          </a:p>
        </p:txBody>
      </p:sp>
      <p:sp>
        <p:nvSpPr>
          <p:cNvPr id="3" name="Content Placeholder 2"/>
          <p:cNvSpPr>
            <a:spLocks noGrp="1"/>
          </p:cNvSpPr>
          <p:nvPr>
            <p:ph idx="1"/>
          </p:nvPr>
        </p:nvSpPr>
        <p:spPr>
          <a:xfrm>
            <a:off x="250825" y="935268"/>
            <a:ext cx="8642350" cy="1482449"/>
          </a:xfrm>
        </p:spPr>
        <p:txBody>
          <a:bodyPr/>
          <a:lstStyle/>
          <a:p>
            <a:r>
              <a:rPr lang="en-US" sz="1800" b="1" dirty="0" err="1"/>
              <a:t>collectd</a:t>
            </a:r>
            <a:r>
              <a:rPr lang="en-US" sz="1800" dirty="0"/>
              <a:t> is a Unix daemon that collects, transfers and stores performance data of computers and network equipment.</a:t>
            </a:r>
            <a:endParaRPr lang="de-CH" sz="1800" dirty="0"/>
          </a:p>
          <a:p>
            <a:r>
              <a:rPr lang="de-CH" sz="1800" dirty="0"/>
              <a:t>«</a:t>
            </a:r>
            <a:r>
              <a:rPr lang="de-CH" sz="1800" dirty="0" err="1"/>
              <a:t>read</a:t>
            </a:r>
            <a:r>
              <a:rPr lang="de-CH" sz="1800" dirty="0"/>
              <a:t> </a:t>
            </a:r>
            <a:r>
              <a:rPr lang="de-CH" sz="1800" dirty="0" err="1"/>
              <a:t>plug-ins</a:t>
            </a:r>
            <a:r>
              <a:rPr lang="de-CH" sz="1800" dirty="0"/>
              <a:t>» </a:t>
            </a:r>
            <a:r>
              <a:rPr lang="de-CH" sz="1800" dirty="0" err="1"/>
              <a:t>collect</a:t>
            </a:r>
            <a:r>
              <a:rPr lang="de-CH" sz="1800" dirty="0"/>
              <a:t> </a:t>
            </a:r>
            <a:r>
              <a:rPr lang="de-CH" sz="1800" dirty="0" err="1"/>
              <a:t>data</a:t>
            </a:r>
            <a:endParaRPr lang="en-US" sz="1800" dirty="0">
              <a:solidFill>
                <a:srgbClr val="FFFF00"/>
              </a:solidFill>
            </a:endParaRPr>
          </a:p>
          <a:p>
            <a:r>
              <a:rPr lang="de-CH" sz="1800" dirty="0"/>
              <a:t>«</a:t>
            </a:r>
            <a:r>
              <a:rPr lang="en-US" sz="1800" dirty="0"/>
              <a:t>write plug-ins</a:t>
            </a:r>
            <a:r>
              <a:rPr lang="de-CH" sz="1800" dirty="0"/>
              <a:t>» </a:t>
            </a:r>
            <a:r>
              <a:rPr lang="en-US" sz="1800" dirty="0"/>
              <a:t>send data over the network to a remote instance of the daemon</a:t>
            </a:r>
            <a:endParaRPr lang="en-US" sz="1800" dirty="0">
              <a:solidFill>
                <a:srgbClr val="FFFF00"/>
              </a:solidFill>
            </a:endParaRPr>
          </a:p>
        </p:txBody>
      </p:sp>
      <p:grpSp>
        <p:nvGrpSpPr>
          <p:cNvPr id="23" name="Group 22"/>
          <p:cNvGrpSpPr/>
          <p:nvPr/>
        </p:nvGrpSpPr>
        <p:grpSpPr>
          <a:xfrm>
            <a:off x="1344755" y="2355726"/>
            <a:ext cx="6624736" cy="2294560"/>
            <a:chOff x="279353" y="1018692"/>
            <a:chExt cx="7867203" cy="2983522"/>
          </a:xfrm>
        </p:grpSpPr>
        <p:pic>
          <p:nvPicPr>
            <p:cNvPr id="24" name="Picture 2" descr="https://lh3.googleusercontent.com/e7ioSomM1-cRX_4fkSpN-rVl7C9cngTh65CF6nLPqE8LIVqMHnw_-fuNPAbQphixo4ge=w300"/>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95608" y="2033579"/>
              <a:ext cx="1350948" cy="1350948"/>
            </a:xfrm>
            <a:prstGeom prst="rect">
              <a:avLst/>
            </a:prstGeom>
            <a:noFill/>
            <a:extLst>
              <a:ext uri="{909E8E84-426E-40DD-AFC4-6F175D3DCCD1}">
                <a14:hiddenFill xmlns:a14="http://schemas.microsoft.com/office/drawing/2010/main">
                  <a:solidFill>
                    <a:srgbClr val="FFFFFF"/>
                  </a:solidFill>
                </a14:hiddenFill>
              </a:ext>
            </a:extLst>
          </p:spPr>
        </p:pic>
        <p:grpSp>
          <p:nvGrpSpPr>
            <p:cNvPr id="25" name="Group 24"/>
            <p:cNvGrpSpPr/>
            <p:nvPr/>
          </p:nvGrpSpPr>
          <p:grpSpPr>
            <a:xfrm>
              <a:off x="279353" y="1018692"/>
              <a:ext cx="5473303" cy="2983522"/>
              <a:chOff x="279353" y="1199370"/>
              <a:chExt cx="5473303" cy="2983522"/>
            </a:xfrm>
          </p:grpSpPr>
          <p:sp>
            <p:nvSpPr>
              <p:cNvPr id="27" name="Rectangle 26"/>
              <p:cNvSpPr/>
              <p:nvPr/>
            </p:nvSpPr>
            <p:spPr>
              <a:xfrm>
                <a:off x="279353" y="1199370"/>
                <a:ext cx="5473303" cy="298352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sz="1100" dirty="0"/>
              </a:p>
            </p:txBody>
          </p:sp>
          <p:grpSp>
            <p:nvGrpSpPr>
              <p:cNvPr id="28" name="Group 27"/>
              <p:cNvGrpSpPr/>
              <p:nvPr/>
            </p:nvGrpSpPr>
            <p:grpSpPr>
              <a:xfrm>
                <a:off x="420193" y="1799856"/>
                <a:ext cx="1533736" cy="1663065"/>
                <a:chOff x="527112" y="1146869"/>
                <a:chExt cx="1533736" cy="1663065"/>
              </a:xfrm>
            </p:grpSpPr>
            <p:pic>
              <p:nvPicPr>
                <p:cNvPr id="35" name="Picture 8" descr="User-Clients ic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112" y="1146869"/>
                  <a:ext cx="609600" cy="609600"/>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36" name="Picture 2" descr="Cpu-intel icon"/>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5408" y="1469454"/>
                  <a:ext cx="792560" cy="792561"/>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37" name="Picture 4" descr="K-cm-memory icon"/>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5664" y="1602102"/>
                  <a:ext cx="1075184" cy="1075185"/>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38" name="Picture 6" descr="https://wiki.postgresql.org/images/3/30/PostgreSQL_logo.3colors.120x120.png"/>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8160" y="2078821"/>
                  <a:ext cx="731112" cy="731113"/>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39" name="Picture 10" descr="https://raw.githubusercontent.com/dperson/openvpn-client/master/logo.png"/>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409272" y="2193478"/>
                  <a:ext cx="519299" cy="519299"/>
                </a:xfrm>
                <a:prstGeom prst="rect">
                  <a:avLst/>
                </a:prstGeom>
                <a:noFill/>
                <a:ln>
                  <a:noFill/>
                </a:ln>
                <a:extLst>
                  <a:ext uri="{909E8E84-426E-40DD-AFC4-6F175D3DCCD1}">
                    <a14:hiddenFill xmlns:a14="http://schemas.microsoft.com/office/drawing/2010/main">
                      <a:solidFill>
                        <a:srgbClr val="FFFFFF"/>
                      </a:solidFill>
                    </a14:hiddenFill>
                  </a:ext>
                </a:extLst>
              </p:spPr>
            </p:pic>
          </p:grpSp>
          <p:pic>
            <p:nvPicPr>
              <p:cNvPr id="29" name="Picture 2" descr="http://www.hops.io/sites/default/files/styles/portfolio_detail/public/collectd_0.png?itok=Hynph6vq"/>
              <p:cNvPicPr>
                <a:picLocks noChangeAspect="1" noChangeArrowheads="1"/>
              </p:cNvPicPr>
              <p:nvPr/>
            </p:nvPicPr>
            <p:blipFill rotWithShape="1">
              <a:blip r:embed="rId9">
                <a:extLst>
                  <a:ext uri="{28A0092B-C50C-407E-A947-70E740481C1C}">
                    <a14:useLocalDpi xmlns:a14="http://schemas.microsoft.com/office/drawing/2010/main" val="0"/>
                  </a:ext>
                </a:extLst>
              </a:blip>
              <a:srcRect l="23610" t="14606" r="24084" b="43878"/>
              <a:stretch/>
            </p:blipFill>
            <p:spPr bwMode="auto">
              <a:xfrm>
                <a:off x="2703384" y="1382143"/>
                <a:ext cx="3024336" cy="1161086"/>
              </a:xfrm>
              <a:prstGeom prst="rect">
                <a:avLst/>
              </a:prstGeom>
              <a:noFill/>
              <a:ln>
                <a:noFill/>
              </a:ln>
              <a:extLst>
                <a:ext uri="{909E8E84-426E-40DD-AFC4-6F175D3DCCD1}">
                  <a14:hiddenFill xmlns:a14="http://schemas.microsoft.com/office/drawing/2010/main">
                    <a:solidFill>
                      <a:srgbClr val="FFFFFF"/>
                    </a:solidFill>
                  </a14:hiddenFill>
                </a:ext>
              </a:extLst>
            </p:spPr>
          </p:pic>
          <p:cxnSp>
            <p:nvCxnSpPr>
              <p:cNvPr id="30" name="Straight Arrow Connector 29"/>
              <p:cNvCxnSpPr/>
              <p:nvPr/>
            </p:nvCxnSpPr>
            <p:spPr>
              <a:xfrm flipV="1">
                <a:off x="1618297" y="2056620"/>
                <a:ext cx="1009487" cy="251705"/>
              </a:xfrm>
              <a:prstGeom prst="straightConnector1">
                <a:avLst/>
              </a:prstGeom>
              <a:ln w="31750">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a:xfrm>
                <a:off x="2299416" y="3344905"/>
                <a:ext cx="1815220" cy="57606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CH" sz="1400" dirty="0" err="1"/>
                  <a:t>omsagent</a:t>
                </a:r>
                <a:endParaRPr lang="de-CH" sz="1400" dirty="0"/>
              </a:p>
            </p:txBody>
          </p:sp>
          <p:cxnSp>
            <p:nvCxnSpPr>
              <p:cNvPr id="32" name="Straight Arrow Connector 31"/>
              <p:cNvCxnSpPr/>
              <p:nvPr/>
            </p:nvCxnSpPr>
            <p:spPr>
              <a:xfrm>
                <a:off x="3196406" y="2543229"/>
                <a:ext cx="0" cy="73074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3253748" y="2610534"/>
                <a:ext cx="1584176" cy="400190"/>
              </a:xfrm>
              <a:prstGeom prst="rect">
                <a:avLst/>
              </a:prstGeom>
              <a:noFill/>
              <a:ln>
                <a:noFill/>
              </a:ln>
            </p:spPr>
            <p:txBody>
              <a:bodyPr wrap="square" rtlCol="0">
                <a:spAutoFit/>
              </a:bodyPr>
              <a:lstStyle/>
              <a:p>
                <a:r>
                  <a:rPr lang="de-CH" sz="1400" dirty="0" err="1">
                    <a:solidFill>
                      <a:schemeClr val="accent1"/>
                    </a:solidFill>
                  </a:rPr>
                  <a:t>write_http</a:t>
                </a:r>
                <a:endParaRPr lang="de-CH" sz="1400" dirty="0">
                  <a:solidFill>
                    <a:schemeClr val="accent1"/>
                  </a:solidFill>
                </a:endParaRPr>
              </a:p>
            </p:txBody>
          </p:sp>
          <p:sp>
            <p:nvSpPr>
              <p:cNvPr id="34" name="TextBox 33"/>
              <p:cNvSpPr txBox="1"/>
              <p:nvPr/>
            </p:nvSpPr>
            <p:spPr>
              <a:xfrm>
                <a:off x="306218" y="1199370"/>
                <a:ext cx="2664296" cy="340161"/>
              </a:xfrm>
              <a:prstGeom prst="rect">
                <a:avLst/>
              </a:prstGeom>
              <a:noFill/>
              <a:ln>
                <a:noFill/>
              </a:ln>
            </p:spPr>
            <p:txBody>
              <a:bodyPr wrap="square" rtlCol="0">
                <a:spAutoFit/>
              </a:bodyPr>
              <a:lstStyle/>
              <a:p>
                <a:r>
                  <a:rPr lang="de-CH" sz="1100" dirty="0"/>
                  <a:t>Linux Server</a:t>
                </a:r>
              </a:p>
            </p:txBody>
          </p:sp>
        </p:grpSp>
        <p:cxnSp>
          <p:nvCxnSpPr>
            <p:cNvPr id="26" name="Straight Arrow Connector 25"/>
            <p:cNvCxnSpPr/>
            <p:nvPr/>
          </p:nvCxnSpPr>
          <p:spPr>
            <a:xfrm flipV="1">
              <a:off x="4215552" y="2734324"/>
              <a:ext cx="2534167" cy="717935"/>
            </a:xfrm>
            <a:prstGeom prst="straightConnector1">
              <a:avLst/>
            </a:prstGeom>
            <a:ln w="317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sp>
        <p:nvSpPr>
          <p:cNvPr id="40" name="TextBox 39"/>
          <p:cNvSpPr txBox="1"/>
          <p:nvPr/>
        </p:nvSpPr>
        <p:spPr>
          <a:xfrm>
            <a:off x="278552" y="4768770"/>
            <a:ext cx="8757143" cy="369332"/>
          </a:xfrm>
          <a:prstGeom prst="rect">
            <a:avLst/>
          </a:prstGeom>
          <a:noFill/>
        </p:spPr>
        <p:txBody>
          <a:bodyPr wrap="square" rtlCol="0">
            <a:spAutoFit/>
          </a:bodyPr>
          <a:lstStyle/>
          <a:p>
            <a:r>
              <a:rPr lang="en-US" dirty="0">
                <a:solidFill>
                  <a:schemeClr val="bg1">
                    <a:lumMod val="85000"/>
                  </a:schemeClr>
                </a:solidFill>
              </a:rPr>
              <a:t>List of available plugins: </a:t>
            </a:r>
            <a:r>
              <a:rPr lang="en-US" u="sng" dirty="0">
                <a:solidFill>
                  <a:schemeClr val="bg1">
                    <a:lumMod val="85000"/>
                  </a:schemeClr>
                </a:solidFill>
              </a:rPr>
              <a:t>https://collectd.org/wiki/index.php/Table_of_Plugins</a:t>
            </a:r>
            <a:endParaRPr lang="de-CH" u="sng" dirty="0">
              <a:solidFill>
                <a:schemeClr val="bg1">
                  <a:lumMod val="85000"/>
                </a:schemeClr>
              </a:solidFill>
            </a:endParaRPr>
          </a:p>
        </p:txBody>
      </p:sp>
    </p:spTree>
    <p:extLst>
      <p:ext uri="{BB962C8B-B14F-4D97-AF65-F5344CB8AC3E}">
        <p14:creationId xmlns:p14="http://schemas.microsoft.com/office/powerpoint/2010/main" val="2112608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533399" y="1365250"/>
            <a:ext cx="8287073" cy="1121025"/>
          </a:xfrm>
        </p:spPr>
        <p:txBody>
          <a:bodyPr/>
          <a:lstStyle/>
          <a:p>
            <a:r>
              <a:rPr lang="en-US" dirty="0"/>
              <a:t>Demo:</a:t>
            </a:r>
            <a:br>
              <a:rPr lang="en-US" dirty="0"/>
            </a:br>
            <a:r>
              <a:rPr lang="en-US" dirty="0"/>
              <a:t>OMS Agent for Linux and </a:t>
            </a:r>
            <a:r>
              <a:rPr lang="en-US" dirty="0" err="1"/>
              <a:t>CollectD</a:t>
            </a:r>
            <a:r>
              <a:rPr lang="en-US" dirty="0"/>
              <a:t> Metrics</a:t>
            </a:r>
            <a:endParaRPr lang="de-DE" dirty="0">
              <a:solidFill>
                <a:srgbClr val="FFFF00"/>
              </a:solidFill>
            </a:endParaRPr>
          </a:p>
        </p:txBody>
      </p:sp>
    </p:spTree>
    <p:extLst>
      <p:ext uri="{BB962C8B-B14F-4D97-AF65-F5344CB8AC3E}">
        <p14:creationId xmlns:p14="http://schemas.microsoft.com/office/powerpoint/2010/main" val="398859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OMS Syslog</a:t>
            </a:r>
          </a:p>
        </p:txBody>
      </p:sp>
      <p:sp>
        <p:nvSpPr>
          <p:cNvPr id="3" name="Content Placeholder 2"/>
          <p:cNvSpPr>
            <a:spLocks noGrp="1"/>
          </p:cNvSpPr>
          <p:nvPr>
            <p:ph idx="1"/>
          </p:nvPr>
        </p:nvSpPr>
        <p:spPr>
          <a:xfrm>
            <a:off x="250825" y="935268"/>
            <a:ext cx="4465191" cy="3868730"/>
          </a:xfrm>
        </p:spPr>
        <p:txBody>
          <a:bodyPr vert="horz" lIns="0" tIns="0" rIns="0" bIns="0" rtlCol="0" anchor="t">
            <a:noAutofit/>
          </a:bodyPr>
          <a:lstStyle/>
          <a:p>
            <a:pPr>
              <a:buFont typeface="Wingdings" panose="05000000000000000000" pitchFamily="2" charset="2"/>
              <a:buChar char="§"/>
            </a:pPr>
            <a:r>
              <a:rPr lang="en-US" sz="1800" dirty="0"/>
              <a:t>Either </a:t>
            </a:r>
            <a:r>
              <a:rPr lang="en-US" sz="1800" b="1" dirty="0" err="1"/>
              <a:t>rsyslog</a:t>
            </a:r>
            <a:r>
              <a:rPr lang="en-US" sz="1800" dirty="0"/>
              <a:t> or </a:t>
            </a:r>
            <a:r>
              <a:rPr lang="en-US" sz="1800" b="1" dirty="0"/>
              <a:t>syslog-ng </a:t>
            </a:r>
            <a:r>
              <a:rPr lang="en-US" sz="1800" dirty="0"/>
              <a:t>are required to collect syslog messages.</a:t>
            </a:r>
            <a:r>
              <a:rPr lang="en-US" sz="2000" dirty="0"/>
              <a:t> </a:t>
            </a:r>
            <a:endParaRPr lang="DE-DE" sz="2000" dirty="0">
              <a:solidFill>
                <a:schemeClr val="tx1"/>
              </a:solidFill>
            </a:endParaRPr>
          </a:p>
          <a:p>
            <a:pPr lvl="1">
              <a:buFont typeface="Wingdings" panose="05000000000000000000" pitchFamily="2" charset="2"/>
              <a:buChar char="§"/>
            </a:pPr>
            <a:r>
              <a:rPr lang="en-US" sz="1600" b="1" i="1" dirty="0" err="1"/>
              <a:t>sysklog</a:t>
            </a:r>
            <a:r>
              <a:rPr lang="en-US" sz="1600" i="1" dirty="0"/>
              <a:t> is not supported</a:t>
            </a:r>
            <a:endParaRPr lang="en-US" sz="1600" dirty="0">
              <a:solidFill>
                <a:srgbClr val="000000"/>
              </a:solidFill>
            </a:endParaRPr>
          </a:p>
          <a:p>
            <a:pPr>
              <a:buFont typeface="Wingdings" panose="05000000000000000000" pitchFamily="2" charset="2"/>
              <a:buChar char="§"/>
            </a:pPr>
            <a:r>
              <a:rPr lang="en-US" sz="1800" dirty="0">
                <a:solidFill>
                  <a:srgbClr val="D9D9D9"/>
                </a:solidFill>
              </a:rPr>
              <a:t>Use OMS portal for centralized facility and severity management</a:t>
            </a:r>
            <a:endParaRPr lang="en-US" sz="1800" dirty="0">
              <a:solidFill>
                <a:schemeClr val="tx1"/>
              </a:solidFill>
            </a:endParaRPr>
          </a:p>
          <a:p>
            <a:pPr>
              <a:buFont typeface="Wingdings" panose="05000000000000000000" pitchFamily="2" charset="2"/>
              <a:buChar char="§"/>
            </a:pPr>
            <a:r>
              <a:rPr lang="en-US" sz="1800" dirty="0"/>
              <a:t>Default all managed agents get OMS configuration. Selective disable:</a:t>
            </a:r>
            <a:endParaRPr lang="EN-US" sz="1800" dirty="0">
              <a:solidFill>
                <a:schemeClr val="tx1"/>
              </a:solidFill>
            </a:endParaRPr>
          </a:p>
          <a:p>
            <a:pPr marL="649288" lvl="1" indent="-285750">
              <a:buFont typeface="Wingdings" panose="05000000000000000000" pitchFamily="2" charset="2"/>
              <a:buChar char="§"/>
            </a:pPr>
            <a:r>
              <a:rPr lang="en-US" sz="1400" b="1" dirty="0"/>
              <a:t>OMS_MetaConfigHelper.py –disable</a:t>
            </a:r>
            <a:endParaRPr lang="en-US" sz="1800" dirty="0">
              <a:solidFill>
                <a:schemeClr val="tx1"/>
              </a:solidFill>
            </a:endParaRPr>
          </a:p>
          <a:p>
            <a:pPr>
              <a:buFont typeface="Wingdings" panose="05000000000000000000" pitchFamily="2" charset="2"/>
              <a:buChar char="§"/>
            </a:pPr>
            <a:r>
              <a:rPr lang="en-US" sz="1800" dirty="0"/>
              <a:t>&gt; 500 messages/seconds (daemon =&gt; agent) needs change to TCP protocol </a:t>
            </a:r>
            <a:endParaRPr lang="en-US" sz="1800" dirty="0">
              <a:solidFill>
                <a:schemeClr val="tx1"/>
              </a:solidFill>
            </a:endParaRPr>
          </a:p>
          <a:p>
            <a:pPr>
              <a:buFont typeface="Wingdings" panose="05000000000000000000" pitchFamily="2" charset="2"/>
              <a:buChar char="§"/>
            </a:pPr>
            <a:r>
              <a:rPr lang="en-US" sz="1800" dirty="0"/>
              <a:t>Routing syslog messages directly to OMS agent possible (passing by syslog daemon)</a:t>
            </a:r>
            <a:endParaRPr lang="en-US" sz="1800" dirty="0">
              <a:solidFill>
                <a:schemeClr val="tx1"/>
              </a:solidFill>
            </a:endParaRPr>
          </a:p>
          <a:p>
            <a:endParaRPr lang="en-US" sz="1800" dirty="0">
              <a:solidFill>
                <a:schemeClr val="tx1"/>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8024" y="1275606"/>
            <a:ext cx="4250115" cy="2828865"/>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3832516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Demo:</a:t>
            </a:r>
            <a:br>
              <a:rPr lang="en-US"/>
            </a:br>
            <a:r>
              <a:rPr lang="en-US"/>
              <a:t>Syslog</a:t>
            </a:r>
            <a:br>
              <a:rPr lang="en-US" dirty="0"/>
            </a:br>
            <a:endParaRPr lang="de-DE" dirty="0">
              <a:solidFill>
                <a:srgbClr val="FFFF00"/>
              </a:solidFill>
            </a:endParaRPr>
          </a:p>
        </p:txBody>
      </p:sp>
    </p:spTree>
    <p:extLst>
      <p:ext uri="{BB962C8B-B14F-4D97-AF65-F5344CB8AC3E}">
        <p14:creationId xmlns:p14="http://schemas.microsoft.com/office/powerpoint/2010/main" val="25071280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0" y="1131590"/>
            <a:ext cx="9149266" cy="3620591"/>
          </a:xfrm>
          <a:prstGeom prst="rect">
            <a:avLst/>
          </a:prstGeom>
        </p:spPr>
      </p:pic>
      <p:sp>
        <p:nvSpPr>
          <p:cNvPr id="4" name="Title 3"/>
          <p:cNvSpPr>
            <a:spLocks noGrp="1"/>
          </p:cNvSpPr>
          <p:nvPr>
            <p:ph type="title"/>
          </p:nvPr>
        </p:nvSpPr>
        <p:spPr/>
        <p:txBody>
          <a:bodyPr/>
          <a:lstStyle/>
          <a:p>
            <a:r>
              <a:rPr lang="de-CH" dirty="0"/>
              <a:t>Custom Dashboard</a:t>
            </a:r>
          </a:p>
        </p:txBody>
      </p:sp>
    </p:spTree>
    <p:extLst>
      <p:ext uri="{BB962C8B-B14F-4D97-AF65-F5344CB8AC3E}">
        <p14:creationId xmlns:p14="http://schemas.microsoft.com/office/powerpoint/2010/main" val="354473808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dirty="0"/>
              <a:t>Additional Resources</a:t>
            </a:r>
          </a:p>
        </p:txBody>
      </p:sp>
      <p:sp>
        <p:nvSpPr>
          <p:cNvPr id="3" name="Content Placeholder 2"/>
          <p:cNvSpPr>
            <a:spLocks noGrp="1"/>
          </p:cNvSpPr>
          <p:nvPr>
            <p:ph idx="1"/>
          </p:nvPr>
        </p:nvSpPr>
        <p:spPr>
          <a:xfrm>
            <a:off x="250825" y="1018692"/>
            <a:ext cx="8642350" cy="3819872"/>
          </a:xfrm>
        </p:spPr>
        <p:txBody>
          <a:bodyPr/>
          <a:lstStyle/>
          <a:p>
            <a:r>
              <a:rPr lang="de-CH" sz="1400" b="1" dirty="0"/>
              <a:t>OMS Agent </a:t>
            </a:r>
            <a:r>
              <a:rPr lang="de-CH" sz="1400" b="1" dirty="0" err="1"/>
              <a:t>for</a:t>
            </a:r>
            <a:r>
              <a:rPr lang="de-CH" sz="1400" b="1" dirty="0"/>
              <a:t> Linux </a:t>
            </a:r>
            <a:r>
              <a:rPr lang="de-CH" sz="1400" b="1" dirty="0" err="1"/>
              <a:t>Documentation</a:t>
            </a:r>
            <a:br>
              <a:rPr lang="de-CH" sz="1400" b="1" dirty="0"/>
            </a:br>
            <a:r>
              <a:rPr lang="de-CH" sz="1400" b="1" dirty="0">
                <a:hlinkClick r:id="rId3"/>
              </a:rPr>
              <a:t>https://github.com/Microsoft/OMS-Agent-for-Linux/blob/master/docs/OMS-Agent-for-Linux.md#install-the-oms-agent-for-linux</a:t>
            </a:r>
            <a:endParaRPr lang="de-CH" sz="1400" b="1" dirty="0"/>
          </a:p>
          <a:p>
            <a:r>
              <a:rPr lang="de-CH" sz="1400" b="1" dirty="0"/>
              <a:t>Troubleshooting Guide:</a:t>
            </a:r>
            <a:br>
              <a:rPr lang="de-CH" sz="1400" dirty="0"/>
            </a:br>
            <a:r>
              <a:rPr lang="de-CH" sz="1400" dirty="0">
                <a:hlinkClick r:id="rId4"/>
              </a:rPr>
              <a:t>https://github.com/Microsoft/OMS-Agent-for-Linux/blob/master/docs/Troubleshooting.md</a:t>
            </a:r>
            <a:endParaRPr lang="de-CH" sz="1400" dirty="0"/>
          </a:p>
          <a:p>
            <a:r>
              <a:rPr lang="en-US" sz="1400" b="1" dirty="0"/>
              <a:t>Bring your custom </a:t>
            </a:r>
            <a:r>
              <a:rPr lang="en-US" sz="1400" b="1" dirty="0" err="1"/>
              <a:t>collectd</a:t>
            </a:r>
            <a:r>
              <a:rPr lang="en-US" sz="1400" b="1" dirty="0"/>
              <a:t> metrics into the OMS Log Analytics platform</a:t>
            </a:r>
            <a:br>
              <a:rPr lang="en-US" sz="1400" b="1" dirty="0"/>
            </a:br>
            <a:r>
              <a:rPr lang="de-CH" sz="1400" dirty="0">
                <a:hlinkClick r:id="rId5"/>
              </a:rPr>
              <a:t>https://blogs.technet.microsoft.com/msoms/2016/07/14/bring-your-custom-collectd-metrics-into-the-oms-log-analytics-platform/</a:t>
            </a:r>
            <a:endParaRPr lang="de-CH" sz="1400" dirty="0"/>
          </a:p>
          <a:p>
            <a:r>
              <a:rPr lang="de-CH" sz="1400" b="1" dirty="0" err="1"/>
              <a:t>Syslog</a:t>
            </a:r>
            <a:r>
              <a:rPr lang="de-CH" sz="1400" b="1" dirty="0"/>
              <a:t> </a:t>
            </a:r>
            <a:r>
              <a:rPr lang="de-CH" sz="1400" b="1" dirty="0" err="1"/>
              <a:t>collection</a:t>
            </a:r>
            <a:r>
              <a:rPr lang="de-CH" sz="1400" b="1" dirty="0"/>
              <a:t> in Operations Management Suite</a:t>
            </a:r>
            <a:br>
              <a:rPr lang="de-CH" sz="1400" b="1" dirty="0"/>
            </a:br>
            <a:r>
              <a:rPr lang="de-CH" sz="1400" b="1" dirty="0">
                <a:hlinkClick r:id="rId6"/>
              </a:rPr>
              <a:t>https://blogs.technet.microsoft.com/msoms/2016/05/12/syslog-collection-in-operations-management-suite/</a:t>
            </a:r>
            <a:endParaRPr lang="de-CH" sz="1400" b="1" dirty="0"/>
          </a:p>
          <a:p>
            <a:r>
              <a:rPr lang="en-US" sz="1400" b="1" dirty="0"/>
              <a:t>Enable Log Analytics in MS OMS on Azure virtual machines</a:t>
            </a:r>
            <a:br>
              <a:rPr lang="en-US" sz="1400" b="1" dirty="0"/>
            </a:br>
            <a:r>
              <a:rPr lang="en-US" sz="1400" b="1" dirty="0">
                <a:hlinkClick r:id="rId7"/>
              </a:rPr>
              <a:t>https://blogs.technet.microsoft.com/msoms/2016/02/09/1474/</a:t>
            </a:r>
            <a:endParaRPr lang="en-US" sz="1400" b="1" dirty="0"/>
          </a:p>
          <a:p>
            <a:r>
              <a:rPr lang="en-US" sz="1400" b="1" dirty="0"/>
              <a:t>Bring your Custom JSON data to Log Analytics (OMS) with Twitter Data Example</a:t>
            </a:r>
            <a:br>
              <a:rPr lang="en-US" sz="1400" b="1" dirty="0"/>
            </a:br>
            <a:r>
              <a:rPr lang="en-US" sz="1400" b="1" dirty="0">
                <a:hlinkClick r:id="rId8"/>
              </a:rPr>
              <a:t>https://blogs.technet.microsoft.com/msoms/2016/07/21/bring-your-custom-json-data-to-log-analytics-oms-with-twitter-data-example/</a:t>
            </a:r>
            <a:endParaRPr lang="en-US" sz="1400" b="1" dirty="0"/>
          </a:p>
          <a:p>
            <a:r>
              <a:rPr lang="de-CH" sz="1400" b="1" dirty="0"/>
              <a:t>Inside </a:t>
            </a:r>
            <a:r>
              <a:rPr lang="de-CH" sz="1400" b="1" dirty="0" err="1"/>
              <a:t>the</a:t>
            </a:r>
            <a:r>
              <a:rPr lang="de-CH" sz="1400" b="1" dirty="0"/>
              <a:t> Microsoft Operations Management Suite [</a:t>
            </a:r>
            <a:r>
              <a:rPr lang="de-CH" sz="1400" b="1" dirty="0" err="1"/>
              <a:t>e-book</a:t>
            </a:r>
            <a:r>
              <a:rPr lang="de-CH" sz="1400" b="1" dirty="0"/>
              <a:t>]</a:t>
            </a:r>
            <a:br>
              <a:rPr lang="de-CH" sz="1400" b="1" dirty="0"/>
            </a:br>
            <a:r>
              <a:rPr lang="en-US" sz="1400" b="1" dirty="0">
                <a:hlinkClick r:id="rId9"/>
              </a:rPr>
              <a:t>https://gallery.technet.microsoft.com/Inside-the-Operations-2928e342</a:t>
            </a:r>
            <a:endParaRPr lang="en-US" sz="1400" b="1" dirty="0"/>
          </a:p>
          <a:p>
            <a:endParaRPr lang="de-CH" sz="1600" dirty="0"/>
          </a:p>
          <a:p>
            <a:endParaRPr lang="de-CH" dirty="0"/>
          </a:p>
        </p:txBody>
      </p:sp>
    </p:spTree>
    <p:extLst>
      <p:ext uri="{BB962C8B-B14F-4D97-AF65-F5344CB8AC3E}">
        <p14:creationId xmlns:p14="http://schemas.microsoft.com/office/powerpoint/2010/main" val="2239328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CH" dirty="0" err="1"/>
              <a:t>Upcoming</a:t>
            </a:r>
            <a:r>
              <a:rPr lang="de-CH" dirty="0"/>
              <a:t> OMS Sessions</a:t>
            </a:r>
          </a:p>
        </p:txBody>
      </p:sp>
      <p:sp>
        <p:nvSpPr>
          <p:cNvPr id="3" name="Content Placeholder 2"/>
          <p:cNvSpPr>
            <a:spLocks noGrp="1"/>
          </p:cNvSpPr>
          <p:nvPr>
            <p:ph idx="1"/>
          </p:nvPr>
        </p:nvSpPr>
        <p:spPr>
          <a:xfrm>
            <a:off x="250825" y="1034935"/>
            <a:ext cx="8642350" cy="3819872"/>
          </a:xfrm>
        </p:spPr>
        <p:txBody>
          <a:bodyPr/>
          <a:lstStyle/>
          <a:p>
            <a:r>
              <a:rPr lang="en-US" sz="1700" b="1" dirty="0"/>
              <a:t>Wednesday, August 24 • 15:15 - 16:15 </a:t>
            </a:r>
          </a:p>
          <a:p>
            <a:r>
              <a:rPr lang="en-US" sz="1700" dirty="0"/>
              <a:t>Automation in a modern world </a:t>
            </a:r>
          </a:p>
          <a:p>
            <a:r>
              <a:rPr lang="en-US" sz="1700" b="1" dirty="0"/>
              <a:t>Thursday, August 25 • 14:00 - 15:00 </a:t>
            </a:r>
          </a:p>
          <a:p>
            <a:r>
              <a:rPr lang="en-US" sz="1700" dirty="0"/>
              <a:t>Lessons learned from Microsoft Premier Support - Implementing OMS</a:t>
            </a:r>
          </a:p>
          <a:p>
            <a:r>
              <a:rPr lang="en-US" sz="1700" b="1" dirty="0"/>
              <a:t>Thursday, August 25 • 16:15 - 16:45 </a:t>
            </a:r>
          </a:p>
          <a:p>
            <a:r>
              <a:rPr lang="en-US" sz="1700" dirty="0"/>
              <a:t>Ask-the-Experts: Focus 'OMS'</a:t>
            </a:r>
          </a:p>
          <a:p>
            <a:r>
              <a:rPr lang="en-US" sz="1700" b="1" dirty="0"/>
              <a:t>Thursday, August 25 • 16:45 - 17:45 </a:t>
            </a:r>
          </a:p>
          <a:p>
            <a:r>
              <a:rPr lang="en-US" sz="1700" dirty="0"/>
              <a:t>Using your OM skills to hack OMS </a:t>
            </a:r>
          </a:p>
          <a:p>
            <a:r>
              <a:rPr lang="en-US" sz="1700" b="1" dirty="0"/>
              <a:t>Friday, August 26 • 10:45 - 11:45 </a:t>
            </a:r>
          </a:p>
          <a:p>
            <a:r>
              <a:rPr lang="en-US" sz="1700" dirty="0"/>
              <a:t>Rocket science OMS and German Cloud? Must compliance be complex?</a:t>
            </a:r>
          </a:p>
          <a:p>
            <a:r>
              <a:rPr lang="en-US" sz="1700" b="1" dirty="0"/>
              <a:t>Friday, August 26 • 14:00 - 15:00 </a:t>
            </a:r>
          </a:p>
          <a:p>
            <a:r>
              <a:rPr lang="en-US" sz="1700" dirty="0"/>
              <a:t>How to Manage your Azure RemoteApp environment with OMS</a:t>
            </a:r>
          </a:p>
          <a:p>
            <a:endParaRPr lang="de-CH" dirty="0"/>
          </a:p>
        </p:txBody>
      </p:sp>
    </p:spTree>
    <p:extLst>
      <p:ext uri="{BB962C8B-B14F-4D97-AF65-F5344CB8AC3E}">
        <p14:creationId xmlns:p14="http://schemas.microsoft.com/office/powerpoint/2010/main" val="33343817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Thank you!</a:t>
            </a:r>
            <a:endParaRPr lang="de-DE" dirty="0"/>
          </a:p>
        </p:txBody>
      </p:sp>
      <p:sp>
        <p:nvSpPr>
          <p:cNvPr id="3" name="Inhaltsplatzhalter 2"/>
          <p:cNvSpPr>
            <a:spLocks noGrp="1"/>
          </p:cNvSpPr>
          <p:nvPr>
            <p:ph idx="1"/>
          </p:nvPr>
        </p:nvSpPr>
        <p:spPr/>
        <p:txBody>
          <a:bodyPr/>
          <a:lstStyle/>
          <a:p>
            <a:r>
              <a:rPr lang="en-US" dirty="0"/>
              <a:t>We need your feedback!</a:t>
            </a:r>
          </a:p>
          <a:p>
            <a:pPr lvl="1"/>
            <a:r>
              <a:rPr lang="en-US" dirty="0"/>
              <a:t>Please </a:t>
            </a:r>
            <a:r>
              <a:rPr lang="en-US"/>
              <a:t>rate this session</a:t>
            </a:r>
            <a:endParaRPr lang="en-US" dirty="0"/>
          </a:p>
          <a:p>
            <a:pPr lvl="1"/>
            <a:r>
              <a:rPr lang="en-US" dirty="0"/>
              <a:t>Use the “Happy-Or-Not” devices at the exit</a:t>
            </a:r>
          </a:p>
          <a:p>
            <a:r>
              <a:rPr lang="en-US" dirty="0"/>
              <a:t>Thanks to all our conference sponsors!</a:t>
            </a:r>
            <a:endParaRPr lang="de-DE" dirty="0"/>
          </a:p>
        </p:txBody>
      </p:sp>
      <p:sp>
        <p:nvSpPr>
          <p:cNvPr id="5" name="Rechteck 4"/>
          <p:cNvSpPr/>
          <p:nvPr/>
        </p:nvSpPr>
        <p:spPr>
          <a:xfrm>
            <a:off x="-76200" y="3409950"/>
            <a:ext cx="9296400" cy="1752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6" name="Grafik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950" y="3477658"/>
            <a:ext cx="1524000" cy="522514"/>
          </a:xfrm>
          <a:prstGeom prst="rect">
            <a:avLst/>
          </a:prstGeom>
        </p:spPr>
      </p:pic>
      <p:pic>
        <p:nvPicPr>
          <p:cNvPr id="7" name="Grafik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2851" y="3451304"/>
            <a:ext cx="1581150" cy="542109"/>
          </a:xfrm>
          <a:prstGeom prst="rect">
            <a:avLst/>
          </a:prstGeom>
        </p:spPr>
      </p:pic>
      <p:pic>
        <p:nvPicPr>
          <p:cNvPr id="8" name="Grafik 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67600" y="3495215"/>
            <a:ext cx="1369806" cy="473561"/>
          </a:xfrm>
          <a:prstGeom prst="rect">
            <a:avLst/>
          </a:prstGeom>
        </p:spPr>
      </p:pic>
      <p:pic>
        <p:nvPicPr>
          <p:cNvPr id="9" name="Grafik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09205" y="4189143"/>
            <a:ext cx="895949" cy="292158"/>
          </a:xfrm>
          <a:prstGeom prst="rect">
            <a:avLst/>
          </a:prstGeom>
        </p:spPr>
      </p:pic>
      <p:pic>
        <p:nvPicPr>
          <p:cNvPr id="10" name="Grafik 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97242" y="4175985"/>
            <a:ext cx="1066800" cy="347870"/>
          </a:xfrm>
          <a:prstGeom prst="rect">
            <a:avLst/>
          </a:prstGeom>
        </p:spPr>
      </p:pic>
      <p:pic>
        <p:nvPicPr>
          <p:cNvPr id="11" name="Grafik 10"/>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694389" y="4180464"/>
            <a:ext cx="997549" cy="329625"/>
          </a:xfrm>
          <a:prstGeom prst="rect">
            <a:avLst/>
          </a:prstGeom>
        </p:spPr>
      </p:pic>
      <p:pic>
        <p:nvPicPr>
          <p:cNvPr id="12" name="Grafik 11"/>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908201" y="4637132"/>
            <a:ext cx="1106852" cy="353251"/>
          </a:xfrm>
          <a:prstGeom prst="rect">
            <a:avLst/>
          </a:prstGeom>
        </p:spPr>
      </p:pic>
      <p:pic>
        <p:nvPicPr>
          <p:cNvPr id="14" name="Grafik 13"/>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4024" y="4612420"/>
            <a:ext cx="1146175" cy="365801"/>
          </a:xfrm>
          <a:prstGeom prst="rect">
            <a:avLst/>
          </a:prstGeom>
        </p:spPr>
      </p:pic>
      <p:pic>
        <p:nvPicPr>
          <p:cNvPr id="15" name="Grafik 14"/>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3963748" y="4185154"/>
            <a:ext cx="885074" cy="289870"/>
          </a:xfrm>
          <a:prstGeom prst="rect">
            <a:avLst/>
          </a:prstGeom>
        </p:spPr>
      </p:pic>
      <p:pic>
        <p:nvPicPr>
          <p:cNvPr id="16" name="Grafik 15"/>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511541" y="4696852"/>
            <a:ext cx="764921" cy="252756"/>
          </a:xfrm>
          <a:prstGeom prst="rect">
            <a:avLst/>
          </a:prstGeom>
        </p:spPr>
      </p:pic>
      <p:pic>
        <p:nvPicPr>
          <p:cNvPr id="17" name="Grafik 16"/>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2799877" y="4691547"/>
            <a:ext cx="776918" cy="256721"/>
          </a:xfrm>
          <a:prstGeom prst="rect">
            <a:avLst/>
          </a:prstGeom>
        </p:spPr>
      </p:pic>
      <p:pic>
        <p:nvPicPr>
          <p:cNvPr id="18" name="Grafik 17"/>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5264037" y="4634101"/>
            <a:ext cx="820799" cy="376049"/>
          </a:xfrm>
          <a:prstGeom prst="rect">
            <a:avLst/>
          </a:prstGeom>
        </p:spPr>
      </p:pic>
      <p:pic>
        <p:nvPicPr>
          <p:cNvPr id="20" name="Grafik 19"/>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5144606" y="4191520"/>
            <a:ext cx="943037" cy="307512"/>
          </a:xfrm>
          <a:prstGeom prst="rect">
            <a:avLst/>
          </a:prstGeom>
        </p:spPr>
      </p:pic>
      <p:pic>
        <p:nvPicPr>
          <p:cNvPr id="21" name="Grafik 20"/>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317451" y="4621287"/>
            <a:ext cx="1180480" cy="384940"/>
          </a:xfrm>
          <a:prstGeom prst="rect">
            <a:avLst/>
          </a:prstGeom>
        </p:spPr>
      </p:pic>
      <p:pic>
        <p:nvPicPr>
          <p:cNvPr id="22" name="Grafik 21"/>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7787436" y="4662759"/>
            <a:ext cx="1024570" cy="327624"/>
          </a:xfrm>
          <a:prstGeom prst="rect">
            <a:avLst/>
          </a:prstGeom>
        </p:spPr>
      </p:pic>
      <p:pic>
        <p:nvPicPr>
          <p:cNvPr id="13" name="Grafik 12"/>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628168" y="4125551"/>
            <a:ext cx="1138137" cy="371131"/>
          </a:xfrm>
          <a:prstGeom prst="rect">
            <a:avLst/>
          </a:prstGeom>
        </p:spPr>
      </p:pic>
      <p:pic>
        <p:nvPicPr>
          <p:cNvPr id="24" name="Grafik 23"/>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6435918" y="4235031"/>
            <a:ext cx="890472" cy="190116"/>
          </a:xfrm>
          <a:prstGeom prst="rect">
            <a:avLst/>
          </a:prstGeom>
        </p:spPr>
      </p:pic>
    </p:spTree>
    <p:extLst>
      <p:ext uri="{BB962C8B-B14F-4D97-AF65-F5344CB8AC3E}">
        <p14:creationId xmlns:p14="http://schemas.microsoft.com/office/powerpoint/2010/main" val="3660535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CUE16.pptx" id="{94F1B876-72D2-49A0-80FC-ABEC861A77DC}" vid="{F2FC4574-7EF8-49CB-86BA-036B306C578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AFE6CDE7E8D3854299588C462EE7158C" ma:contentTypeVersion="0" ma:contentTypeDescription="Ein neues Dokument erstellen." ma:contentTypeScope="" ma:versionID="0149c9c28cf33bab5520f985629d591a">
  <xsd:schema xmlns:xsd="http://www.w3.org/2001/XMLSchema" xmlns:xs="http://www.w3.org/2001/XMLSchema" xmlns:p="http://schemas.microsoft.com/office/2006/metadata/properties" targetNamespace="http://schemas.microsoft.com/office/2006/metadata/properties" ma:root="true" ma:fieldsID="3a3c5d5d24c77b3bb7d005d3ee4c8b6d">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443EF43-B44D-49D4-8B6A-6AB10D8F3513}">
  <ds:schemaRefs>
    <ds:schemaRef ds:uri="http://schemas.microsoft.com/office/2006/metadata/properties"/>
    <ds:schemaRef ds:uri="http://purl.org/dc/terms/"/>
    <ds:schemaRef ds:uri="http://schemas.microsoft.com/office/2006/documentManagement/types"/>
    <ds:schemaRef ds:uri="http://purl.org/dc/dcmitype/"/>
    <ds:schemaRef ds:uri="http://schemas.microsoft.com/office/infopath/2007/PartnerControls"/>
    <ds:schemaRef ds:uri="http://purl.org/dc/elements/1.1/"/>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09DDFF30-BB42-42AA-B10E-FC1133A7C48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56D0F3EA-E864-41FC-BEFD-8F5B4739EE3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3432</Words>
  <Application>Microsoft Office PowerPoint</Application>
  <PresentationFormat>On-screen Show (16:9)</PresentationFormat>
  <Paragraphs>448</Paragraphs>
  <Slides>26</Slides>
  <Notes>26</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Arial</vt:lpstr>
      <vt:lpstr>Calibri</vt:lpstr>
      <vt:lpstr>Segoe UI</vt:lpstr>
      <vt:lpstr>Segoe UI Light</vt:lpstr>
      <vt:lpstr>Segoe UI Semilight</vt:lpstr>
      <vt:lpstr>Symbol</vt:lpstr>
      <vt:lpstr>Wingdings</vt:lpstr>
      <vt:lpstr>Wingdings 2</vt:lpstr>
      <vt:lpstr>Larissa</vt:lpstr>
      <vt:lpstr>Linux + SCOM + OMS = </vt:lpstr>
      <vt:lpstr>30 SAC (30 Seconds Audience Check)</vt:lpstr>
      <vt:lpstr>PowerPoint Presentation</vt:lpstr>
      <vt:lpstr>PowerPoint Presentation</vt:lpstr>
      <vt:lpstr>Agenda</vt:lpstr>
      <vt:lpstr>Once upon a Time…</vt:lpstr>
      <vt:lpstr>A Miracle Happened…</vt:lpstr>
      <vt:lpstr>Linux in System Center: increasing momentum</vt:lpstr>
      <vt:lpstr>Architectural Overview</vt:lpstr>
      <vt:lpstr>Built-In Monitoring</vt:lpstr>
      <vt:lpstr>Apache Monitoring Architecture</vt:lpstr>
      <vt:lpstr>Demo Apache Monitoring</vt:lpstr>
      <vt:lpstr>MySQL Monitoring Architecture</vt:lpstr>
      <vt:lpstr>Demo MySQL Monitoring</vt:lpstr>
      <vt:lpstr>Demo Overview SCOM 2016 Features</vt:lpstr>
      <vt:lpstr>OMS Agent for Linux</vt:lpstr>
      <vt:lpstr>Big Picture</vt:lpstr>
      <vt:lpstr>Architectural Overview</vt:lpstr>
      <vt:lpstr>OMS CollectD</vt:lpstr>
      <vt:lpstr>Demo: OMS Agent for Linux and CollectD Metrics</vt:lpstr>
      <vt:lpstr>OMS Syslog</vt:lpstr>
      <vt:lpstr>Demo: Syslog </vt:lpstr>
      <vt:lpstr>Custom Dashboard</vt:lpstr>
      <vt:lpstr>Additional Resources</vt:lpstr>
      <vt:lpstr>Upcoming OMS Sessions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 SCOM + OMS =</dc:title>
  <dc:subject>Slide Deck Template</dc:subject>
  <dc:creator>Stefan Roth</dc:creator>
  <cp:keywords>SCUE; SCUE16; SCU; SCU16</cp:keywords>
  <cp:lastModifiedBy>Stefan Johner</cp:lastModifiedBy>
  <cp:revision>163</cp:revision>
  <cp:lastPrinted>2016-08-24T07:55:50Z</cp:lastPrinted>
  <dcterms:created xsi:type="dcterms:W3CDTF">2016-07-18T18:32:08Z</dcterms:created>
  <dcterms:modified xsi:type="dcterms:W3CDTF">2016-08-24T11:17:39Z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0x010100AFE6CDE7E8D3854299588C462EE7158C</vt:lpwstr>
  </property>
</Properties>
</file>