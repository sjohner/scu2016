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81" r:id="rId5"/>
    <p:sldId id="282" r:id="rId6"/>
    <p:sldId id="283" r:id="rId7"/>
    <p:sldId id="284" r:id="rId8"/>
    <p:sldId id="285" r:id="rId9"/>
    <p:sldId id="301" r:id="rId10"/>
    <p:sldId id="286" r:id="rId11"/>
    <p:sldId id="287" r:id="rId12"/>
    <p:sldId id="289" r:id="rId13"/>
    <p:sldId id="290" r:id="rId14"/>
    <p:sldId id="292" r:id="rId15"/>
    <p:sldId id="297" r:id="rId16"/>
    <p:sldId id="294" r:id="rId17"/>
    <p:sldId id="295" r:id="rId18"/>
    <p:sldId id="299" r:id="rId19"/>
    <p:sldId id="258" r:id="rId20"/>
    <p:sldId id="309" r:id="rId21"/>
    <p:sldId id="303" r:id="rId22"/>
    <p:sldId id="265" r:id="rId23"/>
    <p:sldId id="305" r:id="rId24"/>
    <p:sldId id="310" r:id="rId25"/>
    <p:sldId id="307" r:id="rId26"/>
    <p:sldId id="306" r:id="rId27"/>
    <p:sldId id="278" r:id="rId28"/>
    <p:sldId id="300" r:id="rId29"/>
    <p:sldId id="308" r:id="rId30"/>
  </p:sldIdLst>
  <p:sldSz cx="9144000" cy="5143500" type="screen16x9"/>
  <p:notesSz cx="7315200" cy="96012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orient="horz" pos="169">
          <p15:clr>
            <a:srgbClr val="A4A3A4"/>
          </p15:clr>
        </p15:guide>
        <p15:guide id="3" orient="horz" pos="2210">
          <p15:clr>
            <a:srgbClr val="A4A3A4"/>
          </p15:clr>
        </p15:guide>
        <p15:guide id="4" orient="horz" pos="2981">
          <p15:clr>
            <a:srgbClr val="A4A3A4"/>
          </p15:clr>
        </p15:guide>
        <p15:guide id="5" orient="horz" pos="758">
          <p15:clr>
            <a:srgbClr val="A4A3A4"/>
          </p15:clr>
        </p15:guide>
        <p15:guide id="6" pos="2880">
          <p15:clr>
            <a:srgbClr val="A4A3A4"/>
          </p15:clr>
        </p15:guide>
        <p15:guide id="7" pos="158">
          <p15:clr>
            <a:srgbClr val="A4A3A4"/>
          </p15:clr>
        </p15:guide>
        <p15:guide id="8" pos="5602">
          <p15:clr>
            <a:srgbClr val="A4A3A4"/>
          </p15:clr>
        </p15:guide>
        <p15:guide id="9" pos="612">
          <p15:clr>
            <a:srgbClr val="A4A3A4"/>
          </p15:clr>
        </p15:guide>
        <p15:guide id="10">
          <p15:clr>
            <a:srgbClr val="A4A3A4"/>
          </p15:clr>
        </p15:guide>
        <p15:guide id="11" pos="487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88F"/>
    <a:srgbClr val="0078D7"/>
    <a:srgbClr val="232323"/>
    <a:srgbClr val="1F1F1F"/>
    <a:srgbClr val="0D0D0D"/>
    <a:srgbClr val="9E0000"/>
    <a:srgbClr val="8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67967" autoAdjust="0"/>
  </p:normalViewPr>
  <p:slideViewPr>
    <p:cSldViewPr showGuides="1">
      <p:cViewPr varScale="1">
        <p:scale>
          <a:sx n="102" d="100"/>
          <a:sy n="102" d="100"/>
        </p:scale>
        <p:origin x="1866" y="102"/>
      </p:cViewPr>
      <p:guideLst>
        <p:guide orient="horz" pos="1620"/>
        <p:guide orient="horz" pos="169"/>
        <p:guide orient="horz" pos="2210"/>
        <p:guide orient="horz" pos="2981"/>
        <p:guide orient="horz" pos="758"/>
        <p:guide pos="2880"/>
        <p:guide pos="158"/>
        <p:guide pos="5602"/>
        <p:guide pos="612"/>
        <p:guide/>
        <p:guide pos="4876"/>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115" d="100"/>
          <a:sy n="115" d="100"/>
        </p:scale>
        <p:origin x="24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4B3A59-111E-4836-8411-D9ADC14B34BD}"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76FF1465-23F7-4BD7-A7C8-85CA71B14579}">
      <dgm:prSet custT="1"/>
      <dgm:spPr>
        <a:solidFill>
          <a:srgbClr val="D0D8E8"/>
        </a:solidFill>
        <a:ln>
          <a:solidFill>
            <a:schemeClr val="tx1"/>
          </a:solidFill>
        </a:ln>
        <a:scene3d>
          <a:camera prst="orthographicFront"/>
          <a:lightRig rig="threePt" dir="t"/>
        </a:scene3d>
        <a:sp3d>
          <a:bevelT/>
        </a:sp3d>
      </dgm:spPr>
      <dgm:t>
        <a:bodyPr/>
        <a:lstStyle/>
        <a:p>
          <a:pPr rtl="0"/>
          <a:r>
            <a:rPr lang="en-US" sz="1600" dirty="0">
              <a:solidFill>
                <a:schemeClr val="tx1"/>
              </a:solidFill>
            </a:rPr>
            <a:t>Health and performance monitoring in Microsoft’s Linux/UNIX management packs</a:t>
          </a:r>
        </a:p>
      </dgm:t>
    </dgm:pt>
    <dgm:pt modelId="{12E79DB9-52E0-4EF2-89DB-EBC366C363AA}" type="parTrans" cxnId="{2CA86B19-A18B-49A2-A3D7-41504EF4CDE1}">
      <dgm:prSet/>
      <dgm:spPr/>
      <dgm:t>
        <a:bodyPr/>
        <a:lstStyle/>
        <a:p>
          <a:endParaRPr lang="en-US" sz="1000"/>
        </a:p>
      </dgm:t>
    </dgm:pt>
    <dgm:pt modelId="{79F6B9E5-1F55-4B84-8EB4-998A5657411B}" type="sibTrans" cxnId="{2CA86B19-A18B-49A2-A3D7-41504EF4CDE1}">
      <dgm:prSet/>
      <dgm:spPr/>
      <dgm:t>
        <a:bodyPr/>
        <a:lstStyle/>
        <a:p>
          <a:endParaRPr lang="en-US" sz="1000"/>
        </a:p>
      </dgm:t>
    </dgm:pt>
    <dgm:pt modelId="{F13CFCF3-AA39-44D0-B8CC-AC40F670E879}">
      <dgm:prSet custT="1"/>
      <dgm:spPr>
        <a:ln>
          <a:solidFill>
            <a:schemeClr val="tx1"/>
          </a:solidFill>
        </a:ln>
        <a:scene3d>
          <a:camera prst="orthographicFront"/>
          <a:lightRig rig="threePt" dir="t"/>
        </a:scene3d>
        <a:sp3d>
          <a:bevelT/>
        </a:sp3d>
      </dgm:spPr>
      <dgm:t>
        <a:bodyPr lIns="0" rIns="0"/>
        <a:lstStyle/>
        <a:p>
          <a:pPr rtl="0"/>
          <a:r>
            <a:rPr lang="en-US" sz="1400" dirty="0"/>
            <a:t>CPU</a:t>
          </a:r>
        </a:p>
      </dgm:t>
    </dgm:pt>
    <dgm:pt modelId="{FB283496-CBA8-40CD-A0C1-4B1ACC813DB7}" type="parTrans" cxnId="{3C68D490-8E94-4DFB-B08A-EDE07393E392}">
      <dgm:prSet/>
      <dgm:spPr/>
      <dgm:t>
        <a:bodyPr/>
        <a:lstStyle/>
        <a:p>
          <a:endParaRPr lang="en-US" sz="1000"/>
        </a:p>
      </dgm:t>
    </dgm:pt>
    <dgm:pt modelId="{D6B799A3-D754-4761-A763-0AF408A1D5A5}" type="sibTrans" cxnId="{3C68D490-8E94-4DFB-B08A-EDE07393E392}">
      <dgm:prSet/>
      <dgm:spPr/>
      <dgm:t>
        <a:bodyPr/>
        <a:lstStyle/>
        <a:p>
          <a:endParaRPr lang="en-US" sz="1000"/>
        </a:p>
      </dgm:t>
    </dgm:pt>
    <dgm:pt modelId="{E3FF7831-D505-46D1-8F0D-487FACD5CA62}">
      <dgm:prSet custT="1"/>
      <dgm:spPr>
        <a:ln>
          <a:solidFill>
            <a:schemeClr val="tx1"/>
          </a:solidFill>
        </a:ln>
        <a:scene3d>
          <a:camera prst="orthographicFront"/>
          <a:lightRig rig="threePt" dir="t"/>
        </a:scene3d>
        <a:sp3d>
          <a:bevelT/>
        </a:sp3d>
      </dgm:spPr>
      <dgm:t>
        <a:bodyPr lIns="0" rIns="0"/>
        <a:lstStyle/>
        <a:p>
          <a:pPr rtl="0"/>
          <a:r>
            <a:rPr lang="en-US" sz="1400" dirty="0"/>
            <a:t>Memory</a:t>
          </a:r>
        </a:p>
      </dgm:t>
    </dgm:pt>
    <dgm:pt modelId="{AAEB5CEA-DB60-46C6-8FB0-296648625E1B}" type="parTrans" cxnId="{5646738E-004E-44CB-BC0C-CFE13D2AA10F}">
      <dgm:prSet/>
      <dgm:spPr/>
      <dgm:t>
        <a:bodyPr/>
        <a:lstStyle/>
        <a:p>
          <a:endParaRPr lang="en-US" sz="1000"/>
        </a:p>
      </dgm:t>
    </dgm:pt>
    <dgm:pt modelId="{39C45E00-860A-4625-B262-EDD1A7ECBEED}" type="sibTrans" cxnId="{5646738E-004E-44CB-BC0C-CFE13D2AA10F}">
      <dgm:prSet/>
      <dgm:spPr/>
      <dgm:t>
        <a:bodyPr/>
        <a:lstStyle/>
        <a:p>
          <a:endParaRPr lang="en-US" sz="1000"/>
        </a:p>
      </dgm:t>
    </dgm:pt>
    <dgm:pt modelId="{67BC39AD-9A36-434F-A93E-8509E7CB6B91}">
      <dgm:prSet custT="1"/>
      <dgm:spPr>
        <a:ln>
          <a:solidFill>
            <a:schemeClr val="tx1"/>
          </a:solidFill>
        </a:ln>
        <a:scene3d>
          <a:camera prst="orthographicFront"/>
          <a:lightRig rig="threePt" dir="t"/>
        </a:scene3d>
        <a:sp3d>
          <a:bevelT/>
        </a:sp3d>
      </dgm:spPr>
      <dgm:t>
        <a:bodyPr lIns="0" rIns="0"/>
        <a:lstStyle/>
        <a:p>
          <a:pPr rtl="0"/>
          <a:r>
            <a:rPr lang="en-US" sz="1400"/>
            <a:t>Disk</a:t>
          </a:r>
        </a:p>
      </dgm:t>
    </dgm:pt>
    <dgm:pt modelId="{97EBAC1E-17E5-468E-9292-B23BAB674EE8}" type="parTrans" cxnId="{1BD6DB8E-5101-423C-9B00-AA326257816B}">
      <dgm:prSet/>
      <dgm:spPr/>
      <dgm:t>
        <a:bodyPr/>
        <a:lstStyle/>
        <a:p>
          <a:endParaRPr lang="en-US" sz="1000"/>
        </a:p>
      </dgm:t>
    </dgm:pt>
    <dgm:pt modelId="{226BD6BE-2F8E-4D93-BB3E-037BD32F267A}" type="sibTrans" cxnId="{1BD6DB8E-5101-423C-9B00-AA326257816B}">
      <dgm:prSet/>
      <dgm:spPr/>
      <dgm:t>
        <a:bodyPr/>
        <a:lstStyle/>
        <a:p>
          <a:endParaRPr lang="en-US" sz="1000"/>
        </a:p>
      </dgm:t>
    </dgm:pt>
    <dgm:pt modelId="{F35E8165-6C2A-41C6-B3F0-21A79337B3DC}">
      <dgm:prSet custT="1"/>
      <dgm:spPr>
        <a:ln>
          <a:solidFill>
            <a:schemeClr val="tx1"/>
          </a:solidFill>
        </a:ln>
        <a:scene3d>
          <a:camera prst="orthographicFront"/>
          <a:lightRig rig="threePt" dir="t"/>
        </a:scene3d>
        <a:sp3d>
          <a:bevelT/>
        </a:sp3d>
      </dgm:spPr>
      <dgm:t>
        <a:bodyPr lIns="0" rIns="0"/>
        <a:lstStyle/>
        <a:p>
          <a:pPr rtl="0"/>
          <a:r>
            <a:rPr lang="en-US" sz="1400"/>
            <a:t>Network</a:t>
          </a:r>
        </a:p>
      </dgm:t>
    </dgm:pt>
    <dgm:pt modelId="{715BFAAA-6DBD-401C-A6D2-B7B4383CC672}" type="parTrans" cxnId="{68F932A8-6F97-431D-AA9C-26F6884549D9}">
      <dgm:prSet/>
      <dgm:spPr/>
      <dgm:t>
        <a:bodyPr/>
        <a:lstStyle/>
        <a:p>
          <a:endParaRPr lang="en-US" sz="1000"/>
        </a:p>
      </dgm:t>
    </dgm:pt>
    <dgm:pt modelId="{77532E8C-3119-4C94-B1F0-815300574E35}" type="sibTrans" cxnId="{68F932A8-6F97-431D-AA9C-26F6884549D9}">
      <dgm:prSet/>
      <dgm:spPr/>
      <dgm:t>
        <a:bodyPr/>
        <a:lstStyle/>
        <a:p>
          <a:endParaRPr lang="en-US" sz="1000"/>
        </a:p>
      </dgm:t>
    </dgm:pt>
    <dgm:pt modelId="{E83D363A-7333-4062-B214-6F4B8F524E17}">
      <dgm:prSet custT="1"/>
      <dgm:spPr>
        <a:ln>
          <a:solidFill>
            <a:schemeClr val="tx1"/>
          </a:solidFill>
        </a:ln>
        <a:scene3d>
          <a:camera prst="orthographicFront"/>
          <a:lightRig rig="threePt" dir="t"/>
        </a:scene3d>
        <a:sp3d>
          <a:bevelT/>
        </a:sp3d>
      </dgm:spPr>
      <dgm:t>
        <a:bodyPr lIns="0" rIns="0"/>
        <a:lstStyle/>
        <a:p>
          <a:pPr rtl="0"/>
          <a:r>
            <a:rPr lang="en-US" sz="1400"/>
            <a:t>Processes</a:t>
          </a:r>
        </a:p>
      </dgm:t>
    </dgm:pt>
    <dgm:pt modelId="{8B52EC3A-D26F-465A-95AD-704197315ED6}" type="parTrans" cxnId="{40385328-2792-41C5-ABE8-D49CA99A0AD6}">
      <dgm:prSet/>
      <dgm:spPr/>
      <dgm:t>
        <a:bodyPr/>
        <a:lstStyle/>
        <a:p>
          <a:endParaRPr lang="en-US" sz="1000"/>
        </a:p>
      </dgm:t>
    </dgm:pt>
    <dgm:pt modelId="{3D98503D-1C0A-4EEB-816E-72441179F9E4}" type="sibTrans" cxnId="{40385328-2792-41C5-ABE8-D49CA99A0AD6}">
      <dgm:prSet/>
      <dgm:spPr/>
      <dgm:t>
        <a:bodyPr/>
        <a:lstStyle/>
        <a:p>
          <a:endParaRPr lang="en-US" sz="1000"/>
        </a:p>
      </dgm:t>
    </dgm:pt>
    <dgm:pt modelId="{6A383749-DE1B-4C84-AA10-85138B511F5C}">
      <dgm:prSet custT="1"/>
      <dgm:spPr>
        <a:ln>
          <a:solidFill>
            <a:schemeClr val="tx1"/>
          </a:solidFill>
        </a:ln>
        <a:scene3d>
          <a:camera prst="orthographicFront"/>
          <a:lightRig rig="threePt" dir="t"/>
        </a:scene3d>
        <a:sp3d>
          <a:bevelT/>
        </a:sp3d>
      </dgm:spPr>
      <dgm:t>
        <a:bodyPr lIns="0" rIns="0"/>
        <a:lstStyle/>
        <a:p>
          <a:pPr rtl="0"/>
          <a:r>
            <a:rPr lang="en-US" sz="1400"/>
            <a:t>Logfiles</a:t>
          </a:r>
        </a:p>
      </dgm:t>
    </dgm:pt>
    <dgm:pt modelId="{C34A2BE0-F4D4-4063-8A88-AB7C4220C5CC}" type="parTrans" cxnId="{40348E6B-09A1-4313-9350-6F93A7AAEB33}">
      <dgm:prSet/>
      <dgm:spPr/>
      <dgm:t>
        <a:bodyPr/>
        <a:lstStyle/>
        <a:p>
          <a:endParaRPr lang="en-US" sz="1000"/>
        </a:p>
      </dgm:t>
    </dgm:pt>
    <dgm:pt modelId="{B795E23A-4CDF-4224-BA21-37B330EEB47F}" type="sibTrans" cxnId="{40348E6B-09A1-4313-9350-6F93A7AAEB33}">
      <dgm:prSet/>
      <dgm:spPr/>
      <dgm:t>
        <a:bodyPr/>
        <a:lstStyle/>
        <a:p>
          <a:endParaRPr lang="en-US" sz="1000"/>
        </a:p>
      </dgm:t>
    </dgm:pt>
    <dgm:pt modelId="{E13FDA62-90A7-4ED8-B201-D608320EC1FE}" type="pres">
      <dgm:prSet presAssocID="{AA4B3A59-111E-4836-8411-D9ADC14B34BD}" presName="composite" presStyleCnt="0">
        <dgm:presLayoutVars>
          <dgm:chMax val="1"/>
          <dgm:dir/>
          <dgm:resizeHandles val="exact"/>
        </dgm:presLayoutVars>
      </dgm:prSet>
      <dgm:spPr/>
    </dgm:pt>
    <dgm:pt modelId="{6A6B8C70-2176-4669-8FB8-7677562B2B36}" type="pres">
      <dgm:prSet presAssocID="{76FF1465-23F7-4BD7-A7C8-85CA71B14579}" presName="roof" presStyleLbl="dkBgShp" presStyleIdx="0" presStyleCnt="2"/>
      <dgm:spPr/>
    </dgm:pt>
    <dgm:pt modelId="{747FA9A8-F672-43DC-93D8-6BE06864C017}" type="pres">
      <dgm:prSet presAssocID="{76FF1465-23F7-4BD7-A7C8-85CA71B14579}" presName="pillars" presStyleCnt="0"/>
      <dgm:spPr/>
    </dgm:pt>
    <dgm:pt modelId="{2C6D4522-76CF-45F6-926B-AB3718B0FF8F}" type="pres">
      <dgm:prSet presAssocID="{76FF1465-23F7-4BD7-A7C8-85CA71B14579}" presName="pillar1" presStyleLbl="node1" presStyleIdx="0" presStyleCnt="6">
        <dgm:presLayoutVars>
          <dgm:bulletEnabled val="1"/>
        </dgm:presLayoutVars>
      </dgm:prSet>
      <dgm:spPr/>
    </dgm:pt>
    <dgm:pt modelId="{A39B2FCF-B5CD-45C2-BE0E-071B32841F26}" type="pres">
      <dgm:prSet presAssocID="{E3FF7831-D505-46D1-8F0D-487FACD5CA62}" presName="pillarX" presStyleLbl="node1" presStyleIdx="1" presStyleCnt="6">
        <dgm:presLayoutVars>
          <dgm:bulletEnabled val="1"/>
        </dgm:presLayoutVars>
      </dgm:prSet>
      <dgm:spPr/>
    </dgm:pt>
    <dgm:pt modelId="{C16A9BD6-4ACE-400A-AE3E-13115F23B30D}" type="pres">
      <dgm:prSet presAssocID="{67BC39AD-9A36-434F-A93E-8509E7CB6B91}" presName="pillarX" presStyleLbl="node1" presStyleIdx="2" presStyleCnt="6">
        <dgm:presLayoutVars>
          <dgm:bulletEnabled val="1"/>
        </dgm:presLayoutVars>
      </dgm:prSet>
      <dgm:spPr/>
    </dgm:pt>
    <dgm:pt modelId="{460A20A2-61BE-4C76-BCB6-82DDEF141B01}" type="pres">
      <dgm:prSet presAssocID="{F35E8165-6C2A-41C6-B3F0-21A79337B3DC}" presName="pillarX" presStyleLbl="node1" presStyleIdx="3" presStyleCnt="6">
        <dgm:presLayoutVars>
          <dgm:bulletEnabled val="1"/>
        </dgm:presLayoutVars>
      </dgm:prSet>
      <dgm:spPr/>
    </dgm:pt>
    <dgm:pt modelId="{F60D8F8F-1A71-4057-9A3E-6F72A276CA74}" type="pres">
      <dgm:prSet presAssocID="{E83D363A-7333-4062-B214-6F4B8F524E17}" presName="pillarX" presStyleLbl="node1" presStyleIdx="4" presStyleCnt="6">
        <dgm:presLayoutVars>
          <dgm:bulletEnabled val="1"/>
        </dgm:presLayoutVars>
      </dgm:prSet>
      <dgm:spPr/>
    </dgm:pt>
    <dgm:pt modelId="{6D35E0A2-608A-4030-B1F9-B68EC19E4C50}" type="pres">
      <dgm:prSet presAssocID="{6A383749-DE1B-4C84-AA10-85138B511F5C}" presName="pillarX" presStyleLbl="node1" presStyleIdx="5" presStyleCnt="6">
        <dgm:presLayoutVars>
          <dgm:bulletEnabled val="1"/>
        </dgm:presLayoutVars>
      </dgm:prSet>
      <dgm:spPr/>
    </dgm:pt>
    <dgm:pt modelId="{2320E0B1-2A10-4F98-A444-6F315FD86585}" type="pres">
      <dgm:prSet presAssocID="{76FF1465-23F7-4BD7-A7C8-85CA71B14579}" presName="base" presStyleLbl="dkBgShp" presStyleIdx="1" presStyleCnt="2"/>
      <dgm:spPr>
        <a:solidFill>
          <a:srgbClr val="D0D8E8"/>
        </a:solidFill>
        <a:ln>
          <a:solidFill>
            <a:schemeClr val="tx1"/>
          </a:solidFill>
        </a:ln>
        <a:scene3d>
          <a:camera prst="orthographicFront"/>
          <a:lightRig rig="threePt" dir="t"/>
        </a:scene3d>
        <a:sp3d>
          <a:bevelT/>
        </a:sp3d>
      </dgm:spPr>
    </dgm:pt>
  </dgm:ptLst>
  <dgm:cxnLst>
    <dgm:cxn modelId="{1BD6DB8E-5101-423C-9B00-AA326257816B}" srcId="{76FF1465-23F7-4BD7-A7C8-85CA71B14579}" destId="{67BC39AD-9A36-434F-A93E-8509E7CB6B91}" srcOrd="2" destOrd="0" parTransId="{97EBAC1E-17E5-468E-9292-B23BAB674EE8}" sibTransId="{226BD6BE-2F8E-4D93-BB3E-037BD32F267A}"/>
    <dgm:cxn modelId="{3C68D490-8E94-4DFB-B08A-EDE07393E392}" srcId="{76FF1465-23F7-4BD7-A7C8-85CA71B14579}" destId="{F13CFCF3-AA39-44D0-B8CC-AC40F670E879}" srcOrd="0" destOrd="0" parTransId="{FB283496-CBA8-40CD-A0C1-4B1ACC813DB7}" sibTransId="{D6B799A3-D754-4761-A763-0AF408A1D5A5}"/>
    <dgm:cxn modelId="{2CA86B19-A18B-49A2-A3D7-41504EF4CDE1}" srcId="{AA4B3A59-111E-4836-8411-D9ADC14B34BD}" destId="{76FF1465-23F7-4BD7-A7C8-85CA71B14579}" srcOrd="0" destOrd="0" parTransId="{12E79DB9-52E0-4EF2-89DB-EBC366C363AA}" sibTransId="{79F6B9E5-1F55-4B84-8EB4-998A5657411B}"/>
    <dgm:cxn modelId="{0C886ED2-0B53-4486-A77B-4DFB162E765B}" type="presOf" srcId="{6A383749-DE1B-4C84-AA10-85138B511F5C}" destId="{6D35E0A2-608A-4030-B1F9-B68EC19E4C50}" srcOrd="0" destOrd="0" presId="urn:microsoft.com/office/officeart/2005/8/layout/hList3"/>
    <dgm:cxn modelId="{EAC2F911-C640-4BF5-9CE3-3A00A28552D3}" type="presOf" srcId="{F35E8165-6C2A-41C6-B3F0-21A79337B3DC}" destId="{460A20A2-61BE-4C76-BCB6-82DDEF141B01}" srcOrd="0" destOrd="0" presId="urn:microsoft.com/office/officeart/2005/8/layout/hList3"/>
    <dgm:cxn modelId="{6556040D-3492-44D6-B0FD-69B60FB9D5B5}" type="presOf" srcId="{E83D363A-7333-4062-B214-6F4B8F524E17}" destId="{F60D8F8F-1A71-4057-9A3E-6F72A276CA74}" srcOrd="0" destOrd="0" presId="urn:microsoft.com/office/officeart/2005/8/layout/hList3"/>
    <dgm:cxn modelId="{40385328-2792-41C5-ABE8-D49CA99A0AD6}" srcId="{76FF1465-23F7-4BD7-A7C8-85CA71B14579}" destId="{E83D363A-7333-4062-B214-6F4B8F524E17}" srcOrd="4" destOrd="0" parTransId="{8B52EC3A-D26F-465A-95AD-704197315ED6}" sibTransId="{3D98503D-1C0A-4EEB-816E-72441179F9E4}"/>
    <dgm:cxn modelId="{68F932A8-6F97-431D-AA9C-26F6884549D9}" srcId="{76FF1465-23F7-4BD7-A7C8-85CA71B14579}" destId="{F35E8165-6C2A-41C6-B3F0-21A79337B3DC}" srcOrd="3" destOrd="0" parTransId="{715BFAAA-6DBD-401C-A6D2-B7B4383CC672}" sibTransId="{77532E8C-3119-4C94-B1F0-815300574E35}"/>
    <dgm:cxn modelId="{5646738E-004E-44CB-BC0C-CFE13D2AA10F}" srcId="{76FF1465-23F7-4BD7-A7C8-85CA71B14579}" destId="{E3FF7831-D505-46D1-8F0D-487FACD5CA62}" srcOrd="1" destOrd="0" parTransId="{AAEB5CEA-DB60-46C6-8FB0-296648625E1B}" sibTransId="{39C45E00-860A-4625-B262-EDD1A7ECBEED}"/>
    <dgm:cxn modelId="{8B784FA7-F644-4B36-9BD4-66022D6717FC}" type="presOf" srcId="{E3FF7831-D505-46D1-8F0D-487FACD5CA62}" destId="{A39B2FCF-B5CD-45C2-BE0E-071B32841F26}" srcOrd="0" destOrd="0" presId="urn:microsoft.com/office/officeart/2005/8/layout/hList3"/>
    <dgm:cxn modelId="{F0A7B0FA-CFC5-4C89-88ED-D88794491AF7}" type="presOf" srcId="{76FF1465-23F7-4BD7-A7C8-85CA71B14579}" destId="{6A6B8C70-2176-4669-8FB8-7677562B2B36}" srcOrd="0" destOrd="0" presId="urn:microsoft.com/office/officeart/2005/8/layout/hList3"/>
    <dgm:cxn modelId="{71306A57-C11D-45D8-9133-8666DD1F4E11}" type="presOf" srcId="{AA4B3A59-111E-4836-8411-D9ADC14B34BD}" destId="{E13FDA62-90A7-4ED8-B201-D608320EC1FE}" srcOrd="0" destOrd="0" presId="urn:microsoft.com/office/officeart/2005/8/layout/hList3"/>
    <dgm:cxn modelId="{1FEA17A1-6472-4F37-86A6-72C32BEAF526}" type="presOf" srcId="{67BC39AD-9A36-434F-A93E-8509E7CB6B91}" destId="{C16A9BD6-4ACE-400A-AE3E-13115F23B30D}" srcOrd="0" destOrd="0" presId="urn:microsoft.com/office/officeart/2005/8/layout/hList3"/>
    <dgm:cxn modelId="{40348E6B-09A1-4313-9350-6F93A7AAEB33}" srcId="{76FF1465-23F7-4BD7-A7C8-85CA71B14579}" destId="{6A383749-DE1B-4C84-AA10-85138B511F5C}" srcOrd="5" destOrd="0" parTransId="{C34A2BE0-F4D4-4063-8A88-AB7C4220C5CC}" sibTransId="{B795E23A-4CDF-4224-BA21-37B330EEB47F}"/>
    <dgm:cxn modelId="{AC03E185-2896-43E7-9907-E1F87EB40E90}" type="presOf" srcId="{F13CFCF3-AA39-44D0-B8CC-AC40F670E879}" destId="{2C6D4522-76CF-45F6-926B-AB3718B0FF8F}" srcOrd="0" destOrd="0" presId="urn:microsoft.com/office/officeart/2005/8/layout/hList3"/>
    <dgm:cxn modelId="{3F3982A1-3256-4F93-AE12-2D9443307A51}" type="presParOf" srcId="{E13FDA62-90A7-4ED8-B201-D608320EC1FE}" destId="{6A6B8C70-2176-4669-8FB8-7677562B2B36}" srcOrd="0" destOrd="0" presId="urn:microsoft.com/office/officeart/2005/8/layout/hList3"/>
    <dgm:cxn modelId="{BC75902C-219A-4CA9-8482-C2FD487C6544}" type="presParOf" srcId="{E13FDA62-90A7-4ED8-B201-D608320EC1FE}" destId="{747FA9A8-F672-43DC-93D8-6BE06864C017}" srcOrd="1" destOrd="0" presId="urn:microsoft.com/office/officeart/2005/8/layout/hList3"/>
    <dgm:cxn modelId="{40A0BE28-1576-4E30-827A-DF234FD8D526}" type="presParOf" srcId="{747FA9A8-F672-43DC-93D8-6BE06864C017}" destId="{2C6D4522-76CF-45F6-926B-AB3718B0FF8F}" srcOrd="0" destOrd="0" presId="urn:microsoft.com/office/officeart/2005/8/layout/hList3"/>
    <dgm:cxn modelId="{4B70C26E-C34D-4F50-9AE3-83E74C446936}" type="presParOf" srcId="{747FA9A8-F672-43DC-93D8-6BE06864C017}" destId="{A39B2FCF-B5CD-45C2-BE0E-071B32841F26}" srcOrd="1" destOrd="0" presId="urn:microsoft.com/office/officeart/2005/8/layout/hList3"/>
    <dgm:cxn modelId="{BA1F1235-28FE-4015-BA95-B82C2D0B395F}" type="presParOf" srcId="{747FA9A8-F672-43DC-93D8-6BE06864C017}" destId="{C16A9BD6-4ACE-400A-AE3E-13115F23B30D}" srcOrd="2" destOrd="0" presId="urn:microsoft.com/office/officeart/2005/8/layout/hList3"/>
    <dgm:cxn modelId="{A5917544-7407-4ED5-9D3F-86B77A08EE21}" type="presParOf" srcId="{747FA9A8-F672-43DC-93D8-6BE06864C017}" destId="{460A20A2-61BE-4C76-BCB6-82DDEF141B01}" srcOrd="3" destOrd="0" presId="urn:microsoft.com/office/officeart/2005/8/layout/hList3"/>
    <dgm:cxn modelId="{BDE17ECA-D9FD-484F-8C64-338115EB678C}" type="presParOf" srcId="{747FA9A8-F672-43DC-93D8-6BE06864C017}" destId="{F60D8F8F-1A71-4057-9A3E-6F72A276CA74}" srcOrd="4" destOrd="0" presId="urn:microsoft.com/office/officeart/2005/8/layout/hList3"/>
    <dgm:cxn modelId="{37C754C7-BDE1-41F4-B9E2-388A3C51E672}" type="presParOf" srcId="{747FA9A8-F672-43DC-93D8-6BE06864C017}" destId="{6D35E0A2-608A-4030-B1F9-B68EC19E4C50}" srcOrd="5" destOrd="0" presId="urn:microsoft.com/office/officeart/2005/8/layout/hList3"/>
    <dgm:cxn modelId="{A2E944EF-4C9C-4D9B-A488-11565C4DD054}" type="presParOf" srcId="{E13FDA62-90A7-4ED8-B201-D608320EC1FE}" destId="{2320E0B1-2A10-4F98-A444-6F315FD86585}"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BF072CD-7068-4380-8B99-EED55CD5309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757593B-FF11-4A1A-8AC6-8421A0362F23}">
      <dgm:prSet custT="1"/>
      <dgm:spPr>
        <a:scene3d>
          <a:camera prst="orthographicFront"/>
          <a:lightRig rig="threePt" dir="t"/>
        </a:scene3d>
        <a:sp3d>
          <a:bevelT/>
        </a:sp3d>
      </dgm:spPr>
      <dgm:t>
        <a:bodyPr/>
        <a:lstStyle/>
        <a:p>
          <a:pPr rtl="0"/>
          <a:r>
            <a:rPr lang="en-US" sz="1600" dirty="0"/>
            <a:t>Custom </a:t>
          </a:r>
          <a:r>
            <a:rPr lang="en-US" sz="1600" dirty="0" err="1"/>
            <a:t>LogFile</a:t>
          </a:r>
          <a:r>
            <a:rPr lang="en-US" sz="1600" dirty="0"/>
            <a:t> Monitoring</a:t>
          </a:r>
        </a:p>
      </dgm:t>
    </dgm:pt>
    <dgm:pt modelId="{D97320BB-452E-4A57-BC3A-31736ECE8699}" type="parTrans" cxnId="{FCF8703E-E2C2-462C-8E56-336598678087}">
      <dgm:prSet/>
      <dgm:spPr/>
      <dgm:t>
        <a:bodyPr/>
        <a:lstStyle/>
        <a:p>
          <a:endParaRPr lang="en-US" sz="1100"/>
        </a:p>
      </dgm:t>
    </dgm:pt>
    <dgm:pt modelId="{635026F3-F4C6-42AF-932D-205D3865A192}" type="sibTrans" cxnId="{FCF8703E-E2C2-462C-8E56-336598678087}">
      <dgm:prSet/>
      <dgm:spPr/>
      <dgm:t>
        <a:bodyPr/>
        <a:lstStyle/>
        <a:p>
          <a:endParaRPr lang="en-US" sz="1100"/>
        </a:p>
      </dgm:t>
    </dgm:pt>
    <dgm:pt modelId="{3ABCF033-5140-497E-9F81-2250FFE5C247}">
      <dgm:prSet custT="1"/>
      <dgm:spPr>
        <a:scene3d>
          <a:camera prst="orthographicFront"/>
          <a:lightRig rig="threePt" dir="t"/>
        </a:scene3d>
        <a:sp3d>
          <a:bevelT/>
        </a:sp3d>
      </dgm:spPr>
      <dgm:t>
        <a:bodyPr/>
        <a:lstStyle/>
        <a:p>
          <a:pPr rtl="0"/>
          <a:r>
            <a:rPr lang="en-US" sz="1200" b="1" dirty="0"/>
            <a:t>Monitor any </a:t>
          </a:r>
          <a:r>
            <a:rPr lang="en-US" sz="1200" b="1" dirty="0" err="1"/>
            <a:t>logfile</a:t>
          </a:r>
          <a:endParaRPr lang="en-US" sz="1200" b="1" dirty="0"/>
        </a:p>
      </dgm:t>
    </dgm:pt>
    <dgm:pt modelId="{AEA13329-F4B5-4CDF-A771-18222A75EC34}" type="parTrans" cxnId="{32EE48F2-B15A-4756-82F3-E4A0C5F39458}">
      <dgm:prSet/>
      <dgm:spPr/>
      <dgm:t>
        <a:bodyPr/>
        <a:lstStyle/>
        <a:p>
          <a:endParaRPr lang="en-US" sz="1100"/>
        </a:p>
      </dgm:t>
    </dgm:pt>
    <dgm:pt modelId="{1C38C5DB-B1BE-4194-A25E-F9D5CD9EAD12}" type="sibTrans" cxnId="{32EE48F2-B15A-4756-82F3-E4A0C5F39458}">
      <dgm:prSet/>
      <dgm:spPr/>
      <dgm:t>
        <a:bodyPr/>
        <a:lstStyle/>
        <a:p>
          <a:endParaRPr lang="en-US" sz="1100"/>
        </a:p>
      </dgm:t>
    </dgm:pt>
    <dgm:pt modelId="{6020E4E0-2737-4B6A-9809-F58D8696B15B}">
      <dgm:prSet custT="1"/>
      <dgm:spPr>
        <a:scene3d>
          <a:camera prst="orthographicFront"/>
          <a:lightRig rig="threePt" dir="t"/>
        </a:scene3d>
        <a:sp3d>
          <a:bevelT/>
        </a:sp3d>
      </dgm:spPr>
      <dgm:t>
        <a:bodyPr/>
        <a:lstStyle/>
        <a:p>
          <a:pPr rtl="0"/>
          <a:r>
            <a:rPr lang="en-US" sz="1200" b="1" dirty="0"/>
            <a:t>Specify regular expression to match against</a:t>
          </a:r>
        </a:p>
      </dgm:t>
    </dgm:pt>
    <dgm:pt modelId="{9CA18933-EA83-4A99-8EE1-2616A41FE43F}" type="parTrans" cxnId="{9E8FBCE7-CEFD-402B-99B3-84B81B4D3463}">
      <dgm:prSet/>
      <dgm:spPr/>
      <dgm:t>
        <a:bodyPr/>
        <a:lstStyle/>
        <a:p>
          <a:endParaRPr lang="en-US" sz="1100"/>
        </a:p>
      </dgm:t>
    </dgm:pt>
    <dgm:pt modelId="{D8336407-62FF-4FBE-AC83-60698851F27C}" type="sibTrans" cxnId="{9E8FBCE7-CEFD-402B-99B3-84B81B4D3463}">
      <dgm:prSet/>
      <dgm:spPr/>
      <dgm:t>
        <a:bodyPr/>
        <a:lstStyle/>
        <a:p>
          <a:endParaRPr lang="en-US" sz="1100"/>
        </a:p>
      </dgm:t>
    </dgm:pt>
    <dgm:pt modelId="{A5FFA06D-C792-48F1-A138-08CA1AFDC639}">
      <dgm:prSet custT="1"/>
      <dgm:spPr>
        <a:scene3d>
          <a:camera prst="orthographicFront"/>
          <a:lightRig rig="threePt" dir="t"/>
        </a:scene3d>
        <a:sp3d>
          <a:bevelT/>
        </a:sp3d>
      </dgm:spPr>
      <dgm:t>
        <a:bodyPr/>
        <a:lstStyle/>
        <a:p>
          <a:pPr rtl="0"/>
          <a:r>
            <a:rPr lang="en-US" sz="1600" dirty="0"/>
            <a:t>Process Monitoring</a:t>
          </a:r>
        </a:p>
      </dgm:t>
    </dgm:pt>
    <dgm:pt modelId="{89D0D920-B909-4D6D-A7F1-CFA3B67311CA}" type="parTrans" cxnId="{DEA6BCAE-F636-49B0-A152-8FB1D5E72510}">
      <dgm:prSet/>
      <dgm:spPr/>
      <dgm:t>
        <a:bodyPr/>
        <a:lstStyle/>
        <a:p>
          <a:endParaRPr lang="en-US" sz="1100"/>
        </a:p>
      </dgm:t>
    </dgm:pt>
    <dgm:pt modelId="{72CE2830-D88E-4491-8110-ABE6A6FD652E}" type="sibTrans" cxnId="{DEA6BCAE-F636-49B0-A152-8FB1D5E72510}">
      <dgm:prSet/>
      <dgm:spPr/>
      <dgm:t>
        <a:bodyPr/>
        <a:lstStyle/>
        <a:p>
          <a:endParaRPr lang="en-US" sz="1100"/>
        </a:p>
      </dgm:t>
    </dgm:pt>
    <dgm:pt modelId="{54850089-CB44-468C-8DCC-82228AA5B707}">
      <dgm:prSet custT="1"/>
      <dgm:spPr>
        <a:scene3d>
          <a:camera prst="orthographicFront"/>
          <a:lightRig rig="threePt" dir="t"/>
        </a:scene3d>
        <a:sp3d>
          <a:bevelT/>
        </a:sp3d>
      </dgm:spPr>
      <dgm:t>
        <a:bodyPr/>
        <a:lstStyle/>
        <a:p>
          <a:pPr rtl="0"/>
          <a:r>
            <a:rPr lang="en-US" sz="1200" b="1" dirty="0"/>
            <a:t>Monitor by name any service, daemon or process</a:t>
          </a:r>
        </a:p>
      </dgm:t>
    </dgm:pt>
    <dgm:pt modelId="{E7CDFB0F-E54E-44C3-8AB6-8A141120586C}" type="parTrans" cxnId="{00FA7550-494C-4C1D-AABA-CD55CBAC3D63}">
      <dgm:prSet/>
      <dgm:spPr/>
      <dgm:t>
        <a:bodyPr/>
        <a:lstStyle/>
        <a:p>
          <a:endParaRPr lang="en-US" sz="1100"/>
        </a:p>
      </dgm:t>
    </dgm:pt>
    <dgm:pt modelId="{D9BD1029-2E1D-4E47-84D0-4D6AA342E5B1}" type="sibTrans" cxnId="{00FA7550-494C-4C1D-AABA-CD55CBAC3D63}">
      <dgm:prSet/>
      <dgm:spPr/>
      <dgm:t>
        <a:bodyPr/>
        <a:lstStyle/>
        <a:p>
          <a:endParaRPr lang="en-US" sz="1100"/>
        </a:p>
      </dgm:t>
    </dgm:pt>
    <dgm:pt modelId="{9314D123-1AB8-4AB3-B60A-B7E33814937A}">
      <dgm:prSet custT="1"/>
      <dgm:spPr>
        <a:scene3d>
          <a:camera prst="orthographicFront"/>
          <a:lightRig rig="threePt" dir="t"/>
        </a:scene3d>
        <a:sp3d>
          <a:bevelT/>
        </a:sp3d>
      </dgm:spPr>
      <dgm:t>
        <a:bodyPr/>
        <a:lstStyle/>
        <a:p>
          <a:pPr rtl="0"/>
          <a:r>
            <a:rPr lang="en-US" sz="1200" b="1" dirty="0"/>
            <a:t>Distinguish duplicate names with regex filter on process arguments</a:t>
          </a:r>
        </a:p>
      </dgm:t>
    </dgm:pt>
    <dgm:pt modelId="{147D845E-8AE9-4D27-9B89-E28F2D88DC27}" type="parTrans" cxnId="{546BFBA1-96D6-4F54-916D-2A3A2D2CFBC6}">
      <dgm:prSet/>
      <dgm:spPr/>
      <dgm:t>
        <a:bodyPr/>
        <a:lstStyle/>
        <a:p>
          <a:endParaRPr lang="en-US" sz="1100"/>
        </a:p>
      </dgm:t>
    </dgm:pt>
    <dgm:pt modelId="{15963C99-43F6-4C4D-A9BA-ECB69EDFA6D7}" type="sibTrans" cxnId="{546BFBA1-96D6-4F54-916D-2A3A2D2CFBC6}">
      <dgm:prSet/>
      <dgm:spPr/>
      <dgm:t>
        <a:bodyPr/>
        <a:lstStyle/>
        <a:p>
          <a:endParaRPr lang="en-US" sz="1100"/>
        </a:p>
      </dgm:t>
    </dgm:pt>
    <dgm:pt modelId="{B914A4CF-60DE-424E-B423-2AE17D83CA73}">
      <dgm:prSet custT="1"/>
      <dgm:spPr>
        <a:scene3d>
          <a:camera prst="orthographicFront"/>
          <a:lightRig rig="threePt" dir="t"/>
        </a:scene3d>
        <a:sp3d>
          <a:bevelT/>
        </a:sp3d>
      </dgm:spPr>
      <dgm:t>
        <a:bodyPr/>
        <a:lstStyle/>
        <a:p>
          <a:pPr rtl="0"/>
          <a:r>
            <a:rPr lang="en-US" sz="1200" b="1" dirty="0"/>
            <a:t>Specify minimum and maximum counts</a:t>
          </a:r>
        </a:p>
      </dgm:t>
    </dgm:pt>
    <dgm:pt modelId="{007E9B09-EB88-4FCA-A32B-3D5D7437164F}" type="parTrans" cxnId="{5F404E91-7D8F-4B1D-9E72-5BB353A27F47}">
      <dgm:prSet/>
      <dgm:spPr/>
      <dgm:t>
        <a:bodyPr/>
        <a:lstStyle/>
        <a:p>
          <a:endParaRPr lang="en-US" sz="1100"/>
        </a:p>
      </dgm:t>
    </dgm:pt>
    <dgm:pt modelId="{E019BB2D-9FE5-4B76-94D6-8D42EC5F0D33}" type="sibTrans" cxnId="{5F404E91-7D8F-4B1D-9E72-5BB353A27F47}">
      <dgm:prSet/>
      <dgm:spPr/>
      <dgm:t>
        <a:bodyPr/>
        <a:lstStyle/>
        <a:p>
          <a:endParaRPr lang="en-US" sz="1100"/>
        </a:p>
      </dgm:t>
    </dgm:pt>
    <dgm:pt modelId="{9A5706BC-7F46-476F-8202-2CD6B4652B97}">
      <dgm:prSet custT="1"/>
      <dgm:spPr>
        <a:scene3d>
          <a:camera prst="orthographicFront"/>
          <a:lightRig rig="threePt" dir="t"/>
        </a:scene3d>
        <a:sp3d>
          <a:bevelT/>
        </a:sp3d>
      </dgm:spPr>
      <dgm:t>
        <a:bodyPr/>
        <a:lstStyle/>
        <a:p>
          <a:pPr rtl="0"/>
          <a:r>
            <a:rPr lang="en-US" sz="1600" dirty="0"/>
            <a:t>Command line rules and monitors</a:t>
          </a:r>
        </a:p>
      </dgm:t>
    </dgm:pt>
    <dgm:pt modelId="{CDB13023-7CAC-4911-A12E-749A649A8054}" type="parTrans" cxnId="{E2787FCD-6925-4E8B-8A88-D18C12833DE8}">
      <dgm:prSet/>
      <dgm:spPr/>
      <dgm:t>
        <a:bodyPr/>
        <a:lstStyle/>
        <a:p>
          <a:endParaRPr lang="en-US" sz="1100"/>
        </a:p>
      </dgm:t>
    </dgm:pt>
    <dgm:pt modelId="{C7B0EEC8-578D-4752-93D8-6BD54B032854}" type="sibTrans" cxnId="{E2787FCD-6925-4E8B-8A88-D18C12833DE8}">
      <dgm:prSet/>
      <dgm:spPr/>
      <dgm:t>
        <a:bodyPr/>
        <a:lstStyle/>
        <a:p>
          <a:endParaRPr lang="en-US" sz="1100"/>
        </a:p>
      </dgm:t>
    </dgm:pt>
    <dgm:pt modelId="{D01636FA-740D-46AA-933E-3FF297AB71A6}">
      <dgm:prSet custT="1"/>
      <dgm:spPr>
        <a:scene3d>
          <a:camera prst="orthographicFront"/>
          <a:lightRig rig="threePt" dir="t"/>
        </a:scene3d>
        <a:sp3d>
          <a:bevelT/>
        </a:sp3d>
      </dgm:spPr>
      <dgm:t>
        <a:bodyPr/>
        <a:lstStyle/>
        <a:p>
          <a:pPr rtl="0"/>
          <a:r>
            <a:rPr lang="en-US" sz="1200" b="1" dirty="0"/>
            <a:t>Run any shell command line to determine health or performance</a:t>
          </a:r>
        </a:p>
      </dgm:t>
    </dgm:pt>
    <dgm:pt modelId="{0D8A1EF9-A82E-47A5-9675-BA7214C1C7CF}" type="parTrans" cxnId="{4C7AFC5D-AE51-43C0-98EC-6BDA100C91B7}">
      <dgm:prSet/>
      <dgm:spPr/>
      <dgm:t>
        <a:bodyPr/>
        <a:lstStyle/>
        <a:p>
          <a:endParaRPr lang="en-US" sz="1100"/>
        </a:p>
      </dgm:t>
    </dgm:pt>
    <dgm:pt modelId="{4507D981-822C-4C6B-AE03-C969D682A73A}" type="sibTrans" cxnId="{4C7AFC5D-AE51-43C0-98EC-6BDA100C91B7}">
      <dgm:prSet/>
      <dgm:spPr/>
      <dgm:t>
        <a:bodyPr/>
        <a:lstStyle/>
        <a:p>
          <a:endParaRPr lang="en-US" sz="1100"/>
        </a:p>
      </dgm:t>
    </dgm:pt>
    <dgm:pt modelId="{9E248FDE-AC13-48BB-AF9D-81179A093DCE}">
      <dgm:prSet custT="1"/>
      <dgm:spPr>
        <a:scene3d>
          <a:camera prst="orthographicFront"/>
          <a:lightRig rig="threePt" dir="t"/>
        </a:scene3d>
        <a:sp3d>
          <a:bevelT/>
        </a:sp3d>
      </dgm:spPr>
      <dgm:t>
        <a:bodyPr/>
        <a:lstStyle/>
        <a:p>
          <a:pPr rtl="0"/>
          <a:r>
            <a:rPr lang="en-US" sz="1200" b="1" dirty="0"/>
            <a:t>Target computer or group</a:t>
          </a:r>
        </a:p>
      </dgm:t>
    </dgm:pt>
    <dgm:pt modelId="{C93AE2F1-6066-486D-B242-6DAF525D8171}" type="parTrans" cxnId="{B769CF47-9CFF-4191-B4E2-CFFBB5AE84BE}">
      <dgm:prSet/>
      <dgm:spPr/>
      <dgm:t>
        <a:bodyPr/>
        <a:lstStyle/>
        <a:p>
          <a:endParaRPr lang="en-US"/>
        </a:p>
      </dgm:t>
    </dgm:pt>
    <dgm:pt modelId="{59DCEED2-0CA3-4478-BA94-A1C9C2C3B52F}" type="sibTrans" cxnId="{B769CF47-9CFF-4191-B4E2-CFFBB5AE84BE}">
      <dgm:prSet/>
      <dgm:spPr/>
      <dgm:t>
        <a:bodyPr/>
        <a:lstStyle/>
        <a:p>
          <a:endParaRPr lang="en-US"/>
        </a:p>
      </dgm:t>
    </dgm:pt>
    <dgm:pt modelId="{6E859791-0FB6-485C-9638-BF39E3468F51}">
      <dgm:prSet custT="1"/>
      <dgm:spPr>
        <a:scene3d>
          <a:camera prst="orthographicFront"/>
          <a:lightRig rig="threePt" dir="t"/>
        </a:scene3d>
        <a:sp3d>
          <a:bevelT/>
        </a:sp3d>
      </dgm:spPr>
      <dgm:t>
        <a:bodyPr/>
        <a:lstStyle/>
        <a:p>
          <a:r>
            <a:rPr lang="en-US" sz="1200" b="1" dirty="0"/>
            <a:t>Target computer or group</a:t>
          </a:r>
        </a:p>
      </dgm:t>
    </dgm:pt>
    <dgm:pt modelId="{6722B51C-24EB-4792-8C28-218193F2D0F1}" type="parTrans" cxnId="{8E4E51DB-C187-45C2-A9FE-9B55EB47B002}">
      <dgm:prSet/>
      <dgm:spPr/>
      <dgm:t>
        <a:bodyPr/>
        <a:lstStyle/>
        <a:p>
          <a:endParaRPr lang="en-US"/>
        </a:p>
      </dgm:t>
    </dgm:pt>
    <dgm:pt modelId="{1698BF17-2709-4A89-B3D4-BADF7BE1071D}" type="sibTrans" cxnId="{8E4E51DB-C187-45C2-A9FE-9B55EB47B002}">
      <dgm:prSet/>
      <dgm:spPr/>
      <dgm:t>
        <a:bodyPr/>
        <a:lstStyle/>
        <a:p>
          <a:endParaRPr lang="en-US"/>
        </a:p>
      </dgm:t>
    </dgm:pt>
    <dgm:pt modelId="{C1A0AD89-74FB-418E-800E-2ED4652C59A8}">
      <dgm:prSet custT="1"/>
      <dgm:spPr>
        <a:scene3d>
          <a:camera prst="orthographicFront"/>
          <a:lightRig rig="threePt" dir="t"/>
        </a:scene3d>
        <a:sp3d>
          <a:bevelT/>
        </a:sp3d>
      </dgm:spPr>
      <dgm:t>
        <a:bodyPr/>
        <a:lstStyle/>
        <a:p>
          <a:r>
            <a:rPr lang="en-US" sz="1200" b="1" dirty="0"/>
            <a:t>Target computer or group</a:t>
          </a:r>
        </a:p>
      </dgm:t>
    </dgm:pt>
    <dgm:pt modelId="{FFA5D010-E7B3-4BF3-B993-9590DBC0B797}" type="parTrans" cxnId="{A001C167-0FE2-4EFD-A107-E2E0ED8A06B3}">
      <dgm:prSet/>
      <dgm:spPr/>
      <dgm:t>
        <a:bodyPr/>
        <a:lstStyle/>
        <a:p>
          <a:endParaRPr lang="en-US"/>
        </a:p>
      </dgm:t>
    </dgm:pt>
    <dgm:pt modelId="{1DBB0058-B762-44CA-956B-B1711F6172DF}" type="sibTrans" cxnId="{A001C167-0FE2-4EFD-A107-E2E0ED8A06B3}">
      <dgm:prSet/>
      <dgm:spPr/>
      <dgm:t>
        <a:bodyPr/>
        <a:lstStyle/>
        <a:p>
          <a:endParaRPr lang="en-US"/>
        </a:p>
      </dgm:t>
    </dgm:pt>
    <dgm:pt modelId="{6DFE7DD3-426F-411D-A504-226BEE58DAD7}" type="pres">
      <dgm:prSet presAssocID="{DBF072CD-7068-4380-8B99-EED55CD53090}" presName="Name0" presStyleCnt="0">
        <dgm:presLayoutVars>
          <dgm:dir/>
          <dgm:animLvl val="lvl"/>
          <dgm:resizeHandles val="exact"/>
        </dgm:presLayoutVars>
      </dgm:prSet>
      <dgm:spPr/>
    </dgm:pt>
    <dgm:pt modelId="{4228B38C-7F42-4365-AFBE-97B37E9328E2}" type="pres">
      <dgm:prSet presAssocID="{2757593B-FF11-4A1A-8AC6-8421A0362F23}" presName="linNode" presStyleCnt="0"/>
      <dgm:spPr/>
    </dgm:pt>
    <dgm:pt modelId="{05B8B79E-483B-407F-8A42-F76D3FF7EAB1}" type="pres">
      <dgm:prSet presAssocID="{2757593B-FF11-4A1A-8AC6-8421A0362F23}" presName="parentText" presStyleLbl="node1" presStyleIdx="0" presStyleCnt="3" custScaleX="72746">
        <dgm:presLayoutVars>
          <dgm:chMax val="1"/>
          <dgm:bulletEnabled val="1"/>
        </dgm:presLayoutVars>
      </dgm:prSet>
      <dgm:spPr/>
    </dgm:pt>
    <dgm:pt modelId="{3C761307-ADCF-45AC-A53D-544CB5791076}" type="pres">
      <dgm:prSet presAssocID="{2757593B-FF11-4A1A-8AC6-8421A0362F23}" presName="descendantText" presStyleLbl="alignAccFollowNode1" presStyleIdx="0" presStyleCnt="3" custScaleX="109178" custScaleY="102052">
        <dgm:presLayoutVars>
          <dgm:bulletEnabled val="1"/>
        </dgm:presLayoutVars>
      </dgm:prSet>
      <dgm:spPr/>
    </dgm:pt>
    <dgm:pt modelId="{3391FBB6-097C-46B7-B9A3-87CB72A0BD34}" type="pres">
      <dgm:prSet presAssocID="{635026F3-F4C6-42AF-932D-205D3865A192}" presName="sp" presStyleCnt="0"/>
      <dgm:spPr/>
    </dgm:pt>
    <dgm:pt modelId="{2AE41C90-3241-459F-AD63-7FF802996FDE}" type="pres">
      <dgm:prSet presAssocID="{A5FFA06D-C792-48F1-A138-08CA1AFDC639}" presName="linNode" presStyleCnt="0"/>
      <dgm:spPr/>
    </dgm:pt>
    <dgm:pt modelId="{E222F5B1-3F1F-470F-A572-56AD5AA7A11F}" type="pres">
      <dgm:prSet presAssocID="{A5FFA06D-C792-48F1-A138-08CA1AFDC639}" presName="parentText" presStyleLbl="node1" presStyleIdx="1" presStyleCnt="3" custScaleX="72746">
        <dgm:presLayoutVars>
          <dgm:chMax val="1"/>
          <dgm:bulletEnabled val="1"/>
        </dgm:presLayoutVars>
      </dgm:prSet>
      <dgm:spPr/>
    </dgm:pt>
    <dgm:pt modelId="{9BD3ECB9-8252-4F31-BF5C-53532331C0F8}" type="pres">
      <dgm:prSet presAssocID="{A5FFA06D-C792-48F1-A138-08CA1AFDC639}" presName="descendantText" presStyleLbl="alignAccFollowNode1" presStyleIdx="1" presStyleCnt="3" custScaleX="109178" custScaleY="102052">
        <dgm:presLayoutVars>
          <dgm:bulletEnabled val="1"/>
        </dgm:presLayoutVars>
      </dgm:prSet>
      <dgm:spPr/>
    </dgm:pt>
    <dgm:pt modelId="{0F25A01E-6711-4ED5-A8A4-EF2BD6E8BC9D}" type="pres">
      <dgm:prSet presAssocID="{72CE2830-D88E-4491-8110-ABE6A6FD652E}" presName="sp" presStyleCnt="0"/>
      <dgm:spPr/>
    </dgm:pt>
    <dgm:pt modelId="{71CD2196-E588-4B59-94C2-7D10024950EB}" type="pres">
      <dgm:prSet presAssocID="{9A5706BC-7F46-476F-8202-2CD6B4652B97}" presName="linNode" presStyleCnt="0"/>
      <dgm:spPr/>
    </dgm:pt>
    <dgm:pt modelId="{F8FCF156-A058-4396-ACF8-A3DCE1E1EB25}" type="pres">
      <dgm:prSet presAssocID="{9A5706BC-7F46-476F-8202-2CD6B4652B97}" presName="parentText" presStyleLbl="node1" presStyleIdx="2" presStyleCnt="3" custScaleX="72746">
        <dgm:presLayoutVars>
          <dgm:chMax val="1"/>
          <dgm:bulletEnabled val="1"/>
        </dgm:presLayoutVars>
      </dgm:prSet>
      <dgm:spPr/>
    </dgm:pt>
    <dgm:pt modelId="{9920C70D-67C2-403C-B333-6F6EC0F2846C}" type="pres">
      <dgm:prSet presAssocID="{9A5706BC-7F46-476F-8202-2CD6B4652B97}" presName="descendantText" presStyleLbl="alignAccFollowNode1" presStyleIdx="2" presStyleCnt="3" custScaleX="109178" custScaleY="102052">
        <dgm:presLayoutVars>
          <dgm:bulletEnabled val="1"/>
        </dgm:presLayoutVars>
      </dgm:prSet>
      <dgm:spPr/>
    </dgm:pt>
  </dgm:ptLst>
  <dgm:cxnLst>
    <dgm:cxn modelId="{5F404E91-7D8F-4B1D-9E72-5BB353A27F47}" srcId="{A5FFA06D-C792-48F1-A138-08CA1AFDC639}" destId="{B914A4CF-60DE-424E-B423-2AE17D83CA73}" srcOrd="2" destOrd="0" parTransId="{007E9B09-EB88-4FCA-A32B-3D5D7437164F}" sibTransId="{E019BB2D-9FE5-4B76-94D6-8D42EC5F0D33}"/>
    <dgm:cxn modelId="{5D300C16-6232-4F04-907A-8694E80D53BA}" type="presOf" srcId="{6E859791-0FB6-485C-9638-BF39E3468F51}" destId="{9BD3ECB9-8252-4F31-BF5C-53532331C0F8}" srcOrd="0" destOrd="3" presId="urn:microsoft.com/office/officeart/2005/8/layout/vList5"/>
    <dgm:cxn modelId="{32EE48F2-B15A-4756-82F3-E4A0C5F39458}" srcId="{2757593B-FF11-4A1A-8AC6-8421A0362F23}" destId="{3ABCF033-5140-497E-9F81-2250FFE5C247}" srcOrd="0" destOrd="0" parTransId="{AEA13329-F4B5-4CDF-A771-18222A75EC34}" sibTransId="{1C38C5DB-B1BE-4194-A25E-F9D5CD9EAD12}"/>
    <dgm:cxn modelId="{64030446-81C7-4932-BEB0-AC722A6864F4}" type="presOf" srcId="{6020E4E0-2737-4B6A-9809-F58D8696B15B}" destId="{3C761307-ADCF-45AC-A53D-544CB5791076}" srcOrd="0" destOrd="1" presId="urn:microsoft.com/office/officeart/2005/8/layout/vList5"/>
    <dgm:cxn modelId="{3BF0768D-CDF3-41E0-8D6E-45093EEA76D0}" type="presOf" srcId="{B914A4CF-60DE-424E-B423-2AE17D83CA73}" destId="{9BD3ECB9-8252-4F31-BF5C-53532331C0F8}" srcOrd="0" destOrd="2" presId="urn:microsoft.com/office/officeart/2005/8/layout/vList5"/>
    <dgm:cxn modelId="{964657F1-A609-4F83-9703-370D2A7442FA}" type="presOf" srcId="{9A5706BC-7F46-476F-8202-2CD6B4652B97}" destId="{F8FCF156-A058-4396-ACF8-A3DCE1E1EB25}" srcOrd="0" destOrd="0" presId="urn:microsoft.com/office/officeart/2005/8/layout/vList5"/>
    <dgm:cxn modelId="{8E4E51DB-C187-45C2-A9FE-9B55EB47B002}" srcId="{A5FFA06D-C792-48F1-A138-08CA1AFDC639}" destId="{6E859791-0FB6-485C-9638-BF39E3468F51}" srcOrd="3" destOrd="0" parTransId="{6722B51C-24EB-4792-8C28-218193F2D0F1}" sibTransId="{1698BF17-2709-4A89-B3D4-BADF7BE1071D}"/>
    <dgm:cxn modelId="{95D75177-AB71-4167-9C01-1F3B5185B6FA}" type="presOf" srcId="{D01636FA-740D-46AA-933E-3FF297AB71A6}" destId="{9920C70D-67C2-403C-B333-6F6EC0F2846C}" srcOrd="0" destOrd="0" presId="urn:microsoft.com/office/officeart/2005/8/layout/vList5"/>
    <dgm:cxn modelId="{546BFBA1-96D6-4F54-916D-2A3A2D2CFBC6}" srcId="{A5FFA06D-C792-48F1-A138-08CA1AFDC639}" destId="{9314D123-1AB8-4AB3-B60A-B7E33814937A}" srcOrd="1" destOrd="0" parTransId="{147D845E-8AE9-4D27-9B89-E28F2D88DC27}" sibTransId="{15963C99-43F6-4C4D-A9BA-ECB69EDFA6D7}"/>
    <dgm:cxn modelId="{FCF8703E-E2C2-462C-8E56-336598678087}" srcId="{DBF072CD-7068-4380-8B99-EED55CD53090}" destId="{2757593B-FF11-4A1A-8AC6-8421A0362F23}" srcOrd="0" destOrd="0" parTransId="{D97320BB-452E-4A57-BC3A-31736ECE8699}" sibTransId="{635026F3-F4C6-42AF-932D-205D3865A192}"/>
    <dgm:cxn modelId="{44EC1BE7-16E5-43B7-A59D-AAAC6C9B04BF}" type="presOf" srcId="{3ABCF033-5140-497E-9F81-2250FFE5C247}" destId="{3C761307-ADCF-45AC-A53D-544CB5791076}" srcOrd="0" destOrd="0" presId="urn:microsoft.com/office/officeart/2005/8/layout/vList5"/>
    <dgm:cxn modelId="{DEA6BCAE-F636-49B0-A152-8FB1D5E72510}" srcId="{DBF072CD-7068-4380-8B99-EED55CD53090}" destId="{A5FFA06D-C792-48F1-A138-08CA1AFDC639}" srcOrd="1" destOrd="0" parTransId="{89D0D920-B909-4D6D-A7F1-CFA3B67311CA}" sibTransId="{72CE2830-D88E-4491-8110-ABE6A6FD652E}"/>
    <dgm:cxn modelId="{31E35B1D-6FDC-4177-B614-38CB16974F31}" type="presOf" srcId="{54850089-CB44-468C-8DCC-82228AA5B707}" destId="{9BD3ECB9-8252-4F31-BF5C-53532331C0F8}" srcOrd="0" destOrd="0" presId="urn:microsoft.com/office/officeart/2005/8/layout/vList5"/>
    <dgm:cxn modelId="{2BF17ED5-71EE-4A27-8F5A-C10AD40EFBDC}" type="presOf" srcId="{DBF072CD-7068-4380-8B99-EED55CD53090}" destId="{6DFE7DD3-426F-411D-A504-226BEE58DAD7}" srcOrd="0" destOrd="0" presId="urn:microsoft.com/office/officeart/2005/8/layout/vList5"/>
    <dgm:cxn modelId="{9E8FBCE7-CEFD-402B-99B3-84B81B4D3463}" srcId="{2757593B-FF11-4A1A-8AC6-8421A0362F23}" destId="{6020E4E0-2737-4B6A-9809-F58D8696B15B}" srcOrd="1" destOrd="0" parTransId="{9CA18933-EA83-4A99-8EE1-2616A41FE43F}" sibTransId="{D8336407-62FF-4FBE-AC83-60698851F27C}"/>
    <dgm:cxn modelId="{7E86528F-3F05-421E-90EC-9FA5084C5DA1}" type="presOf" srcId="{A5FFA06D-C792-48F1-A138-08CA1AFDC639}" destId="{E222F5B1-3F1F-470F-A572-56AD5AA7A11F}" srcOrd="0" destOrd="0" presId="urn:microsoft.com/office/officeart/2005/8/layout/vList5"/>
    <dgm:cxn modelId="{4C7AFC5D-AE51-43C0-98EC-6BDA100C91B7}" srcId="{9A5706BC-7F46-476F-8202-2CD6B4652B97}" destId="{D01636FA-740D-46AA-933E-3FF297AB71A6}" srcOrd="0" destOrd="0" parTransId="{0D8A1EF9-A82E-47A5-9675-BA7214C1C7CF}" sibTransId="{4507D981-822C-4C6B-AE03-C969D682A73A}"/>
    <dgm:cxn modelId="{00FA7550-494C-4C1D-AABA-CD55CBAC3D63}" srcId="{A5FFA06D-C792-48F1-A138-08CA1AFDC639}" destId="{54850089-CB44-468C-8DCC-82228AA5B707}" srcOrd="0" destOrd="0" parTransId="{E7CDFB0F-E54E-44C3-8AB6-8A141120586C}" sibTransId="{D9BD1029-2E1D-4E47-84D0-4D6AA342E5B1}"/>
    <dgm:cxn modelId="{B769CF47-9CFF-4191-B4E2-CFFBB5AE84BE}" srcId="{2757593B-FF11-4A1A-8AC6-8421A0362F23}" destId="{9E248FDE-AC13-48BB-AF9D-81179A093DCE}" srcOrd="2" destOrd="0" parTransId="{C93AE2F1-6066-486D-B242-6DAF525D8171}" sibTransId="{59DCEED2-0CA3-4478-BA94-A1C9C2C3B52F}"/>
    <dgm:cxn modelId="{A001C167-0FE2-4EFD-A107-E2E0ED8A06B3}" srcId="{9A5706BC-7F46-476F-8202-2CD6B4652B97}" destId="{C1A0AD89-74FB-418E-800E-2ED4652C59A8}" srcOrd="1" destOrd="0" parTransId="{FFA5D010-E7B3-4BF3-B993-9590DBC0B797}" sibTransId="{1DBB0058-B762-44CA-956B-B1711F6172DF}"/>
    <dgm:cxn modelId="{D51D755C-BA0A-416E-B33F-87ECF8082163}" type="presOf" srcId="{9E248FDE-AC13-48BB-AF9D-81179A093DCE}" destId="{3C761307-ADCF-45AC-A53D-544CB5791076}" srcOrd="0" destOrd="2" presId="urn:microsoft.com/office/officeart/2005/8/layout/vList5"/>
    <dgm:cxn modelId="{BBC9EF31-9120-428F-B64D-547722746F0B}" type="presOf" srcId="{9314D123-1AB8-4AB3-B60A-B7E33814937A}" destId="{9BD3ECB9-8252-4F31-BF5C-53532331C0F8}" srcOrd="0" destOrd="1" presId="urn:microsoft.com/office/officeart/2005/8/layout/vList5"/>
    <dgm:cxn modelId="{E2787FCD-6925-4E8B-8A88-D18C12833DE8}" srcId="{DBF072CD-7068-4380-8B99-EED55CD53090}" destId="{9A5706BC-7F46-476F-8202-2CD6B4652B97}" srcOrd="2" destOrd="0" parTransId="{CDB13023-7CAC-4911-A12E-749A649A8054}" sibTransId="{C7B0EEC8-578D-4752-93D8-6BD54B032854}"/>
    <dgm:cxn modelId="{B130357D-81B0-49A7-9FA6-C5BBB6297C3F}" type="presOf" srcId="{2757593B-FF11-4A1A-8AC6-8421A0362F23}" destId="{05B8B79E-483B-407F-8A42-F76D3FF7EAB1}" srcOrd="0" destOrd="0" presId="urn:microsoft.com/office/officeart/2005/8/layout/vList5"/>
    <dgm:cxn modelId="{6EEF9531-1BC7-4863-9665-5B4276CF8D99}" type="presOf" srcId="{C1A0AD89-74FB-418E-800E-2ED4652C59A8}" destId="{9920C70D-67C2-403C-B333-6F6EC0F2846C}" srcOrd="0" destOrd="1" presId="urn:microsoft.com/office/officeart/2005/8/layout/vList5"/>
    <dgm:cxn modelId="{6FE20846-AF8B-4C67-92AC-B12FD70E2CDB}" type="presParOf" srcId="{6DFE7DD3-426F-411D-A504-226BEE58DAD7}" destId="{4228B38C-7F42-4365-AFBE-97B37E9328E2}" srcOrd="0" destOrd="0" presId="urn:microsoft.com/office/officeart/2005/8/layout/vList5"/>
    <dgm:cxn modelId="{AAC0A22A-6747-4257-A3AE-E68F49317B06}" type="presParOf" srcId="{4228B38C-7F42-4365-AFBE-97B37E9328E2}" destId="{05B8B79E-483B-407F-8A42-F76D3FF7EAB1}" srcOrd="0" destOrd="0" presId="urn:microsoft.com/office/officeart/2005/8/layout/vList5"/>
    <dgm:cxn modelId="{2995E58D-40FC-4F59-86B6-F82B3DF9F666}" type="presParOf" srcId="{4228B38C-7F42-4365-AFBE-97B37E9328E2}" destId="{3C761307-ADCF-45AC-A53D-544CB5791076}" srcOrd="1" destOrd="0" presId="urn:microsoft.com/office/officeart/2005/8/layout/vList5"/>
    <dgm:cxn modelId="{319AD864-899C-4679-B771-E0C36596FD4C}" type="presParOf" srcId="{6DFE7DD3-426F-411D-A504-226BEE58DAD7}" destId="{3391FBB6-097C-46B7-B9A3-87CB72A0BD34}" srcOrd="1" destOrd="0" presId="urn:microsoft.com/office/officeart/2005/8/layout/vList5"/>
    <dgm:cxn modelId="{F26FB7B4-744B-4902-B285-1AEEB17B5685}" type="presParOf" srcId="{6DFE7DD3-426F-411D-A504-226BEE58DAD7}" destId="{2AE41C90-3241-459F-AD63-7FF802996FDE}" srcOrd="2" destOrd="0" presId="urn:microsoft.com/office/officeart/2005/8/layout/vList5"/>
    <dgm:cxn modelId="{FEC7B4AE-BCA3-427F-8B00-CB22950B0D87}" type="presParOf" srcId="{2AE41C90-3241-459F-AD63-7FF802996FDE}" destId="{E222F5B1-3F1F-470F-A572-56AD5AA7A11F}" srcOrd="0" destOrd="0" presId="urn:microsoft.com/office/officeart/2005/8/layout/vList5"/>
    <dgm:cxn modelId="{84DA405C-56F5-4D6E-8106-3EC3415DD751}" type="presParOf" srcId="{2AE41C90-3241-459F-AD63-7FF802996FDE}" destId="{9BD3ECB9-8252-4F31-BF5C-53532331C0F8}" srcOrd="1" destOrd="0" presId="urn:microsoft.com/office/officeart/2005/8/layout/vList5"/>
    <dgm:cxn modelId="{EE193153-E8B5-4B23-B18F-A3F1EB6F2B01}" type="presParOf" srcId="{6DFE7DD3-426F-411D-A504-226BEE58DAD7}" destId="{0F25A01E-6711-4ED5-A8A4-EF2BD6E8BC9D}" srcOrd="3" destOrd="0" presId="urn:microsoft.com/office/officeart/2005/8/layout/vList5"/>
    <dgm:cxn modelId="{CF121B3B-A934-4252-922B-B35B88276FD2}" type="presParOf" srcId="{6DFE7DD3-426F-411D-A504-226BEE58DAD7}" destId="{71CD2196-E588-4B59-94C2-7D10024950EB}" srcOrd="4" destOrd="0" presId="urn:microsoft.com/office/officeart/2005/8/layout/vList5"/>
    <dgm:cxn modelId="{4B8762C1-50E0-4C9F-8C7F-129C59C9DA4B}" type="presParOf" srcId="{71CD2196-E588-4B59-94C2-7D10024950EB}" destId="{F8FCF156-A058-4396-ACF8-A3DCE1E1EB25}" srcOrd="0" destOrd="0" presId="urn:microsoft.com/office/officeart/2005/8/layout/vList5"/>
    <dgm:cxn modelId="{FED5BE89-065D-42B0-8332-B08FC1CE2A5D}" type="presParOf" srcId="{71CD2196-E588-4B59-94C2-7D10024950EB}" destId="{9920C70D-67C2-403C-B333-6F6EC0F2846C}"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6B8C70-2176-4669-8FB8-7677562B2B36}">
      <dsp:nvSpPr>
        <dsp:cNvPr id="0" name=""/>
        <dsp:cNvSpPr/>
      </dsp:nvSpPr>
      <dsp:spPr>
        <a:xfrm>
          <a:off x="0" y="0"/>
          <a:ext cx="8858374" cy="252167"/>
        </a:xfrm>
        <a:prstGeom prst="rect">
          <a:avLst/>
        </a:prstGeom>
        <a:solidFill>
          <a:srgbClr val="D0D8E8"/>
        </a:solidFill>
        <a:ln>
          <a:solidFill>
            <a:schemeClr val="tx1"/>
          </a:solidFill>
        </a:ln>
        <a:effectLst/>
        <a:scene3d>
          <a:camera prst="orthographicFront"/>
          <a:lightRig rig="threePt" dir="t"/>
        </a:scene3d>
        <a:sp3d>
          <a:bevelT/>
        </a:sp3d>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1"/>
              </a:solidFill>
            </a:rPr>
            <a:t>Health and performance monitoring in Microsoft’s Linux/UNIX management packs</a:t>
          </a:r>
        </a:p>
      </dsp:txBody>
      <dsp:txXfrm>
        <a:off x="0" y="0"/>
        <a:ext cx="8858374" cy="252167"/>
      </dsp:txXfrm>
    </dsp:sp>
    <dsp:sp modelId="{2C6D4522-76CF-45F6-926B-AB3718B0FF8F}">
      <dsp:nvSpPr>
        <dsp:cNvPr id="0" name=""/>
        <dsp:cNvSpPr/>
      </dsp:nvSpPr>
      <dsp:spPr>
        <a:xfrm>
          <a:off x="4325"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CPU</a:t>
          </a:r>
        </a:p>
      </dsp:txBody>
      <dsp:txXfrm>
        <a:off x="4325" y="252167"/>
        <a:ext cx="1474953" cy="529550"/>
      </dsp:txXfrm>
    </dsp:sp>
    <dsp:sp modelId="{A39B2FCF-B5CD-45C2-BE0E-071B32841F26}">
      <dsp:nvSpPr>
        <dsp:cNvPr id="0" name=""/>
        <dsp:cNvSpPr/>
      </dsp:nvSpPr>
      <dsp:spPr>
        <a:xfrm>
          <a:off x="1479279"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Memory</a:t>
          </a:r>
        </a:p>
      </dsp:txBody>
      <dsp:txXfrm>
        <a:off x="1479279" y="252167"/>
        <a:ext cx="1474953" cy="529550"/>
      </dsp:txXfrm>
    </dsp:sp>
    <dsp:sp modelId="{C16A9BD6-4ACE-400A-AE3E-13115F23B30D}">
      <dsp:nvSpPr>
        <dsp:cNvPr id="0" name=""/>
        <dsp:cNvSpPr/>
      </dsp:nvSpPr>
      <dsp:spPr>
        <a:xfrm>
          <a:off x="2954233"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a:t>Disk</a:t>
          </a:r>
        </a:p>
      </dsp:txBody>
      <dsp:txXfrm>
        <a:off x="2954233" y="252167"/>
        <a:ext cx="1474953" cy="529550"/>
      </dsp:txXfrm>
    </dsp:sp>
    <dsp:sp modelId="{460A20A2-61BE-4C76-BCB6-82DDEF141B01}">
      <dsp:nvSpPr>
        <dsp:cNvPr id="0" name=""/>
        <dsp:cNvSpPr/>
      </dsp:nvSpPr>
      <dsp:spPr>
        <a:xfrm>
          <a:off x="4429187"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a:t>Network</a:t>
          </a:r>
        </a:p>
      </dsp:txBody>
      <dsp:txXfrm>
        <a:off x="4429187" y="252167"/>
        <a:ext cx="1474953" cy="529550"/>
      </dsp:txXfrm>
    </dsp:sp>
    <dsp:sp modelId="{F60D8F8F-1A71-4057-9A3E-6F72A276CA74}">
      <dsp:nvSpPr>
        <dsp:cNvPr id="0" name=""/>
        <dsp:cNvSpPr/>
      </dsp:nvSpPr>
      <dsp:spPr>
        <a:xfrm>
          <a:off x="5904140"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a:t>Processes</a:t>
          </a:r>
        </a:p>
      </dsp:txBody>
      <dsp:txXfrm>
        <a:off x="5904140" y="252167"/>
        <a:ext cx="1474953" cy="529550"/>
      </dsp:txXfrm>
    </dsp:sp>
    <dsp:sp modelId="{6D35E0A2-608A-4030-B1F9-B68EC19E4C50}">
      <dsp:nvSpPr>
        <dsp:cNvPr id="0" name=""/>
        <dsp:cNvSpPr/>
      </dsp:nvSpPr>
      <dsp:spPr>
        <a:xfrm>
          <a:off x="7379094" y="252167"/>
          <a:ext cx="1474953" cy="529550"/>
        </a:xfrm>
        <a:prstGeom prst="rect">
          <a:avLst/>
        </a:prstGeom>
        <a:solidFill>
          <a:schemeClr val="accent1">
            <a:hueOff val="0"/>
            <a:satOff val="0"/>
            <a:lumOff val="0"/>
            <a:alphaOff val="0"/>
          </a:schemeClr>
        </a:solidFill>
        <a:ln w="25400" cap="flat" cmpd="sng" algn="ctr">
          <a:solidFill>
            <a:schemeClr val="tx1"/>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3340" numCol="1" spcCol="1270" anchor="ctr" anchorCtr="0">
          <a:noAutofit/>
        </a:bodyPr>
        <a:lstStyle/>
        <a:p>
          <a:pPr marL="0" lvl="0" indent="0" algn="ctr" defTabSz="622300" rtl="0">
            <a:lnSpc>
              <a:spcPct val="90000"/>
            </a:lnSpc>
            <a:spcBef>
              <a:spcPct val="0"/>
            </a:spcBef>
            <a:spcAft>
              <a:spcPct val="35000"/>
            </a:spcAft>
            <a:buNone/>
          </a:pPr>
          <a:r>
            <a:rPr lang="en-US" sz="1400" kern="1200"/>
            <a:t>Logfiles</a:t>
          </a:r>
        </a:p>
      </dsp:txBody>
      <dsp:txXfrm>
        <a:off x="7379094" y="252167"/>
        <a:ext cx="1474953" cy="529550"/>
      </dsp:txXfrm>
    </dsp:sp>
    <dsp:sp modelId="{2320E0B1-2A10-4F98-A444-6F315FD86585}">
      <dsp:nvSpPr>
        <dsp:cNvPr id="0" name=""/>
        <dsp:cNvSpPr/>
      </dsp:nvSpPr>
      <dsp:spPr>
        <a:xfrm>
          <a:off x="0" y="781718"/>
          <a:ext cx="8858374" cy="58838"/>
        </a:xfrm>
        <a:prstGeom prst="rect">
          <a:avLst/>
        </a:prstGeom>
        <a:solidFill>
          <a:srgbClr val="D0D8E8"/>
        </a:solidFill>
        <a:ln>
          <a:solidFill>
            <a:schemeClr val="tx1"/>
          </a:solidFill>
        </a:ln>
        <a:effectLst/>
        <a:scene3d>
          <a:camera prst="orthographicFront"/>
          <a:lightRig rig="threePt" dir="t"/>
        </a:scene3d>
        <a:sp3d>
          <a:bevelT/>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761307-ADCF-45AC-A53D-544CB5791076}">
      <dsp:nvSpPr>
        <dsp:cNvPr id="0" name=""/>
        <dsp:cNvSpPr/>
      </dsp:nvSpPr>
      <dsp:spPr>
        <a:xfrm rot="5400000">
          <a:off x="4062754" y="-1987868"/>
          <a:ext cx="775832" cy="492890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b="1" kern="1200" dirty="0"/>
            <a:t>Monitor any </a:t>
          </a:r>
          <a:r>
            <a:rPr lang="en-US" sz="1200" b="1" kern="1200" dirty="0" err="1"/>
            <a:t>logfile</a:t>
          </a:r>
          <a:endParaRPr lang="en-US" sz="1200" b="1" kern="1200" dirty="0"/>
        </a:p>
        <a:p>
          <a:pPr marL="114300" lvl="1" indent="-114300" algn="l" defTabSz="533400" rtl="0">
            <a:lnSpc>
              <a:spcPct val="90000"/>
            </a:lnSpc>
            <a:spcBef>
              <a:spcPct val="0"/>
            </a:spcBef>
            <a:spcAft>
              <a:spcPct val="15000"/>
            </a:spcAft>
            <a:buChar char="•"/>
          </a:pPr>
          <a:r>
            <a:rPr lang="en-US" sz="1200" b="1" kern="1200" dirty="0"/>
            <a:t>Specify regular expression to match against</a:t>
          </a:r>
        </a:p>
        <a:p>
          <a:pPr marL="114300" lvl="1" indent="-114300" algn="l" defTabSz="533400" rtl="0">
            <a:lnSpc>
              <a:spcPct val="90000"/>
            </a:lnSpc>
            <a:spcBef>
              <a:spcPct val="0"/>
            </a:spcBef>
            <a:spcAft>
              <a:spcPct val="15000"/>
            </a:spcAft>
            <a:buChar char="•"/>
          </a:pPr>
          <a:r>
            <a:rPr lang="en-US" sz="1200" b="1" kern="1200" dirty="0"/>
            <a:t>Target computer or group</a:t>
          </a:r>
        </a:p>
      </dsp:txBody>
      <dsp:txXfrm rot="-5400000">
        <a:off x="1986217" y="126542"/>
        <a:ext cx="4891034" cy="700086"/>
      </dsp:txXfrm>
    </dsp:sp>
    <dsp:sp modelId="{05B8B79E-483B-407F-8A42-F76D3FF7EAB1}">
      <dsp:nvSpPr>
        <dsp:cNvPr id="0" name=""/>
        <dsp:cNvSpPr/>
      </dsp:nvSpPr>
      <dsp:spPr>
        <a:xfrm>
          <a:off x="138876" y="1439"/>
          <a:ext cx="1847341" cy="9502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Custom </a:t>
          </a:r>
          <a:r>
            <a:rPr lang="en-US" sz="1600" kern="1200" dirty="0" err="1"/>
            <a:t>LogFile</a:t>
          </a:r>
          <a:r>
            <a:rPr lang="en-US" sz="1600" kern="1200" dirty="0"/>
            <a:t> Monitoring</a:t>
          </a:r>
        </a:p>
      </dsp:txBody>
      <dsp:txXfrm>
        <a:off x="185265" y="47828"/>
        <a:ext cx="1754563" cy="857512"/>
      </dsp:txXfrm>
    </dsp:sp>
    <dsp:sp modelId="{9BD3ECB9-8252-4F31-BF5C-53532331C0F8}">
      <dsp:nvSpPr>
        <dsp:cNvPr id="0" name=""/>
        <dsp:cNvSpPr/>
      </dsp:nvSpPr>
      <dsp:spPr>
        <a:xfrm rot="5400000">
          <a:off x="4062754" y="-990063"/>
          <a:ext cx="775832" cy="492890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b="1" kern="1200" dirty="0"/>
            <a:t>Monitor by name any service, daemon or process</a:t>
          </a:r>
        </a:p>
        <a:p>
          <a:pPr marL="114300" lvl="1" indent="-114300" algn="l" defTabSz="533400" rtl="0">
            <a:lnSpc>
              <a:spcPct val="90000"/>
            </a:lnSpc>
            <a:spcBef>
              <a:spcPct val="0"/>
            </a:spcBef>
            <a:spcAft>
              <a:spcPct val="15000"/>
            </a:spcAft>
            <a:buChar char="•"/>
          </a:pPr>
          <a:r>
            <a:rPr lang="en-US" sz="1200" b="1" kern="1200" dirty="0"/>
            <a:t>Distinguish duplicate names with regex filter on process arguments</a:t>
          </a:r>
        </a:p>
        <a:p>
          <a:pPr marL="114300" lvl="1" indent="-114300" algn="l" defTabSz="533400" rtl="0">
            <a:lnSpc>
              <a:spcPct val="90000"/>
            </a:lnSpc>
            <a:spcBef>
              <a:spcPct val="0"/>
            </a:spcBef>
            <a:spcAft>
              <a:spcPct val="15000"/>
            </a:spcAft>
            <a:buChar char="•"/>
          </a:pPr>
          <a:r>
            <a:rPr lang="en-US" sz="1200" b="1" kern="1200" dirty="0"/>
            <a:t>Specify minimum and maximum counts</a:t>
          </a:r>
        </a:p>
        <a:p>
          <a:pPr marL="114300" lvl="1" indent="-114300" algn="l" defTabSz="533400">
            <a:lnSpc>
              <a:spcPct val="90000"/>
            </a:lnSpc>
            <a:spcBef>
              <a:spcPct val="0"/>
            </a:spcBef>
            <a:spcAft>
              <a:spcPct val="15000"/>
            </a:spcAft>
            <a:buChar char="•"/>
          </a:pPr>
          <a:r>
            <a:rPr lang="en-US" sz="1200" b="1" kern="1200" dirty="0"/>
            <a:t>Target computer or group</a:t>
          </a:r>
        </a:p>
      </dsp:txBody>
      <dsp:txXfrm rot="-5400000">
        <a:off x="1986217" y="1124347"/>
        <a:ext cx="4891034" cy="700086"/>
      </dsp:txXfrm>
    </dsp:sp>
    <dsp:sp modelId="{E222F5B1-3F1F-470F-A572-56AD5AA7A11F}">
      <dsp:nvSpPr>
        <dsp:cNvPr id="0" name=""/>
        <dsp:cNvSpPr/>
      </dsp:nvSpPr>
      <dsp:spPr>
        <a:xfrm>
          <a:off x="138876" y="999245"/>
          <a:ext cx="1847341" cy="9502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Process Monitoring</a:t>
          </a:r>
        </a:p>
      </dsp:txBody>
      <dsp:txXfrm>
        <a:off x="185265" y="1045634"/>
        <a:ext cx="1754563" cy="857512"/>
      </dsp:txXfrm>
    </dsp:sp>
    <dsp:sp modelId="{9920C70D-67C2-403C-B333-6F6EC0F2846C}">
      <dsp:nvSpPr>
        <dsp:cNvPr id="0" name=""/>
        <dsp:cNvSpPr/>
      </dsp:nvSpPr>
      <dsp:spPr>
        <a:xfrm rot="5400000">
          <a:off x="4062754" y="7742"/>
          <a:ext cx="775832" cy="492890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b="1" kern="1200" dirty="0"/>
            <a:t>Run any shell command line to determine health or performance</a:t>
          </a:r>
        </a:p>
        <a:p>
          <a:pPr marL="114300" lvl="1" indent="-114300" algn="l" defTabSz="533400">
            <a:lnSpc>
              <a:spcPct val="90000"/>
            </a:lnSpc>
            <a:spcBef>
              <a:spcPct val="0"/>
            </a:spcBef>
            <a:spcAft>
              <a:spcPct val="15000"/>
            </a:spcAft>
            <a:buChar char="•"/>
          </a:pPr>
          <a:r>
            <a:rPr lang="en-US" sz="1200" b="1" kern="1200" dirty="0"/>
            <a:t>Target computer or group</a:t>
          </a:r>
        </a:p>
      </dsp:txBody>
      <dsp:txXfrm rot="-5400000">
        <a:off x="1986217" y="2122153"/>
        <a:ext cx="4891034" cy="700086"/>
      </dsp:txXfrm>
    </dsp:sp>
    <dsp:sp modelId="{F8FCF156-A058-4396-ACF8-A3DCE1E1EB25}">
      <dsp:nvSpPr>
        <dsp:cNvPr id="0" name=""/>
        <dsp:cNvSpPr/>
      </dsp:nvSpPr>
      <dsp:spPr>
        <a:xfrm>
          <a:off x="138876" y="1997050"/>
          <a:ext cx="1847341" cy="9502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Command line rules and monitors</a:t>
          </a:r>
        </a:p>
      </dsp:txBody>
      <dsp:txXfrm>
        <a:off x="185265" y="2043439"/>
        <a:ext cx="1754563" cy="857512"/>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61" tIns="48331" rIns="96661" bIns="48331" rtlCol="0"/>
          <a:lstStyle>
            <a:lvl1pPr algn="l">
              <a:defRPr sz="1300"/>
            </a:lvl1pPr>
          </a:lstStyle>
          <a:p>
            <a:endParaRPr lang="de-CH"/>
          </a:p>
        </p:txBody>
      </p:sp>
      <p:sp>
        <p:nvSpPr>
          <p:cNvPr id="3" name="Date Placeholder 2"/>
          <p:cNvSpPr>
            <a:spLocks noGrp="1"/>
          </p:cNvSpPr>
          <p:nvPr>
            <p:ph type="dt" sz="quarter" idx="1"/>
          </p:nvPr>
        </p:nvSpPr>
        <p:spPr>
          <a:xfrm>
            <a:off x="4143587" y="1"/>
            <a:ext cx="3169920" cy="481727"/>
          </a:xfrm>
          <a:prstGeom prst="rect">
            <a:avLst/>
          </a:prstGeom>
        </p:spPr>
        <p:txBody>
          <a:bodyPr vert="horz" lIns="96661" tIns="48331" rIns="96661" bIns="48331" rtlCol="0"/>
          <a:lstStyle>
            <a:lvl1pPr algn="r">
              <a:defRPr sz="1300"/>
            </a:lvl1pPr>
          </a:lstStyle>
          <a:p>
            <a:fld id="{5E8CA84D-A50C-462A-A76F-EF429BD955C2}" type="datetimeFigureOut">
              <a:rPr lang="de-CH" smtClean="0"/>
              <a:t>24.08.2016</a:t>
            </a:fld>
            <a:endParaRPr lang="de-CH"/>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de-CH"/>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0CF4702F-5E2A-4E23-A276-899C753A7152}" type="slidenum">
              <a:rPr lang="de-CH" smtClean="0"/>
              <a:t>‹#›</a:t>
            </a:fld>
            <a:endParaRPr lang="de-CH"/>
          </a:p>
        </p:txBody>
      </p:sp>
    </p:spTree>
    <p:extLst>
      <p:ext uri="{BB962C8B-B14F-4D97-AF65-F5344CB8AC3E}">
        <p14:creationId xmlns:p14="http://schemas.microsoft.com/office/powerpoint/2010/main" val="30302005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1"/>
            <a:ext cx="3169920" cy="481727"/>
          </a:xfrm>
          <a:prstGeom prst="rect">
            <a:avLst/>
          </a:prstGeom>
        </p:spPr>
        <p:txBody>
          <a:bodyPr vert="horz" lIns="96661" tIns="48331" rIns="96661" bIns="48331" rtlCol="0"/>
          <a:lstStyle>
            <a:lvl1pPr algn="r">
              <a:defRPr sz="1300"/>
            </a:lvl1pPr>
          </a:lstStyle>
          <a:p>
            <a:fld id="{C404AC08-4B83-4007-AD8C-3327B426147E}" type="datetimeFigureOut">
              <a:rPr lang="en-US" smtClean="0"/>
              <a:t>8/24/2016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4"/>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776870B-36E6-45AA-AB02-E2A09D4A3228}" type="slidenum">
              <a:rPr lang="en-US" smtClean="0"/>
              <a:t>‹#›</a:t>
            </a:fld>
            <a:endParaRPr lang="en-US"/>
          </a:p>
        </p:txBody>
      </p:sp>
    </p:spTree>
    <p:extLst>
      <p:ext uri="{BB962C8B-B14F-4D97-AF65-F5344CB8AC3E}">
        <p14:creationId xmlns:p14="http://schemas.microsoft.com/office/powerpoint/2010/main" val="414341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76870B-36E6-45AA-AB02-E2A09D4A3228}" type="slidenum">
              <a:rPr lang="en-US" smtClean="0"/>
              <a:t>1</a:t>
            </a:fld>
            <a:endParaRPr lang="en-US"/>
          </a:p>
        </p:txBody>
      </p:sp>
    </p:spTree>
    <p:extLst>
      <p:ext uri="{BB962C8B-B14F-4D97-AF65-F5344CB8AC3E}">
        <p14:creationId xmlns:p14="http://schemas.microsoft.com/office/powerpoint/2010/main" val="208221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2</a:t>
            </a:fld>
            <a:endParaRPr lang="en-US"/>
          </a:p>
        </p:txBody>
      </p:sp>
    </p:spTree>
    <p:extLst>
      <p:ext uri="{BB962C8B-B14F-4D97-AF65-F5344CB8AC3E}">
        <p14:creationId xmlns:p14="http://schemas.microsoft.com/office/powerpoint/2010/main" val="3011605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43AB38-36EE-45F7-A0D1-2216852CBA12}" type="slidenum">
              <a:rPr lang="en-US" smtClean="0"/>
              <a:t>3</a:t>
            </a:fld>
            <a:endParaRPr lang="en-US"/>
          </a:p>
        </p:txBody>
      </p:sp>
    </p:spTree>
    <p:extLst>
      <p:ext uri="{BB962C8B-B14F-4D97-AF65-F5344CB8AC3E}">
        <p14:creationId xmlns:p14="http://schemas.microsoft.com/office/powerpoint/2010/main" val="1464700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43AB38-36EE-45F7-A0D1-2216852CBA12}" type="slidenum">
              <a:rPr lang="en-US" smtClean="0"/>
              <a:t>4</a:t>
            </a:fld>
            <a:endParaRPr lang="en-US"/>
          </a:p>
        </p:txBody>
      </p:sp>
    </p:spTree>
    <p:extLst>
      <p:ext uri="{BB962C8B-B14F-4D97-AF65-F5344CB8AC3E}">
        <p14:creationId xmlns:p14="http://schemas.microsoft.com/office/powerpoint/2010/main" val="1939585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76870B-36E6-45AA-AB02-E2A09D4A3228}" type="slidenum">
              <a:rPr lang="en-US" smtClean="0"/>
              <a:t>5</a:t>
            </a:fld>
            <a:endParaRPr lang="en-US"/>
          </a:p>
        </p:txBody>
      </p:sp>
    </p:spTree>
    <p:extLst>
      <p:ext uri="{BB962C8B-B14F-4D97-AF65-F5344CB8AC3E}">
        <p14:creationId xmlns:p14="http://schemas.microsoft.com/office/powerpoint/2010/main" val="2341993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8/24/2016 2:41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285848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8/24/2016 2:41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094920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0DDD1004-CDF9-4DFB-AB77-2785DE7911C4}" type="slidenum">
              <a:rPr lang="en-US" smtClean="0"/>
              <a:pPr>
                <a:defRPr/>
              </a:pPr>
              <a:t>8</a:t>
            </a:fld>
            <a:endParaRPr lang="en-US" dirty="0"/>
          </a:p>
        </p:txBody>
      </p:sp>
    </p:spTree>
    <p:extLst>
      <p:ext uri="{BB962C8B-B14F-4D97-AF65-F5344CB8AC3E}">
        <p14:creationId xmlns:p14="http://schemas.microsoft.com/office/powerpoint/2010/main" val="3825771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9</a:t>
            </a:fld>
            <a:endParaRPr lang="en-US"/>
          </a:p>
        </p:txBody>
      </p:sp>
    </p:spTree>
    <p:extLst>
      <p:ext uri="{BB962C8B-B14F-4D97-AF65-F5344CB8AC3E}">
        <p14:creationId xmlns:p14="http://schemas.microsoft.com/office/powerpoint/2010/main" val="2172638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F776870B-36E6-45AA-AB02-E2A09D4A3228}" type="slidenum">
              <a:rPr lang="en-US" smtClean="0"/>
              <a:t>10</a:t>
            </a:fld>
            <a:endParaRPr lang="en-US"/>
          </a:p>
        </p:txBody>
      </p:sp>
    </p:spTree>
    <p:extLst>
      <p:ext uri="{BB962C8B-B14F-4D97-AF65-F5344CB8AC3E}">
        <p14:creationId xmlns:p14="http://schemas.microsoft.com/office/powerpoint/2010/main" val="3877229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Footer Placeholder 3"/>
          <p:cNvSpPr>
            <a:spLocks noGrp="1"/>
          </p:cNvSpPr>
          <p:nvPr>
            <p:ph type="ftr" sz="quarter" idx="10"/>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solidFill>
                  <a:prstClr val="black"/>
                </a:solidFill>
              </a:rPr>
              <a:pPr/>
              <a:t>8/24/2016</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402939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12</a:t>
            </a:fld>
            <a:endParaRPr lang="en-US"/>
          </a:p>
        </p:txBody>
      </p:sp>
    </p:spTree>
    <p:extLst>
      <p:ext uri="{BB962C8B-B14F-4D97-AF65-F5344CB8AC3E}">
        <p14:creationId xmlns:p14="http://schemas.microsoft.com/office/powerpoint/2010/main" val="2526069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Footer Placeholder 3"/>
          <p:cNvSpPr>
            <a:spLocks noGrp="1"/>
          </p:cNvSpPr>
          <p:nvPr>
            <p:ph type="ftr" sz="quarter" idx="10"/>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solidFill>
                  <a:prstClr val="black"/>
                </a:solidFill>
              </a:rPr>
              <a:pPr/>
              <a:t>8/24/2016</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1610057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14</a:t>
            </a:fld>
            <a:endParaRPr lang="en-US"/>
          </a:p>
        </p:txBody>
      </p:sp>
    </p:spTree>
    <p:extLst>
      <p:ext uri="{BB962C8B-B14F-4D97-AF65-F5344CB8AC3E}">
        <p14:creationId xmlns:p14="http://schemas.microsoft.com/office/powerpoint/2010/main" val="2983302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15</a:t>
            </a:fld>
            <a:endParaRPr lang="en-US"/>
          </a:p>
        </p:txBody>
      </p:sp>
    </p:spTree>
    <p:extLst>
      <p:ext uri="{BB962C8B-B14F-4D97-AF65-F5344CB8AC3E}">
        <p14:creationId xmlns:p14="http://schemas.microsoft.com/office/powerpoint/2010/main" val="1078025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16</a:t>
            </a:fld>
            <a:endParaRPr lang="en-US"/>
          </a:p>
        </p:txBody>
      </p:sp>
    </p:spTree>
    <p:extLst>
      <p:ext uri="{BB962C8B-B14F-4D97-AF65-F5344CB8AC3E}">
        <p14:creationId xmlns:p14="http://schemas.microsoft.com/office/powerpoint/2010/main" val="1402697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17</a:t>
            </a:fld>
            <a:endParaRPr lang="en-US"/>
          </a:p>
        </p:txBody>
      </p:sp>
    </p:spTree>
    <p:extLst>
      <p:ext uri="{BB962C8B-B14F-4D97-AF65-F5344CB8AC3E}">
        <p14:creationId xmlns:p14="http://schemas.microsoft.com/office/powerpoint/2010/main" val="2905192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76870B-36E6-45AA-AB02-E2A09D4A3228}" type="slidenum">
              <a:rPr lang="en-US" smtClean="0"/>
              <a:t>18</a:t>
            </a:fld>
            <a:endParaRPr lang="en-US"/>
          </a:p>
        </p:txBody>
      </p:sp>
    </p:spTree>
    <p:extLst>
      <p:ext uri="{BB962C8B-B14F-4D97-AF65-F5344CB8AC3E}">
        <p14:creationId xmlns:p14="http://schemas.microsoft.com/office/powerpoint/2010/main" val="2203492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19</a:t>
            </a:fld>
            <a:endParaRPr lang="en-US"/>
          </a:p>
        </p:txBody>
      </p:sp>
    </p:spTree>
    <p:extLst>
      <p:ext uri="{BB962C8B-B14F-4D97-AF65-F5344CB8AC3E}">
        <p14:creationId xmlns:p14="http://schemas.microsoft.com/office/powerpoint/2010/main" val="5413797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20</a:t>
            </a:fld>
            <a:endParaRPr lang="en-US"/>
          </a:p>
        </p:txBody>
      </p:sp>
    </p:spTree>
    <p:extLst>
      <p:ext uri="{BB962C8B-B14F-4D97-AF65-F5344CB8AC3E}">
        <p14:creationId xmlns:p14="http://schemas.microsoft.com/office/powerpoint/2010/main" val="3065608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21</a:t>
            </a:fld>
            <a:endParaRPr lang="en-US"/>
          </a:p>
        </p:txBody>
      </p:sp>
    </p:spTree>
    <p:extLst>
      <p:ext uri="{BB962C8B-B14F-4D97-AF65-F5344CB8AC3E}">
        <p14:creationId xmlns:p14="http://schemas.microsoft.com/office/powerpoint/2010/main" val="752210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22</a:t>
            </a:fld>
            <a:endParaRPr lang="en-US"/>
          </a:p>
        </p:txBody>
      </p:sp>
    </p:spTree>
    <p:extLst>
      <p:ext uri="{BB962C8B-B14F-4D97-AF65-F5344CB8AC3E}">
        <p14:creationId xmlns:p14="http://schemas.microsoft.com/office/powerpoint/2010/main" val="2997491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23</a:t>
            </a:fld>
            <a:endParaRPr lang="en-US"/>
          </a:p>
        </p:txBody>
      </p:sp>
    </p:spTree>
    <p:extLst>
      <p:ext uri="{BB962C8B-B14F-4D97-AF65-F5344CB8AC3E}">
        <p14:creationId xmlns:p14="http://schemas.microsoft.com/office/powerpoint/2010/main" val="2292930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76870B-36E6-45AA-AB02-E2A09D4A3228}" type="slidenum">
              <a:rPr lang="en-US" smtClean="0"/>
              <a:t>24</a:t>
            </a:fld>
            <a:endParaRPr lang="en-US"/>
          </a:p>
        </p:txBody>
      </p:sp>
    </p:spTree>
    <p:extLst>
      <p:ext uri="{BB962C8B-B14F-4D97-AF65-F5344CB8AC3E}">
        <p14:creationId xmlns:p14="http://schemas.microsoft.com/office/powerpoint/2010/main" val="1396046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10"/>
          </p:nvPr>
        </p:nvSpPr>
        <p:spPr/>
        <p:txBody>
          <a:bodyPr/>
          <a:lstStyle/>
          <a:p>
            <a:fld id="{F776870B-36E6-45AA-AB02-E2A09D4A3228}" type="slidenum">
              <a:rPr lang="en-US" smtClean="0"/>
              <a:t>25</a:t>
            </a:fld>
            <a:endParaRPr lang="en-US"/>
          </a:p>
        </p:txBody>
      </p:sp>
    </p:spTree>
    <p:extLst>
      <p:ext uri="{BB962C8B-B14F-4D97-AF65-F5344CB8AC3E}">
        <p14:creationId xmlns:p14="http://schemas.microsoft.com/office/powerpoint/2010/main" val="32550196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76870B-36E6-45AA-AB02-E2A09D4A3228}" type="slidenum">
              <a:rPr lang="en-US" smtClean="0"/>
              <a:t>26</a:t>
            </a:fld>
            <a:endParaRPr lang="en-US"/>
          </a:p>
        </p:txBody>
      </p:sp>
    </p:spTree>
    <p:extLst>
      <p:ext uri="{BB962C8B-B14F-4D97-AF65-F5344CB8AC3E}">
        <p14:creationId xmlns:p14="http://schemas.microsoft.com/office/powerpoint/2010/main" val="38758938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0" name="Rechteck 7"/>
          <p:cNvSpPr/>
          <p:nvPr userDrawn="1"/>
        </p:nvSpPr>
        <p:spPr>
          <a:xfrm>
            <a:off x="-76200" y="2664857"/>
            <a:ext cx="9296400" cy="129540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sz="140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739" y="4500431"/>
            <a:ext cx="955965" cy="560284"/>
          </a:xfrm>
          <a:prstGeom prst="rect">
            <a:avLst/>
          </a:prstGeom>
        </p:spPr>
      </p:pic>
      <p:sp>
        <p:nvSpPr>
          <p:cNvPr id="7" name="Rechteck 7"/>
          <p:cNvSpPr/>
          <p:nvPr userDrawn="1"/>
        </p:nvSpPr>
        <p:spPr>
          <a:xfrm>
            <a:off x="-76200" y="1276350"/>
            <a:ext cx="9296400" cy="1295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 name="Titelplatzhalter 1"/>
          <p:cNvSpPr>
            <a:spLocks noGrp="1"/>
          </p:cNvSpPr>
          <p:nvPr>
            <p:ph type="title" hasCustomPrompt="1"/>
          </p:nvPr>
        </p:nvSpPr>
        <p:spPr>
          <a:xfrm>
            <a:off x="533399" y="1365250"/>
            <a:ext cx="8077201" cy="1121025"/>
          </a:xfrm>
          <a:prstGeom prst="rect">
            <a:avLst/>
          </a:prstGeom>
        </p:spPr>
        <p:txBody>
          <a:bodyPr vert="horz" lIns="0" tIns="0" rIns="0" bIns="0" rtlCol="0" anchor="t" anchorCtr="0">
            <a:noAutofit/>
          </a:bodyPr>
          <a:lstStyle>
            <a:lvl1pPr>
              <a:defRPr/>
            </a:lvl1pPr>
          </a:lstStyle>
          <a:p>
            <a:r>
              <a:rPr lang="de-DE" dirty="0"/>
              <a:t>Title 1</a:t>
            </a:r>
            <a:br>
              <a:rPr lang="de-DE" dirty="0"/>
            </a:br>
            <a:r>
              <a:rPr lang="de-DE" dirty="0"/>
              <a:t>Title 2</a:t>
            </a:r>
            <a:endParaRPr lang="de-CH" dirty="0"/>
          </a:p>
        </p:txBody>
      </p:sp>
      <p:sp>
        <p:nvSpPr>
          <p:cNvPr id="17" name="Text Placeholder 16"/>
          <p:cNvSpPr>
            <a:spLocks noGrp="1"/>
          </p:cNvSpPr>
          <p:nvPr>
            <p:ph type="body" sz="quarter" idx="10" hasCustomPrompt="1"/>
          </p:nvPr>
        </p:nvSpPr>
        <p:spPr>
          <a:xfrm>
            <a:off x="533399" y="2743200"/>
            <a:ext cx="4343401" cy="1143000"/>
          </a:xfrm>
        </p:spPr>
        <p:txBody>
          <a:bodyPr/>
          <a:lstStyle>
            <a:lvl1pPr marL="0" indent="0">
              <a:buNone/>
              <a:defRPr sz="1600" baseline="0"/>
            </a:lvl1pPr>
          </a:lstStyle>
          <a:p>
            <a:pPr lvl="0"/>
            <a:r>
              <a:rPr lang="de-CH" dirty="0"/>
              <a:t>Speaker Details</a:t>
            </a:r>
          </a:p>
        </p:txBody>
      </p:sp>
    </p:spTree>
    <p:extLst>
      <p:ext uri="{BB962C8B-B14F-4D97-AF65-F5344CB8AC3E}">
        <p14:creationId xmlns:p14="http://schemas.microsoft.com/office/powerpoint/2010/main" val="291425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50825" y="161442"/>
            <a:ext cx="8642350" cy="857250"/>
          </a:xfrm>
        </p:spPr>
        <p:txBody>
          <a:bodyPr/>
          <a:lstStyle>
            <a:lvl1pPr>
              <a:defRPr sz="3600"/>
            </a:lvl1pPr>
          </a:lstStyle>
          <a:p>
            <a:r>
              <a:rPr lang="en-US"/>
              <a:t>Click to edit Master title style</a:t>
            </a:r>
            <a:endParaRPr lang="de-CH" dirty="0"/>
          </a:p>
        </p:txBody>
      </p:sp>
      <p:sp>
        <p:nvSpPr>
          <p:cNvPr id="3" name="Inhaltsplatzhalter 2"/>
          <p:cNvSpPr>
            <a:spLocks noGrp="1"/>
          </p:cNvSpPr>
          <p:nvPr>
            <p:ph idx="1"/>
          </p:nvPr>
        </p:nvSpPr>
        <p:spPr>
          <a:xfrm>
            <a:off x="250825" y="1200150"/>
            <a:ext cx="8642350" cy="38198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CH"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739" y="4500431"/>
            <a:ext cx="955965" cy="560284"/>
          </a:xfrm>
          <a:prstGeom prst="rect">
            <a:avLst/>
          </a:prstGeom>
        </p:spPr>
      </p:pic>
    </p:spTree>
    <p:extLst>
      <p:ext uri="{BB962C8B-B14F-4D97-AF65-F5344CB8AC3E}">
        <p14:creationId xmlns:p14="http://schemas.microsoft.com/office/powerpoint/2010/main" val="1866764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titel">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20739" y="4500431"/>
            <a:ext cx="955965" cy="560284"/>
          </a:xfrm>
          <a:prstGeom prst="rect">
            <a:avLst/>
          </a:prstGeom>
        </p:spPr>
      </p:pic>
      <p:sp>
        <p:nvSpPr>
          <p:cNvPr id="8" name="Rechteck 7"/>
          <p:cNvSpPr/>
          <p:nvPr userDrawn="1"/>
        </p:nvSpPr>
        <p:spPr>
          <a:xfrm>
            <a:off x="-76200" y="1276350"/>
            <a:ext cx="9296400" cy="1295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Titelplatzhalter 1"/>
          <p:cNvSpPr>
            <a:spLocks noGrp="1"/>
          </p:cNvSpPr>
          <p:nvPr>
            <p:ph type="title" hasCustomPrompt="1"/>
          </p:nvPr>
        </p:nvSpPr>
        <p:spPr>
          <a:xfrm>
            <a:off x="533399" y="1365250"/>
            <a:ext cx="8077201" cy="1121025"/>
          </a:xfrm>
          <a:prstGeom prst="rect">
            <a:avLst/>
          </a:prstGeom>
        </p:spPr>
        <p:txBody>
          <a:bodyPr vert="horz" lIns="0" tIns="0" rIns="0" bIns="0" rtlCol="0" anchor="t" anchorCtr="0">
            <a:noAutofit/>
          </a:bodyPr>
          <a:lstStyle>
            <a:lvl1pPr>
              <a:defRPr/>
            </a:lvl1pPr>
          </a:lstStyle>
          <a:p>
            <a:r>
              <a:rPr lang="de-DE" dirty="0"/>
              <a:t>Title 1</a:t>
            </a:r>
            <a:br>
              <a:rPr lang="de-DE" dirty="0"/>
            </a:br>
            <a:r>
              <a:rPr lang="de-DE" dirty="0"/>
              <a:t>Title 2</a:t>
            </a:r>
            <a:endParaRPr lang="de-CH" dirty="0"/>
          </a:p>
        </p:txBody>
      </p:sp>
    </p:spTree>
    <p:extLst>
      <p:ext uri="{BB962C8B-B14F-4D97-AF65-F5344CB8AC3E}">
        <p14:creationId xmlns:p14="http://schemas.microsoft.com/office/powerpoint/2010/main" val="53766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93465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56153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1" y="1058665"/>
            <a:ext cx="8382001" cy="1585578"/>
          </a:xfrm>
        </p:spPr>
        <p:txBody>
          <a:bodyPr/>
          <a:lstStyle>
            <a:lvl1pPr>
              <a:lnSpc>
                <a:spcPct val="90000"/>
              </a:lnSpc>
              <a:defRPr lang="en-US" sz="2400" kern="1200" dirty="0" smtClean="0">
                <a:solidFill>
                  <a:schemeClr val="tx1"/>
                </a:solidFill>
                <a:effectLst>
                  <a:outerShdw blurRad="50800" dist="38100" dir="2700000" algn="tl" rotWithShape="0">
                    <a:prstClr val="black">
                      <a:alpha val="19000"/>
                    </a:prstClr>
                  </a:outerShdw>
                </a:effectLst>
                <a:latin typeface="+mn-lt"/>
                <a:ea typeface="+mn-ea"/>
                <a:cs typeface="+mn-cs"/>
              </a:defRPr>
            </a:lvl1pPr>
            <a:lvl2pPr>
              <a:lnSpc>
                <a:spcPct val="90000"/>
              </a:lnSpc>
              <a:defRPr/>
            </a:lvl2pPr>
            <a:lvl3pPr>
              <a:lnSpc>
                <a:spcPct val="90000"/>
              </a:lnSpc>
              <a:defRPr/>
            </a:lvl3pPr>
            <a:lvl4pPr>
              <a:lnSpc>
                <a:spcPct val="90000"/>
              </a:lnSpc>
              <a:defRPr/>
            </a:lvl4pPr>
            <a:lvl5pPr>
              <a:lnSpc>
                <a:spcPct val="90000"/>
              </a:lnSpc>
              <a:defRPr/>
            </a:lvl5pPr>
          </a:lstStyle>
          <a:p>
            <a:pPr marL="335726" lvl="0" indent="-335726" algn="l" defTabSz="685711" rtl="0" eaLnBrk="0" fontAlgn="base" latinLnBrk="0" hangingPunct="0">
              <a:lnSpc>
                <a:spcPct val="90000"/>
              </a:lnSpc>
              <a:spcBef>
                <a:spcPct val="30000"/>
              </a:spcBef>
              <a:spcAft>
                <a:spcPct val="0"/>
              </a:spcAft>
              <a:buClr>
                <a:schemeClr val="tx2"/>
              </a:buClr>
              <a:buFont typeface="Wingdings 2" pitchFamily="18" charset="2"/>
              <a:buBlip>
                <a:blip r:embed="rId2"/>
              </a:buBlip>
            </a:pPr>
            <a:r>
              <a:rPr lang="en-US"/>
              <a:t>Click to edit Master text styles</a:t>
            </a:r>
          </a:p>
          <a:p>
            <a:pPr marL="335726" lvl="1" indent="-335726" algn="l" defTabSz="685711" rtl="0" eaLnBrk="0" fontAlgn="base" latinLnBrk="0" hangingPunct="0">
              <a:lnSpc>
                <a:spcPct val="90000"/>
              </a:lnSpc>
              <a:spcBef>
                <a:spcPct val="30000"/>
              </a:spcBef>
              <a:spcAft>
                <a:spcPct val="0"/>
              </a:spcAft>
              <a:buClr>
                <a:schemeClr val="tx2"/>
              </a:buClr>
              <a:buFont typeface="Wingdings 2" pitchFamily="18" charset="2"/>
              <a:buBlip>
                <a:blip r:embed="rId2"/>
              </a:buBlip>
            </a:pPr>
            <a:r>
              <a:rPr lang="en-US"/>
              <a:t>Second level</a:t>
            </a:r>
          </a:p>
          <a:p>
            <a:pPr marL="335726" lvl="2" indent="-335726" algn="l" defTabSz="685711" rtl="0" eaLnBrk="0" fontAlgn="base" latinLnBrk="0" hangingPunct="0">
              <a:lnSpc>
                <a:spcPct val="90000"/>
              </a:lnSpc>
              <a:spcBef>
                <a:spcPct val="30000"/>
              </a:spcBef>
              <a:spcAft>
                <a:spcPct val="0"/>
              </a:spcAft>
              <a:buClr>
                <a:schemeClr val="tx2"/>
              </a:buClr>
              <a:buFont typeface="Wingdings 2" pitchFamily="18" charset="2"/>
              <a:buBlip>
                <a:blip r:embed="rId2"/>
              </a:buBlip>
            </a:pPr>
            <a:r>
              <a:rPr lang="en-US"/>
              <a:t>Third level</a:t>
            </a:r>
          </a:p>
          <a:p>
            <a:pPr marL="335726" lvl="3" indent="-335726" algn="l" defTabSz="685711" rtl="0" eaLnBrk="0" fontAlgn="base" latinLnBrk="0" hangingPunct="0">
              <a:lnSpc>
                <a:spcPct val="90000"/>
              </a:lnSpc>
              <a:spcBef>
                <a:spcPct val="30000"/>
              </a:spcBef>
              <a:spcAft>
                <a:spcPct val="0"/>
              </a:spcAft>
              <a:buClr>
                <a:schemeClr val="tx2"/>
              </a:buClr>
              <a:buFont typeface="Wingdings 2" pitchFamily="18" charset="2"/>
              <a:buBlip>
                <a:blip r:embed="rId2"/>
              </a:buBlip>
            </a:pPr>
            <a:r>
              <a:rPr lang="en-US"/>
              <a:t>Fourth level</a:t>
            </a:r>
          </a:p>
          <a:p>
            <a:pPr marL="335726" lvl="4" indent="-335726" algn="l" defTabSz="685711" rtl="0" eaLnBrk="0" fontAlgn="base" latinLnBrk="0" hangingPunct="0">
              <a:lnSpc>
                <a:spcPct val="90000"/>
              </a:lnSpc>
              <a:spcBef>
                <a:spcPct val="30000"/>
              </a:spcBef>
              <a:spcAft>
                <a:spcPct val="0"/>
              </a:spcAft>
              <a:buClr>
                <a:schemeClr val="tx2"/>
              </a:buClr>
              <a:buFont typeface="Wingdings 2" pitchFamily="18" charset="2"/>
              <a:buBlip>
                <a:blip r:embed="rId2"/>
              </a:buBlip>
            </a:pPr>
            <a:r>
              <a:rPr lang="en-US"/>
              <a:t>Fifth level</a:t>
            </a:r>
            <a:endParaRPr lang="en-US" dirty="0"/>
          </a:p>
        </p:txBody>
      </p:sp>
      <p:sp>
        <p:nvSpPr>
          <p:cNvPr id="4" name="Footer Placeholder 4"/>
          <p:cNvSpPr>
            <a:spLocks noGrp="1"/>
          </p:cNvSpPr>
          <p:nvPr>
            <p:ph type="ftr" sz="quarter" idx="11"/>
          </p:nvPr>
        </p:nvSpPr>
        <p:spPr>
          <a:xfrm>
            <a:off x="3224100" y="4869180"/>
            <a:ext cx="2895164" cy="273844"/>
          </a:xfrm>
          <a:prstGeom prst="rect">
            <a:avLst/>
          </a:prstGeom>
        </p:spPr>
        <p:txBody>
          <a:bodyPr/>
          <a:lstStyle>
            <a:lvl1pPr defTabSz="685653" fontAlgn="auto">
              <a:spcBef>
                <a:spcPts val="0"/>
              </a:spcBef>
              <a:spcAft>
                <a:spcPts val="0"/>
              </a:spcAft>
              <a:defRPr dirty="0">
                <a:latin typeface="+mn-lt"/>
              </a:defRPr>
            </a:lvl1pPr>
          </a:lstStyle>
          <a:p>
            <a:pPr>
              <a:defRPr/>
            </a:pPr>
            <a:r>
              <a:rPr lang="en-US">
                <a:solidFill>
                  <a:srgbClr val="FFFFFF"/>
                </a:solidFill>
              </a:rPr>
              <a:t>Microsoft Confidential</a:t>
            </a:r>
          </a:p>
        </p:txBody>
      </p:sp>
    </p:spTree>
    <p:extLst>
      <p:ext uri="{BB962C8B-B14F-4D97-AF65-F5344CB8AC3E}">
        <p14:creationId xmlns:p14="http://schemas.microsoft.com/office/powerpoint/2010/main" val="198885660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01929" y="891882"/>
            <a:ext cx="8740142" cy="1712456"/>
          </a:xfrm>
        </p:spPr>
        <p:txBody>
          <a:bodyPr>
            <a:spAutoFit/>
          </a:bodyPr>
          <a:lstStyle>
            <a:lvl3pPr>
              <a:defRPr sz="1765"/>
            </a:lvl3pPr>
            <a:lvl4pPr>
              <a:defRPr sz="1471"/>
            </a:lvl4pPr>
            <a:lvl5pPr>
              <a:defRPr sz="147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8484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8" descr="SCCM image grnd.psd"/>
          <p:cNvPicPr>
            <a:picLocks noChangeAspect="1"/>
          </p:cNvPicPr>
          <p:nvPr userDrawn="1"/>
        </p:nvPicPr>
        <p:blipFill>
          <a:blip r:embed="rId9">
            <a:extLst>
              <a:ext uri="{BEBA8EAE-BF5A-486C-A8C5-ECC9F3942E4B}">
                <a14:imgProps xmlns:a14="http://schemas.microsoft.com/office/drawing/2010/main">
                  <a14:imgLayer r:embed="rId10">
                    <a14:imgEffect>
                      <a14:colorTemperature colorTemp="11200"/>
                    </a14:imgEffect>
                    <a14:imgEffect>
                      <a14:saturation sat="0"/>
                    </a14:imgEffect>
                  </a14:imgLayer>
                </a14:imgProps>
              </a:ext>
            </a:extLst>
          </a:blip>
          <a:stretch>
            <a:fillRect/>
          </a:stretch>
        </p:blipFill>
        <p:spPr>
          <a:xfrm flipH="1">
            <a:off x="0" y="0"/>
            <a:ext cx="9143998" cy="5143498"/>
          </a:xfrm>
          <a:prstGeom prst="rect">
            <a:avLst/>
          </a:prstGeom>
        </p:spPr>
      </p:pic>
      <p:sp>
        <p:nvSpPr>
          <p:cNvPr id="2" name="Titelplatzhalter 1"/>
          <p:cNvSpPr>
            <a:spLocks noGrp="1"/>
          </p:cNvSpPr>
          <p:nvPr>
            <p:ph type="title"/>
          </p:nvPr>
        </p:nvSpPr>
        <p:spPr>
          <a:xfrm>
            <a:off x="250825" y="161442"/>
            <a:ext cx="8642350" cy="857250"/>
          </a:xfrm>
          <a:prstGeom prst="rect">
            <a:avLst/>
          </a:prstGeom>
        </p:spPr>
        <p:txBody>
          <a:bodyPr vert="horz" lIns="0" tIns="0" rIns="0" bIns="0" rtlCol="0" anchor="t" anchorCtr="0">
            <a:noAutofit/>
          </a:bodyPr>
          <a:lstStyle/>
          <a:p>
            <a:r>
              <a:rPr lang="de-DE" dirty="0"/>
              <a:t>Titelmasterformat durch Klicken bearbeiten</a:t>
            </a:r>
            <a:endParaRPr lang="de-CH" dirty="0"/>
          </a:p>
        </p:txBody>
      </p:sp>
      <p:sp>
        <p:nvSpPr>
          <p:cNvPr id="3" name="Textplatzhalter 2"/>
          <p:cNvSpPr>
            <a:spLocks noGrp="1"/>
          </p:cNvSpPr>
          <p:nvPr>
            <p:ph type="body" idx="1"/>
          </p:nvPr>
        </p:nvSpPr>
        <p:spPr>
          <a:xfrm>
            <a:off x="250825" y="1200150"/>
            <a:ext cx="8642350" cy="3819872"/>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Tree>
    <p:extLst>
      <p:ext uri="{BB962C8B-B14F-4D97-AF65-F5344CB8AC3E}">
        <p14:creationId xmlns:p14="http://schemas.microsoft.com/office/powerpoint/2010/main" val="1261113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3600" kern="1200">
          <a:solidFill>
            <a:schemeClr val="bg1">
              <a:lumMod val="85000"/>
            </a:schemeClr>
          </a:solidFill>
          <a:latin typeface="Segoe UI Light" pitchFamily="34" charset="0"/>
          <a:ea typeface="Segoe UI" pitchFamily="34" charset="0"/>
          <a:cs typeface="Segoe UI" pitchFamily="34" charset="0"/>
        </a:defRPr>
      </a:lvl1pPr>
    </p:titleStyle>
    <p:bodyStyle>
      <a:lvl1pPr marL="355600" indent="-355600" algn="l" defTabSz="914400" rtl="0" eaLnBrk="1" latinLnBrk="0" hangingPunct="1">
        <a:spcBef>
          <a:spcPct val="20000"/>
        </a:spcBef>
        <a:buFont typeface="Symbol" pitchFamily="18" charset="2"/>
        <a:buChar char="-"/>
        <a:defRPr sz="2600" kern="1200">
          <a:solidFill>
            <a:schemeClr val="bg1">
              <a:lumMod val="85000"/>
            </a:schemeClr>
          </a:solidFill>
          <a:latin typeface="Segoe UI Light" pitchFamily="34" charset="0"/>
          <a:ea typeface="Segoe UI" pitchFamily="34" charset="0"/>
          <a:cs typeface="Segoe UI" pitchFamily="34" charset="0"/>
        </a:defRPr>
      </a:lvl1pPr>
      <a:lvl2pPr marL="719138" indent="-363538" algn="l" defTabSz="914400" rtl="0" eaLnBrk="1" latinLnBrk="0" hangingPunct="1">
        <a:spcBef>
          <a:spcPct val="20000"/>
        </a:spcBef>
        <a:buFont typeface="Symbol" pitchFamily="18" charset="2"/>
        <a:buChar char="-"/>
        <a:defRPr sz="2400" kern="1200">
          <a:solidFill>
            <a:schemeClr val="bg1">
              <a:lumMod val="85000"/>
            </a:schemeClr>
          </a:solidFill>
          <a:latin typeface="Segoe UI Light" pitchFamily="34" charset="0"/>
          <a:ea typeface="Segoe UI" pitchFamily="34" charset="0"/>
          <a:cs typeface="Segoe UI" pitchFamily="34" charset="0"/>
        </a:defRPr>
      </a:lvl2pPr>
      <a:lvl3pPr marL="1074738" indent="-355600" algn="l" defTabSz="914400" rtl="0" eaLnBrk="1" latinLnBrk="0" hangingPunct="1">
        <a:spcBef>
          <a:spcPct val="20000"/>
        </a:spcBef>
        <a:buFont typeface="Symbol" pitchFamily="18" charset="2"/>
        <a:buChar char="-"/>
        <a:defRPr sz="2200" kern="1200">
          <a:solidFill>
            <a:schemeClr val="bg1">
              <a:lumMod val="85000"/>
            </a:schemeClr>
          </a:solidFill>
          <a:latin typeface="Segoe UI Light" pitchFamily="34" charset="0"/>
          <a:ea typeface="Segoe UI" pitchFamily="34" charset="0"/>
          <a:cs typeface="Segoe UI" pitchFamily="34" charset="0"/>
        </a:defRPr>
      </a:lvl3pPr>
      <a:lvl4pPr marL="1436688" indent="-361950" algn="l" defTabSz="914400" rtl="0" eaLnBrk="1" latinLnBrk="0" hangingPunct="1">
        <a:spcBef>
          <a:spcPct val="20000"/>
        </a:spcBef>
        <a:buFont typeface="Symbol" pitchFamily="18" charset="2"/>
        <a:buChar char="-"/>
        <a:defRPr sz="2000" kern="1200">
          <a:solidFill>
            <a:schemeClr val="bg1">
              <a:lumMod val="85000"/>
            </a:schemeClr>
          </a:solidFill>
          <a:latin typeface="Segoe UI Light" pitchFamily="34" charset="0"/>
          <a:ea typeface="Segoe UI" pitchFamily="34" charset="0"/>
          <a:cs typeface="Segoe UI" pitchFamily="34" charset="0"/>
        </a:defRPr>
      </a:lvl4pPr>
      <a:lvl5pPr marL="1793875" indent="-357188" algn="l" defTabSz="914400" rtl="0" eaLnBrk="1" latinLnBrk="0" hangingPunct="1">
        <a:spcBef>
          <a:spcPct val="20000"/>
        </a:spcBef>
        <a:buFont typeface="Symbol" pitchFamily="18" charset="2"/>
        <a:buChar char="-"/>
        <a:defRPr sz="2000" kern="1200">
          <a:solidFill>
            <a:schemeClr val="bg1">
              <a:lumMod val="85000"/>
            </a:schemeClr>
          </a:solidFill>
          <a:latin typeface="Segoe UI Light"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efanroth.net/" TargetMode="External"/><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hellshell.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blog.jhnr.ch/"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jp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diagramData" Target="../diagrams/data1.xml"/><Relationship Id="rId21" Type="http://schemas.openxmlformats.org/officeDocument/2006/relationships/image" Target="../media/image27.png"/><Relationship Id="rId7" Type="http://schemas.microsoft.com/office/2007/relationships/diagramDrawing" Target="../diagrams/drawing1.xml"/><Relationship Id="rId12" Type="http://schemas.microsoft.com/office/2007/relationships/diagramDrawing" Target="../diagrams/drawing2.xml"/><Relationship Id="rId17" Type="http://schemas.openxmlformats.org/officeDocument/2006/relationships/image" Target="../media/image23.png"/><Relationship Id="rId25" Type="http://schemas.openxmlformats.org/officeDocument/2006/relationships/image" Target="../media/image31.jpeg"/><Relationship Id="rId2" Type="http://schemas.openxmlformats.org/officeDocument/2006/relationships/notesSlide" Target="../notesSlides/notesSlide10.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image" Target="../media/image30.jpeg"/><Relationship Id="rId5" Type="http://schemas.openxmlformats.org/officeDocument/2006/relationships/diagramQuickStyle" Target="../diagrams/quickStyle1.xml"/><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diagramQuickStyle" Target="../diagrams/quickStyle2.xml"/><Relationship Id="rId19" Type="http://schemas.openxmlformats.org/officeDocument/2006/relationships/image" Target="../media/image25.png"/><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20.png"/><Relationship Id="rId22"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5.png"/><Relationship Id="rId7"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hyperlink" Target="https://blogs.technet.microsoft.com/msoms/2016/07/21/bring-your-custom-json-data-to-log-analytics-oms-with-twitter-data-example/" TargetMode="External"/><Relationship Id="rId3" Type="http://schemas.openxmlformats.org/officeDocument/2006/relationships/hyperlink" Target="https://github.com/Microsoft/OMS-Agent-for-Linux/blob/master/docs/OMS-Agent-for-Linux.md#install-the-oms-agent-for-linux" TargetMode="External"/><Relationship Id="rId7" Type="http://schemas.openxmlformats.org/officeDocument/2006/relationships/hyperlink" Target="https://blogs.technet.microsoft.com/msoms/2016/02/09/1474/"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blogs.technet.microsoft.com/msoms/2016/05/12/syslog-collection-in-operations-management-suite/" TargetMode="External"/><Relationship Id="rId5" Type="http://schemas.openxmlformats.org/officeDocument/2006/relationships/hyperlink" Target="https://blogs.technet.microsoft.com/msoms/2016/07/14/bring-your-custom-collectd-metrics-into-the-oms-log-analytics-platform/" TargetMode="External"/><Relationship Id="rId4" Type="http://schemas.openxmlformats.org/officeDocument/2006/relationships/hyperlink" Target="https://github.com/Microsoft/OMS-Agent-for-Linux/blob/master/docs/Troubleshooting.md" TargetMode="External"/><Relationship Id="rId9" Type="http://schemas.openxmlformats.org/officeDocument/2006/relationships/hyperlink" Target="https://gallery.technet.microsoft.com/Inside-the-Operations-2928e342"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jpeg"/><Relationship Id="rId18" Type="http://schemas.openxmlformats.org/officeDocument/2006/relationships/image" Target="../media/image66.jpg"/><Relationship Id="rId3" Type="http://schemas.openxmlformats.org/officeDocument/2006/relationships/image" Target="../media/image51.png"/><Relationship Id="rId7" Type="http://schemas.openxmlformats.org/officeDocument/2006/relationships/image" Target="../media/image55.jpg"/><Relationship Id="rId12" Type="http://schemas.openxmlformats.org/officeDocument/2006/relationships/image" Target="../media/image60.jpeg"/><Relationship Id="rId17" Type="http://schemas.openxmlformats.org/officeDocument/2006/relationships/image" Target="../media/image65.png"/><Relationship Id="rId2" Type="http://schemas.openxmlformats.org/officeDocument/2006/relationships/notesSlide" Target="../notesSlides/notesSlide26.xml"/><Relationship Id="rId16"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54.jpeg"/><Relationship Id="rId11" Type="http://schemas.openxmlformats.org/officeDocument/2006/relationships/image" Target="../media/image59.jpe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jpg"/><Relationship Id="rId19" Type="http://schemas.openxmlformats.org/officeDocument/2006/relationships/image" Target="../media/image67.png"/><Relationship Id="rId4" Type="http://schemas.openxmlformats.org/officeDocument/2006/relationships/image" Target="../media/image52.jpg"/><Relationship Id="rId9" Type="http://schemas.openxmlformats.org/officeDocument/2006/relationships/image" Target="../media/image57.png"/><Relationship Id="rId14" Type="http://schemas.openxmlformats.org/officeDocument/2006/relationships/image" Target="../media/image6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chor="ctr"/>
          <a:lstStyle/>
          <a:p>
            <a:r>
              <a:rPr lang="en-US" dirty="0"/>
              <a:t>Linux + SCOM + OMS = </a:t>
            </a:r>
            <a:endParaRPr lang="de-DE" dirty="0"/>
          </a:p>
        </p:txBody>
      </p:sp>
      <p:sp>
        <p:nvSpPr>
          <p:cNvPr id="3" name="Textplatzhalter 2"/>
          <p:cNvSpPr>
            <a:spLocks noGrp="1"/>
          </p:cNvSpPr>
          <p:nvPr>
            <p:ph type="body" sz="quarter" idx="10"/>
          </p:nvPr>
        </p:nvSpPr>
        <p:spPr>
          <a:xfrm>
            <a:off x="533399" y="2743200"/>
            <a:ext cx="3822577" cy="1143000"/>
          </a:xfrm>
        </p:spPr>
        <p:txBody>
          <a:bodyPr/>
          <a:lstStyle/>
          <a:p>
            <a:r>
              <a:rPr lang="en-US" dirty="0"/>
              <a:t>Stefan Roth | itnetX</a:t>
            </a:r>
          </a:p>
          <a:p>
            <a:r>
              <a:rPr lang="en-US" dirty="0"/>
              <a:t>Cloud Architect</a:t>
            </a:r>
          </a:p>
          <a:p>
            <a:r>
              <a:rPr lang="en-US" dirty="0"/>
              <a:t>Microsoft Most Valuable Professional (MVP)</a:t>
            </a:r>
          </a:p>
          <a:p>
            <a:endParaRPr lang="en-US" dirty="0"/>
          </a:p>
          <a:p>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491630"/>
            <a:ext cx="813990" cy="737678"/>
          </a:xfrm>
          <a:prstGeom prst="rect">
            <a:avLst/>
          </a:prstGeom>
        </p:spPr>
      </p:pic>
      <p:sp>
        <p:nvSpPr>
          <p:cNvPr id="5" name="Textplatzhalter 2"/>
          <p:cNvSpPr txBox="1">
            <a:spLocks/>
          </p:cNvSpPr>
          <p:nvPr/>
        </p:nvSpPr>
        <p:spPr>
          <a:xfrm>
            <a:off x="4644008" y="2743200"/>
            <a:ext cx="3822577" cy="1143000"/>
          </a:xfrm>
          <a:prstGeom prst="rect">
            <a:avLst/>
          </a:prstGeom>
        </p:spPr>
        <p:txBody>
          <a:bodyPr vert="horz" lIns="0" tIns="0" rIns="0" bIns="0" rtlCol="0">
            <a:noAutofit/>
          </a:bodyPr>
          <a:lstStyle>
            <a:lvl1pPr marL="0" indent="0" algn="l" defTabSz="914400" rtl="0" eaLnBrk="1" latinLnBrk="0" hangingPunct="1">
              <a:spcBef>
                <a:spcPct val="20000"/>
              </a:spcBef>
              <a:buFont typeface="Symbol" pitchFamily="18" charset="2"/>
              <a:buNone/>
              <a:defRPr sz="1600" kern="1200" baseline="0">
                <a:solidFill>
                  <a:schemeClr val="bg1">
                    <a:lumMod val="85000"/>
                  </a:schemeClr>
                </a:solidFill>
                <a:latin typeface="Segoe UI Light" pitchFamily="34" charset="0"/>
                <a:ea typeface="Segoe UI" pitchFamily="34" charset="0"/>
                <a:cs typeface="Segoe UI" pitchFamily="34" charset="0"/>
              </a:defRPr>
            </a:lvl1pPr>
            <a:lvl2pPr marL="719138" indent="-363538" algn="l" defTabSz="914400" rtl="0" eaLnBrk="1" latinLnBrk="0" hangingPunct="1">
              <a:spcBef>
                <a:spcPct val="20000"/>
              </a:spcBef>
              <a:buFont typeface="Symbol" pitchFamily="18" charset="2"/>
              <a:buChar char="-"/>
              <a:defRPr sz="2400" kern="1200">
                <a:solidFill>
                  <a:schemeClr val="bg1">
                    <a:lumMod val="85000"/>
                  </a:schemeClr>
                </a:solidFill>
                <a:latin typeface="Segoe UI Light" pitchFamily="34" charset="0"/>
                <a:ea typeface="Segoe UI" pitchFamily="34" charset="0"/>
                <a:cs typeface="Segoe UI" pitchFamily="34" charset="0"/>
              </a:defRPr>
            </a:lvl2pPr>
            <a:lvl3pPr marL="1074738" indent="-355600" algn="l" defTabSz="914400" rtl="0" eaLnBrk="1" latinLnBrk="0" hangingPunct="1">
              <a:spcBef>
                <a:spcPct val="20000"/>
              </a:spcBef>
              <a:buFont typeface="Symbol" pitchFamily="18" charset="2"/>
              <a:buChar char="-"/>
              <a:defRPr sz="2200" kern="1200">
                <a:solidFill>
                  <a:schemeClr val="bg1">
                    <a:lumMod val="85000"/>
                  </a:schemeClr>
                </a:solidFill>
                <a:latin typeface="Segoe UI Light" pitchFamily="34" charset="0"/>
                <a:ea typeface="Segoe UI" pitchFamily="34" charset="0"/>
                <a:cs typeface="Segoe UI" pitchFamily="34" charset="0"/>
              </a:defRPr>
            </a:lvl3pPr>
            <a:lvl4pPr marL="1436688" indent="-361950" algn="l" defTabSz="914400" rtl="0" eaLnBrk="1" latinLnBrk="0" hangingPunct="1">
              <a:spcBef>
                <a:spcPct val="20000"/>
              </a:spcBef>
              <a:buFont typeface="Symbol" pitchFamily="18" charset="2"/>
              <a:buChar char="-"/>
              <a:defRPr sz="2000" kern="1200">
                <a:solidFill>
                  <a:schemeClr val="bg1">
                    <a:lumMod val="85000"/>
                  </a:schemeClr>
                </a:solidFill>
                <a:latin typeface="Segoe UI Light" pitchFamily="34" charset="0"/>
                <a:ea typeface="Segoe UI" pitchFamily="34" charset="0"/>
                <a:cs typeface="Segoe UI" pitchFamily="34" charset="0"/>
              </a:defRPr>
            </a:lvl4pPr>
            <a:lvl5pPr marL="1793875" indent="-357188" algn="l" defTabSz="914400" rtl="0" eaLnBrk="1" latinLnBrk="0" hangingPunct="1">
              <a:spcBef>
                <a:spcPct val="20000"/>
              </a:spcBef>
              <a:buFont typeface="Symbol" pitchFamily="18" charset="2"/>
              <a:buChar char="-"/>
              <a:defRPr sz="2000" kern="1200">
                <a:solidFill>
                  <a:schemeClr val="bg1">
                    <a:lumMod val="85000"/>
                  </a:schemeClr>
                </a:solidFill>
                <a:latin typeface="Segoe UI Light"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Stefan Johner | itnetX</a:t>
            </a:r>
          </a:p>
          <a:p>
            <a:r>
              <a:rPr lang="en-US" dirty="0"/>
              <a:t>Cloud Architect</a:t>
            </a:r>
          </a:p>
          <a:p>
            <a:endParaRPr lang="en-US" dirty="0"/>
          </a:p>
        </p:txBody>
      </p:sp>
    </p:spTree>
    <p:extLst>
      <p:ext uri="{BB962C8B-B14F-4D97-AF65-F5344CB8AC3E}">
        <p14:creationId xmlns:p14="http://schemas.microsoft.com/office/powerpoint/2010/main" val="530775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30 SAC (30 Seconds Audience Check)</a:t>
            </a:r>
          </a:p>
        </p:txBody>
      </p:sp>
      <p:sp>
        <p:nvSpPr>
          <p:cNvPr id="3" name="Content Placeholder 2"/>
          <p:cNvSpPr>
            <a:spLocks noGrp="1"/>
          </p:cNvSpPr>
          <p:nvPr>
            <p:ph idx="1"/>
          </p:nvPr>
        </p:nvSpPr>
        <p:spPr>
          <a:xfrm>
            <a:off x="222915" y="915566"/>
            <a:ext cx="8642350" cy="3964162"/>
          </a:xfrm>
        </p:spPr>
        <p:txBody>
          <a:bodyPr vert="horz" lIns="0" tIns="0" rIns="0" bIns="0" rtlCol="0">
            <a:spAutoFit/>
          </a:bodyPr>
          <a:lstStyle/>
          <a:p>
            <a:pPr>
              <a:buFont typeface="Wingdings" panose="05000000000000000000" pitchFamily="2" charset="2"/>
              <a:buChar char="§"/>
            </a:pPr>
            <a:r>
              <a:rPr lang="en-US" sz="3200" dirty="0"/>
              <a:t>Who is using SCOM &amp; Unix/Linux monitoring?</a:t>
            </a:r>
          </a:p>
          <a:p>
            <a:pPr>
              <a:buFont typeface="Wingdings" panose="05000000000000000000" pitchFamily="2" charset="2"/>
              <a:buChar char="§"/>
            </a:pPr>
            <a:r>
              <a:rPr lang="en-US" sz="3200" dirty="0"/>
              <a:t>Who is using OMS &amp; Unix/Linux agent?</a:t>
            </a:r>
          </a:p>
          <a:p>
            <a:pPr>
              <a:buFont typeface="Wingdings" panose="05000000000000000000" pitchFamily="2" charset="2"/>
              <a:buChar char="§"/>
            </a:pPr>
            <a:r>
              <a:rPr lang="en-US" sz="3200" dirty="0"/>
              <a:t>Who is using OMS in production?</a:t>
            </a:r>
          </a:p>
          <a:p>
            <a:pPr>
              <a:buFont typeface="Wingdings" panose="05000000000000000000" pitchFamily="2" charset="2"/>
              <a:buChar char="§"/>
            </a:pPr>
            <a:r>
              <a:rPr lang="en-US" sz="3200" dirty="0"/>
              <a:t>Who does not know either SCOM or OMS?</a:t>
            </a:r>
          </a:p>
          <a:p>
            <a:pPr lvl="1">
              <a:buFont typeface="Wingdings" panose="05000000000000000000" pitchFamily="2" charset="2"/>
              <a:buChar char="§"/>
            </a:pPr>
            <a:r>
              <a:rPr lang="en-US" sz="3000" dirty="0"/>
              <a:t>This is a level 300 session</a:t>
            </a:r>
          </a:p>
          <a:p>
            <a:pPr lvl="1">
              <a:buFont typeface="Wingdings" panose="05000000000000000000" pitchFamily="2" charset="2"/>
              <a:buChar char="§"/>
            </a:pPr>
            <a:r>
              <a:rPr lang="en-US" sz="3000" dirty="0"/>
              <a:t>Slide / Demo ratio </a:t>
            </a:r>
            <a:r>
              <a:rPr lang="en-US" sz="3000" b="1" dirty="0"/>
              <a:t>2.83 : 1</a:t>
            </a:r>
          </a:p>
          <a:p>
            <a:pPr>
              <a:buFont typeface="Wingdings" panose="05000000000000000000" pitchFamily="2" charset="2"/>
              <a:buChar char="§"/>
            </a:pPr>
            <a:r>
              <a:rPr lang="en-US" sz="3200" dirty="0"/>
              <a:t>Who is already bored </a:t>
            </a:r>
            <a:r>
              <a:rPr lang="en-US" sz="3200" dirty="0">
                <a:sym typeface="Wingdings" panose="05000000000000000000" pitchFamily="2" charset="2"/>
              </a:rPr>
              <a:t>?</a:t>
            </a:r>
            <a:endParaRPr lang="en-US" sz="3200" dirty="0"/>
          </a:p>
        </p:txBody>
      </p:sp>
    </p:spTree>
    <p:extLst>
      <p:ext uri="{BB962C8B-B14F-4D97-AF65-F5344CB8AC3E}">
        <p14:creationId xmlns:p14="http://schemas.microsoft.com/office/powerpoint/2010/main" val="1014043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283968" y="915566"/>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dirty="0">
                <a:gradFill>
                  <a:gsLst>
                    <a:gs pos="0">
                      <a:srgbClr val="FFFFFF"/>
                    </a:gs>
                    <a:gs pos="100000">
                      <a:srgbClr val="FFFFFF"/>
                    </a:gs>
                  </a:gsLst>
                  <a:lin ang="5400000" scaled="0"/>
                </a:gradFill>
                <a:latin typeface="+mj-lt"/>
              </a:rPr>
              <a:t>Blogger</a:t>
            </a:r>
          </a:p>
          <a:p>
            <a:pPr algn="ctr" defTabSz="685647" fontAlgn="base">
              <a:spcBef>
                <a:spcPct val="0"/>
              </a:spcBef>
              <a:spcAft>
                <a:spcPct val="0"/>
              </a:spcAft>
            </a:pPr>
            <a:r>
              <a:rPr lang="en-US" sz="1100" dirty="0">
                <a:gradFill>
                  <a:gsLst>
                    <a:gs pos="0">
                      <a:srgbClr val="FFFFFF"/>
                    </a:gs>
                    <a:gs pos="100000">
                      <a:srgbClr val="FFFFFF"/>
                    </a:gs>
                  </a:gsLst>
                  <a:lin ang="5400000" scaled="0"/>
                </a:gradFill>
                <a:latin typeface="+mj-lt"/>
                <a:hlinkClick r:id="rId3"/>
              </a:rPr>
              <a:t>http://stefanroth.net</a:t>
            </a:r>
            <a:endParaRPr lang="en-US" sz="1100" dirty="0">
              <a:gradFill>
                <a:gsLst>
                  <a:gs pos="0">
                    <a:srgbClr val="FFFFFF"/>
                  </a:gs>
                  <a:gs pos="100000">
                    <a:srgbClr val="FFFFFF"/>
                  </a:gs>
                </a:gsLst>
                <a:lin ang="5400000" scaled="0"/>
              </a:gradFill>
              <a:latin typeface="+mj-lt"/>
            </a:endParaRPr>
          </a:p>
          <a:p>
            <a:pPr algn="ctr" defTabSz="685647" fontAlgn="base">
              <a:spcBef>
                <a:spcPct val="0"/>
              </a:spcBef>
              <a:spcAft>
                <a:spcPct val="0"/>
              </a:spcAft>
            </a:pPr>
            <a:r>
              <a:rPr lang="en-US" sz="1100" dirty="0">
                <a:gradFill>
                  <a:gsLst>
                    <a:gs pos="0">
                      <a:srgbClr val="FFFFFF"/>
                    </a:gs>
                    <a:gs pos="100000">
                      <a:srgbClr val="FFFFFF"/>
                    </a:gs>
                  </a:gsLst>
                  <a:lin ang="5400000" scaled="0"/>
                </a:gradFill>
                <a:latin typeface="+mj-lt"/>
                <a:hlinkClick r:id="rId4"/>
              </a:rPr>
              <a:t>http://hellshell.com</a:t>
            </a:r>
            <a:r>
              <a:rPr lang="en-US" sz="1100" dirty="0">
                <a:gradFill>
                  <a:gsLst>
                    <a:gs pos="0">
                      <a:srgbClr val="FFFFFF"/>
                    </a:gs>
                    <a:gs pos="100000">
                      <a:srgbClr val="FFFFFF"/>
                    </a:gs>
                  </a:gsLst>
                  <a:lin ang="5400000" scaled="0"/>
                </a:gradFill>
                <a:latin typeface="+mj-lt"/>
              </a:rPr>
              <a:t> </a:t>
            </a:r>
          </a:p>
          <a:p>
            <a:pPr algn="ctr" defTabSz="685647" fontAlgn="base">
              <a:spcBef>
                <a:spcPct val="0"/>
              </a:spcBef>
              <a:spcAft>
                <a:spcPct val="0"/>
              </a:spcAft>
            </a:pPr>
            <a:r>
              <a:rPr lang="en-US" dirty="0">
                <a:gradFill>
                  <a:gsLst>
                    <a:gs pos="0">
                      <a:srgbClr val="FFFFFF"/>
                    </a:gs>
                    <a:gs pos="100000">
                      <a:srgbClr val="FFFFFF"/>
                    </a:gs>
                  </a:gsLst>
                  <a:lin ang="5400000" scaled="0"/>
                </a:gradFill>
                <a:latin typeface="+mj-lt"/>
              </a:rPr>
              <a:t>Co-Author</a:t>
            </a:r>
          </a:p>
          <a:p>
            <a:pPr algn="ctr" defTabSz="685647" fontAlgn="base">
              <a:spcBef>
                <a:spcPct val="0"/>
              </a:spcBef>
              <a:spcAft>
                <a:spcPct val="0"/>
              </a:spcAft>
            </a:pPr>
            <a:endParaRPr lang="nl-NL" sz="1100" dirty="0">
              <a:gradFill>
                <a:gsLst>
                  <a:gs pos="0">
                    <a:srgbClr val="FFFFFF"/>
                  </a:gs>
                  <a:gs pos="100000">
                    <a:srgbClr val="FFFFFF"/>
                  </a:gs>
                </a:gsLst>
                <a:lin ang="5400000" scaled="0"/>
              </a:gradFill>
              <a:latin typeface="+mj-lt"/>
            </a:endParaRPr>
          </a:p>
        </p:txBody>
      </p:sp>
      <p:sp>
        <p:nvSpPr>
          <p:cNvPr id="6" name="Rectangle 5"/>
          <p:cNvSpPr/>
          <p:nvPr/>
        </p:nvSpPr>
        <p:spPr bwMode="auto">
          <a:xfrm>
            <a:off x="4283968" y="2574780"/>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endParaRPr lang="nl-NL" dirty="0">
              <a:gradFill>
                <a:gsLst>
                  <a:gs pos="0">
                    <a:srgbClr val="FFFFFF"/>
                  </a:gs>
                  <a:gs pos="100000">
                    <a:srgbClr val="FFFFFF"/>
                  </a:gs>
                </a:gsLst>
                <a:lin ang="5400000" scaled="0"/>
              </a:gradFill>
            </a:endParaRPr>
          </a:p>
        </p:txBody>
      </p:sp>
      <p:sp>
        <p:nvSpPr>
          <p:cNvPr id="7" name="Rectangle 6"/>
          <p:cNvSpPr/>
          <p:nvPr/>
        </p:nvSpPr>
        <p:spPr bwMode="auto">
          <a:xfrm>
            <a:off x="6070920" y="915566"/>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endParaRPr lang="nl-NL" sz="1471" dirty="0">
              <a:gradFill>
                <a:gsLst>
                  <a:gs pos="0">
                    <a:srgbClr val="FFFFFF"/>
                  </a:gs>
                  <a:gs pos="100000">
                    <a:srgbClr val="FFFFFF"/>
                  </a:gs>
                </a:gsLst>
                <a:lin ang="5400000" scaled="0"/>
              </a:gradFill>
            </a:endParaRPr>
          </a:p>
        </p:txBody>
      </p:sp>
      <p:sp>
        <p:nvSpPr>
          <p:cNvPr id="8" name="Rectangle 7"/>
          <p:cNvSpPr/>
          <p:nvPr/>
        </p:nvSpPr>
        <p:spPr bwMode="auto">
          <a:xfrm>
            <a:off x="6070919" y="2574780"/>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dirty="0">
                <a:gradFill>
                  <a:gsLst>
                    <a:gs pos="0">
                      <a:srgbClr val="FFFFFF"/>
                    </a:gs>
                    <a:gs pos="100000">
                      <a:srgbClr val="FFFFFF"/>
                    </a:gs>
                  </a:gsLst>
                  <a:lin ang="5400000" scaled="0"/>
                </a:gradFill>
              </a:rPr>
              <a:t>Twitter</a:t>
            </a:r>
          </a:p>
          <a:p>
            <a:pPr algn="ctr" defTabSz="685647" fontAlgn="base">
              <a:spcBef>
                <a:spcPct val="0"/>
              </a:spcBef>
              <a:spcAft>
                <a:spcPct val="0"/>
              </a:spcAft>
            </a:pPr>
            <a:r>
              <a:rPr lang="en-US" sz="1324" dirty="0">
                <a:gradFill>
                  <a:gsLst>
                    <a:gs pos="0">
                      <a:srgbClr val="FFFFFF"/>
                    </a:gs>
                    <a:gs pos="100000">
                      <a:srgbClr val="FFFFFF"/>
                    </a:gs>
                  </a:gsLst>
                  <a:lin ang="5400000" scaled="0"/>
                </a:gradFill>
              </a:rPr>
              <a:t>@</a:t>
            </a:r>
            <a:r>
              <a:rPr lang="en-US" sz="1324" dirty="0" err="1">
                <a:gradFill>
                  <a:gsLst>
                    <a:gs pos="0">
                      <a:srgbClr val="FFFFFF"/>
                    </a:gs>
                    <a:gs pos="100000">
                      <a:srgbClr val="FFFFFF"/>
                    </a:gs>
                  </a:gsLst>
                  <a:lin ang="5400000" scaled="0"/>
                </a:gradFill>
              </a:rPr>
              <a:t>stefanroth_net</a:t>
            </a:r>
            <a:endParaRPr lang="en-US" sz="1324" dirty="0">
              <a:gradFill>
                <a:gsLst>
                  <a:gs pos="0">
                    <a:srgbClr val="FFFFFF"/>
                  </a:gs>
                  <a:gs pos="100000">
                    <a:srgbClr val="FFFFFF"/>
                  </a:gs>
                </a:gsLst>
                <a:lin ang="5400000" scaled="0"/>
              </a:gradFill>
            </a:endParaRPr>
          </a:p>
          <a:p>
            <a:pPr algn="ctr" defTabSz="685647" fontAlgn="base">
              <a:spcBef>
                <a:spcPct val="0"/>
              </a:spcBef>
              <a:spcAft>
                <a:spcPct val="0"/>
              </a:spcAft>
            </a:pPr>
            <a:r>
              <a:rPr lang="en-US" sz="1324" dirty="0">
                <a:gradFill>
                  <a:gsLst>
                    <a:gs pos="0">
                      <a:srgbClr val="FFFFFF"/>
                    </a:gs>
                    <a:gs pos="100000">
                      <a:srgbClr val="FFFFFF"/>
                    </a:gs>
                  </a:gsLst>
                  <a:lin ang="5400000" scaled="0"/>
                </a:gradFill>
              </a:rPr>
              <a:t>@</a:t>
            </a:r>
            <a:r>
              <a:rPr lang="en-US" sz="1324" dirty="0" err="1">
                <a:gradFill>
                  <a:gsLst>
                    <a:gs pos="0">
                      <a:srgbClr val="FFFFFF"/>
                    </a:gs>
                    <a:gs pos="100000">
                      <a:srgbClr val="FFFFFF"/>
                    </a:gs>
                  </a:gsLst>
                  <a:lin ang="5400000" scaled="0"/>
                </a:gradFill>
              </a:rPr>
              <a:t>hellshell_com</a:t>
            </a:r>
            <a:endParaRPr lang="nl-NL" sz="1324" dirty="0">
              <a:gradFill>
                <a:gsLst>
                  <a:gs pos="0">
                    <a:srgbClr val="FFFFFF"/>
                  </a:gs>
                  <a:gs pos="100000">
                    <a:srgbClr val="FFFFFF"/>
                  </a:gs>
                </a:gsLst>
                <a:lin ang="5400000" scaled="0"/>
              </a:gradFill>
            </a:endParaRP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3588" y="3006663"/>
            <a:ext cx="1295400" cy="529611"/>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48400" y="1375325"/>
            <a:ext cx="1255526" cy="358225"/>
          </a:xfrm>
          <a:prstGeom prst="rect">
            <a:avLst/>
          </a:prstGeom>
        </p:spPr>
      </p:pic>
      <p:pic>
        <p:nvPicPr>
          <p:cNvPr id="9" name="Picture 8"/>
          <p:cNvPicPr>
            <a:picLocks noChangeAspect="1"/>
          </p:cNvPicPr>
          <p:nvPr/>
        </p:nvPicPr>
        <p:blipFill rotWithShape="1">
          <a:blip r:embed="rId7" cstate="print">
            <a:extLst>
              <a:ext uri="{28A0092B-C50C-407E-A947-70E740481C1C}">
                <a14:useLocalDpi xmlns:a14="http://schemas.microsoft.com/office/drawing/2010/main" val="0"/>
              </a:ext>
            </a:extLst>
          </a:blip>
          <a:srcRect l="7768" t="2325" r="10080"/>
          <a:stretch/>
        </p:blipFill>
        <p:spPr>
          <a:xfrm>
            <a:off x="1149763" y="915566"/>
            <a:ext cx="3028049" cy="3103401"/>
          </a:xfrm>
          <a:prstGeom prst="rect">
            <a:avLst/>
          </a:prstGeom>
        </p:spPr>
      </p:pic>
    </p:spTree>
    <p:extLst>
      <p:ext uri="{BB962C8B-B14F-4D97-AF65-F5344CB8AC3E}">
        <p14:creationId xmlns:p14="http://schemas.microsoft.com/office/powerpoint/2010/main" val="269502700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4283968" y="915566"/>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dirty="0">
                <a:gradFill>
                  <a:gsLst>
                    <a:gs pos="0">
                      <a:srgbClr val="FFFFFF"/>
                    </a:gs>
                    <a:gs pos="100000">
                      <a:srgbClr val="FFFFFF"/>
                    </a:gs>
                  </a:gsLst>
                  <a:lin ang="5400000" scaled="0"/>
                </a:gradFill>
                <a:latin typeface="+mj-lt"/>
              </a:rPr>
              <a:t>Blogger</a:t>
            </a:r>
          </a:p>
          <a:p>
            <a:pPr algn="ctr" defTabSz="685647" fontAlgn="base">
              <a:spcBef>
                <a:spcPct val="0"/>
              </a:spcBef>
              <a:spcAft>
                <a:spcPct val="0"/>
              </a:spcAft>
            </a:pPr>
            <a:r>
              <a:rPr lang="en-US" sz="1100" dirty="0">
                <a:solidFill>
                  <a:schemeClr val="bg1">
                    <a:lumMod val="95000"/>
                  </a:schemeClr>
                </a:solidFill>
                <a:latin typeface="+mj-lt"/>
                <a:hlinkClick r:id="rId3"/>
              </a:rPr>
              <a:t>https://blog.jhnr.ch</a:t>
            </a:r>
            <a:endParaRPr lang="en-US" sz="1100" dirty="0">
              <a:solidFill>
                <a:schemeClr val="bg1">
                  <a:lumMod val="95000"/>
                </a:schemeClr>
              </a:solidFill>
              <a:latin typeface="+mj-lt"/>
            </a:endParaRPr>
          </a:p>
          <a:p>
            <a:pPr algn="ctr" defTabSz="685647" fontAlgn="base">
              <a:spcBef>
                <a:spcPct val="0"/>
              </a:spcBef>
              <a:spcAft>
                <a:spcPct val="0"/>
              </a:spcAft>
            </a:pPr>
            <a:endParaRPr lang="en-US" sz="1100" dirty="0">
              <a:gradFill>
                <a:gsLst>
                  <a:gs pos="0">
                    <a:srgbClr val="FFFFFF"/>
                  </a:gs>
                  <a:gs pos="100000">
                    <a:srgbClr val="FFFFFF"/>
                  </a:gs>
                </a:gsLst>
                <a:lin ang="5400000" scaled="0"/>
              </a:gradFill>
              <a:latin typeface="+mj-lt"/>
            </a:endParaRPr>
          </a:p>
        </p:txBody>
      </p:sp>
      <p:sp>
        <p:nvSpPr>
          <p:cNvPr id="6" name="Rectangle 5"/>
          <p:cNvSpPr/>
          <p:nvPr/>
        </p:nvSpPr>
        <p:spPr bwMode="auto">
          <a:xfrm>
            <a:off x="4283968" y="2574780"/>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endParaRPr lang="nl-NL" dirty="0">
              <a:gradFill>
                <a:gsLst>
                  <a:gs pos="0">
                    <a:srgbClr val="FFFFFF"/>
                  </a:gs>
                  <a:gs pos="100000">
                    <a:srgbClr val="FFFFFF"/>
                  </a:gs>
                </a:gsLst>
                <a:lin ang="5400000" scaled="0"/>
              </a:gradFill>
            </a:endParaRPr>
          </a:p>
        </p:txBody>
      </p:sp>
      <p:sp>
        <p:nvSpPr>
          <p:cNvPr id="7" name="Rectangle 6"/>
          <p:cNvSpPr/>
          <p:nvPr/>
        </p:nvSpPr>
        <p:spPr bwMode="auto">
          <a:xfrm>
            <a:off x="6070920" y="915566"/>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endParaRPr lang="nl-NL" sz="1471" dirty="0">
              <a:gradFill>
                <a:gsLst>
                  <a:gs pos="0">
                    <a:srgbClr val="FFFFFF"/>
                  </a:gs>
                  <a:gs pos="100000">
                    <a:srgbClr val="FFFFFF"/>
                  </a:gs>
                </a:gsLst>
                <a:lin ang="5400000" scaled="0"/>
              </a:gradFill>
            </a:endParaRPr>
          </a:p>
        </p:txBody>
      </p:sp>
      <p:sp>
        <p:nvSpPr>
          <p:cNvPr id="8" name="Rectangle 7"/>
          <p:cNvSpPr/>
          <p:nvPr/>
        </p:nvSpPr>
        <p:spPr bwMode="auto">
          <a:xfrm>
            <a:off x="6070919" y="2574780"/>
            <a:ext cx="1574641" cy="1393379"/>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dirty="0">
                <a:gradFill>
                  <a:gsLst>
                    <a:gs pos="0">
                      <a:srgbClr val="FFFFFF"/>
                    </a:gs>
                    <a:gs pos="100000">
                      <a:srgbClr val="FFFFFF"/>
                    </a:gs>
                  </a:gsLst>
                  <a:lin ang="5400000" scaled="0"/>
                </a:gradFill>
              </a:rPr>
              <a:t>Twitter</a:t>
            </a:r>
          </a:p>
          <a:p>
            <a:pPr algn="ctr" defTabSz="685647" fontAlgn="base">
              <a:spcBef>
                <a:spcPct val="0"/>
              </a:spcBef>
              <a:spcAft>
                <a:spcPct val="0"/>
              </a:spcAft>
            </a:pPr>
            <a:r>
              <a:rPr lang="en-US" sz="1324" dirty="0">
                <a:gradFill>
                  <a:gsLst>
                    <a:gs pos="0">
                      <a:srgbClr val="FFFFFF"/>
                    </a:gs>
                    <a:gs pos="100000">
                      <a:srgbClr val="FFFFFF"/>
                    </a:gs>
                  </a:gsLst>
                  <a:lin ang="5400000" scaled="0"/>
                </a:gradFill>
              </a:rPr>
              <a:t>@</a:t>
            </a:r>
            <a:r>
              <a:rPr lang="en-US" sz="1324" dirty="0" err="1">
                <a:gradFill>
                  <a:gsLst>
                    <a:gs pos="0">
                      <a:srgbClr val="FFFFFF"/>
                    </a:gs>
                    <a:gs pos="100000">
                      <a:srgbClr val="FFFFFF"/>
                    </a:gs>
                  </a:gsLst>
                  <a:lin ang="5400000" scaled="0"/>
                </a:gradFill>
              </a:rPr>
              <a:t>JohnerStefan</a:t>
            </a:r>
            <a:endParaRPr lang="nl-NL" sz="1324" dirty="0">
              <a:gradFill>
                <a:gsLst>
                  <a:gs pos="0">
                    <a:srgbClr val="FFFFFF"/>
                  </a:gs>
                  <a:gs pos="100000">
                    <a:srgbClr val="FFFFFF"/>
                  </a:gs>
                </a:gsLst>
                <a:lin ang="5400000" scaled="0"/>
              </a:gradFill>
            </a:endParaRP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8400" y="1375325"/>
            <a:ext cx="1255526" cy="358225"/>
          </a:xfrm>
          <a:prstGeom prst="rect">
            <a:avLst/>
          </a:prstGeom>
        </p:spPr>
      </p:pic>
      <p:pic>
        <p:nvPicPr>
          <p:cNvPr id="3" name="Picture 2"/>
          <p:cNvPicPr>
            <a:picLocks noChangeAspect="1"/>
          </p:cNvPicPr>
          <p:nvPr/>
        </p:nvPicPr>
        <p:blipFill rotWithShape="1">
          <a:blip r:embed="rId5" cstate="print">
            <a:extLst>
              <a:ext uri="{28A0092B-C50C-407E-A947-70E740481C1C}">
                <a14:useLocalDpi xmlns:a14="http://schemas.microsoft.com/office/drawing/2010/main" val="0"/>
              </a:ext>
            </a:extLst>
          </a:blip>
          <a:srcRect l="12289" r="38695"/>
          <a:stretch/>
        </p:blipFill>
        <p:spPr>
          <a:xfrm>
            <a:off x="1149763" y="917965"/>
            <a:ext cx="2992570" cy="3052592"/>
          </a:xfrm>
          <a:prstGeom prst="rect">
            <a:avLst/>
          </a:prstGeom>
        </p:spPr>
      </p:pic>
    </p:spTree>
    <p:extLst>
      <p:ext uri="{BB962C8B-B14F-4D97-AF65-F5344CB8AC3E}">
        <p14:creationId xmlns:p14="http://schemas.microsoft.com/office/powerpoint/2010/main" val="249238663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Agenda</a:t>
            </a:r>
            <a:endParaRPr lang="de-DE" dirty="0"/>
          </a:p>
        </p:txBody>
      </p:sp>
      <p:sp>
        <p:nvSpPr>
          <p:cNvPr id="3" name="Inhaltsplatzhalter 2"/>
          <p:cNvSpPr>
            <a:spLocks noGrp="1"/>
          </p:cNvSpPr>
          <p:nvPr>
            <p:ph idx="1"/>
          </p:nvPr>
        </p:nvSpPr>
        <p:spPr>
          <a:xfrm>
            <a:off x="250825" y="1200150"/>
            <a:ext cx="8642350" cy="3570208"/>
          </a:xfrm>
        </p:spPr>
        <p:txBody>
          <a:bodyPr vert="horz" lIns="0" tIns="0" rIns="0" bIns="0" rtlCol="0">
            <a:spAutoFit/>
          </a:bodyPr>
          <a:lstStyle/>
          <a:p>
            <a:pPr>
              <a:buFont typeface="Wingdings" panose="05000000000000000000" pitchFamily="2" charset="2"/>
              <a:buChar char="§"/>
            </a:pPr>
            <a:r>
              <a:rPr lang="en-US" sz="4000" dirty="0"/>
              <a:t>SCOM X-Plat Overview</a:t>
            </a:r>
          </a:p>
          <a:p>
            <a:pPr>
              <a:buFont typeface="Wingdings" panose="05000000000000000000" pitchFamily="2" charset="2"/>
              <a:buChar char="§"/>
            </a:pPr>
            <a:r>
              <a:rPr lang="en-US" sz="4000" dirty="0"/>
              <a:t>SCOM 2016 What’s New</a:t>
            </a:r>
          </a:p>
          <a:p>
            <a:pPr>
              <a:buFont typeface="Wingdings" panose="05000000000000000000" pitchFamily="2" charset="2"/>
              <a:buChar char="§"/>
            </a:pPr>
            <a:r>
              <a:rPr lang="en-US" sz="4000" dirty="0"/>
              <a:t>OMS X-Plat Overview</a:t>
            </a:r>
          </a:p>
          <a:p>
            <a:pPr>
              <a:buFont typeface="Wingdings" panose="05000000000000000000" pitchFamily="2" charset="2"/>
              <a:buChar char="§"/>
            </a:pPr>
            <a:r>
              <a:rPr lang="en-US" sz="4000" dirty="0"/>
              <a:t>Demo, Demo, Demo</a:t>
            </a:r>
          </a:p>
          <a:p>
            <a:pPr>
              <a:buFont typeface="Wingdings" panose="05000000000000000000" pitchFamily="2" charset="2"/>
              <a:buChar char="§"/>
            </a:pPr>
            <a:endParaRPr lang="en-US" sz="4000" dirty="0"/>
          </a:p>
        </p:txBody>
      </p:sp>
    </p:spTree>
    <p:extLst>
      <p:ext uri="{BB962C8B-B14F-4D97-AF65-F5344CB8AC3E}">
        <p14:creationId xmlns:p14="http://schemas.microsoft.com/office/powerpoint/2010/main" val="855036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Once upon a Time…</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3688" y="843558"/>
            <a:ext cx="5792688" cy="41376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p:cNvSpPr txBox="1"/>
          <p:nvPr/>
        </p:nvSpPr>
        <p:spPr>
          <a:xfrm rot="20431959">
            <a:off x="399308" y="1455694"/>
            <a:ext cx="8736470" cy="1815882"/>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highlight>
                  <a:srgbClr val="00FF00"/>
                </a:highlight>
              </a:rPr>
              <a:t>Linux is not in the public domain. Linux is a cancer that attaches itself in an intellectual property sense to everything it touches. That's the way that the license works</a:t>
            </a:r>
          </a:p>
        </p:txBody>
      </p:sp>
      <p:sp>
        <p:nvSpPr>
          <p:cNvPr id="15" name="TextBox 14"/>
          <p:cNvSpPr txBox="1"/>
          <p:nvPr/>
        </p:nvSpPr>
        <p:spPr>
          <a:xfrm>
            <a:off x="683568" y="1700808"/>
            <a:ext cx="8209607" cy="1569660"/>
          </a:xfrm>
          <a:prstGeom prst="rect">
            <a:avLst/>
          </a:prstGeom>
          <a:noFill/>
        </p:spPr>
        <p:txBody>
          <a:bodyPr wrap="square" rtlCol="0">
            <a:spAutoFit/>
          </a:bodyPr>
          <a:lstStyle>
            <a:defPPr>
              <a:defRPr lang="de-DE"/>
            </a:defPPr>
            <a:lvl1pPr>
              <a:defRPr sz="2000" b="1">
                <a:solidFill>
                  <a:srgbClr val="FF0000"/>
                </a:solidFill>
                <a:effectLst>
                  <a:outerShdw blurRad="38100" dist="38100" dir="2700000" algn="tl">
                    <a:srgbClr val="000000">
                      <a:alpha val="43137"/>
                    </a:srgbClr>
                  </a:outerShdw>
                </a:effectLst>
                <a:highlight>
                  <a:srgbClr val="00FF00"/>
                </a:highlight>
              </a:defRPr>
            </a:lvl1pPr>
          </a:lstStyle>
          <a:p>
            <a:r>
              <a:rPr lang="en-US" sz="3200" dirty="0">
                <a:highlight>
                  <a:srgbClr val="00FFFF"/>
                </a:highlight>
              </a:rPr>
              <a:t>Linux is a cancer that attaches itself in an intellectual property sense to everything it touches.</a:t>
            </a:r>
          </a:p>
        </p:txBody>
      </p:sp>
      <p:sp>
        <p:nvSpPr>
          <p:cNvPr id="13" name="TextBox 12"/>
          <p:cNvSpPr txBox="1"/>
          <p:nvPr/>
        </p:nvSpPr>
        <p:spPr>
          <a:xfrm rot="1283756">
            <a:off x="1653515" y="1920138"/>
            <a:ext cx="7241246" cy="2062103"/>
          </a:xfrm>
          <a:prstGeom prst="rect">
            <a:avLst/>
          </a:prstGeom>
          <a:noFill/>
        </p:spPr>
        <p:txBody>
          <a:bodyPr wrap="square" rtlCol="0">
            <a:spAutoFit/>
          </a:bodyPr>
          <a:lstStyle/>
          <a:p>
            <a:endParaRPr lang="en-US" sz="3200" b="1" dirty="0">
              <a:solidFill>
                <a:srgbClr val="FF0000"/>
              </a:solidFill>
              <a:effectLst>
                <a:outerShdw blurRad="38100" dist="38100" dir="2700000" algn="tl">
                  <a:srgbClr val="000000">
                    <a:alpha val="43137"/>
                  </a:srgbClr>
                </a:outerShdw>
              </a:effectLst>
              <a:highlight>
                <a:srgbClr val="FFFF00"/>
              </a:highlight>
            </a:endParaRPr>
          </a:p>
          <a:p>
            <a:r>
              <a:rPr lang="en-US" sz="3200" b="1" dirty="0">
                <a:solidFill>
                  <a:srgbClr val="FF0000"/>
                </a:solidFill>
                <a:effectLst>
                  <a:outerShdw blurRad="38100" dist="38100" dir="2700000" algn="tl">
                    <a:srgbClr val="000000">
                      <a:alpha val="43137"/>
                    </a:srgbClr>
                  </a:outerShdw>
                </a:effectLst>
                <a:highlight>
                  <a:srgbClr val="FFFF00"/>
                </a:highlight>
              </a:rPr>
              <a:t>I'd rather use Windows and Internet Explorer in Hell than I'd use Linux and Mozilla Firefox in Heaven! </a:t>
            </a:r>
          </a:p>
        </p:txBody>
      </p:sp>
    </p:spTree>
    <p:extLst>
      <p:ext uri="{BB962C8B-B14F-4D97-AF65-F5344CB8AC3E}">
        <p14:creationId xmlns:p14="http://schemas.microsoft.com/office/powerpoint/2010/main" val="2196723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580">
                                          <p:stCondLst>
                                            <p:cond delay="0"/>
                                          </p:stCondLst>
                                        </p:cTn>
                                        <p:tgtEl>
                                          <p:spTgt spid="12"/>
                                        </p:tgtEl>
                                      </p:cBhvr>
                                    </p:animEffect>
                                    <p:anim calcmode="lin" valueType="num">
                                      <p:cBhvr>
                                        <p:cTn id="15"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20" dur="26">
                                          <p:stCondLst>
                                            <p:cond delay="650"/>
                                          </p:stCondLst>
                                        </p:cTn>
                                        <p:tgtEl>
                                          <p:spTgt spid="12"/>
                                        </p:tgtEl>
                                      </p:cBhvr>
                                      <p:to x="100000" y="60000"/>
                                    </p:animScale>
                                    <p:animScale>
                                      <p:cBhvr>
                                        <p:cTn id="21" dur="166" decel="50000">
                                          <p:stCondLst>
                                            <p:cond delay="676"/>
                                          </p:stCondLst>
                                        </p:cTn>
                                        <p:tgtEl>
                                          <p:spTgt spid="12"/>
                                        </p:tgtEl>
                                      </p:cBhvr>
                                      <p:to x="100000" y="100000"/>
                                    </p:animScale>
                                    <p:animScale>
                                      <p:cBhvr>
                                        <p:cTn id="22" dur="26">
                                          <p:stCondLst>
                                            <p:cond delay="1312"/>
                                          </p:stCondLst>
                                        </p:cTn>
                                        <p:tgtEl>
                                          <p:spTgt spid="12"/>
                                        </p:tgtEl>
                                      </p:cBhvr>
                                      <p:to x="100000" y="80000"/>
                                    </p:animScale>
                                    <p:animScale>
                                      <p:cBhvr>
                                        <p:cTn id="23" dur="166" decel="50000">
                                          <p:stCondLst>
                                            <p:cond delay="1338"/>
                                          </p:stCondLst>
                                        </p:cTn>
                                        <p:tgtEl>
                                          <p:spTgt spid="12"/>
                                        </p:tgtEl>
                                      </p:cBhvr>
                                      <p:to x="100000" y="100000"/>
                                    </p:animScale>
                                    <p:animScale>
                                      <p:cBhvr>
                                        <p:cTn id="24" dur="26">
                                          <p:stCondLst>
                                            <p:cond delay="1642"/>
                                          </p:stCondLst>
                                        </p:cTn>
                                        <p:tgtEl>
                                          <p:spTgt spid="12"/>
                                        </p:tgtEl>
                                      </p:cBhvr>
                                      <p:to x="100000" y="90000"/>
                                    </p:animScale>
                                    <p:animScale>
                                      <p:cBhvr>
                                        <p:cTn id="25" dur="166" decel="50000">
                                          <p:stCondLst>
                                            <p:cond delay="1668"/>
                                          </p:stCondLst>
                                        </p:cTn>
                                        <p:tgtEl>
                                          <p:spTgt spid="12"/>
                                        </p:tgtEl>
                                      </p:cBhvr>
                                      <p:to x="100000" y="100000"/>
                                    </p:animScale>
                                    <p:animScale>
                                      <p:cBhvr>
                                        <p:cTn id="26" dur="26">
                                          <p:stCondLst>
                                            <p:cond delay="1808"/>
                                          </p:stCondLst>
                                        </p:cTn>
                                        <p:tgtEl>
                                          <p:spTgt spid="12"/>
                                        </p:tgtEl>
                                      </p:cBhvr>
                                      <p:to x="100000" y="95000"/>
                                    </p:animScale>
                                    <p:animScale>
                                      <p:cBhvr>
                                        <p:cTn id="27" dur="166" decel="50000">
                                          <p:stCondLst>
                                            <p:cond delay="1834"/>
                                          </p:stCondLst>
                                        </p:cTn>
                                        <p:tgtEl>
                                          <p:spTgt spid="1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wipe(down)">
                                      <p:cBhvr>
                                        <p:cTn id="32" dur="580">
                                          <p:stCondLst>
                                            <p:cond delay="0"/>
                                          </p:stCondLst>
                                        </p:cTn>
                                        <p:tgtEl>
                                          <p:spTgt spid="15">
                                            <p:txEl>
                                              <p:pRg st="0" end="0"/>
                                            </p:txEl>
                                          </p:spTgt>
                                        </p:tgtEl>
                                      </p:cBhvr>
                                    </p:animEffect>
                                    <p:anim calcmode="lin" valueType="num">
                                      <p:cBhvr>
                                        <p:cTn id="33" dur="1822" tmFilter="0,0; 0.14,0.36; 0.43,0.73; 0.71,0.91; 1.0,1.0">
                                          <p:stCondLst>
                                            <p:cond delay="0"/>
                                          </p:stCondLst>
                                        </p:cTn>
                                        <p:tgtEl>
                                          <p:spTgt spid="15">
                                            <p:txEl>
                                              <p:pRg st="0" end="0"/>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15">
                                            <p:txEl>
                                              <p:pRg st="0" end="0"/>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15">
                                            <p:txEl>
                                              <p:pRg st="0" end="0"/>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15">
                                            <p:txEl>
                                              <p:pRg st="0" end="0"/>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15">
                                            <p:txEl>
                                              <p:pRg st="0" end="0"/>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15">
                                            <p:txEl>
                                              <p:pRg st="0" end="0"/>
                                            </p:txEl>
                                          </p:spTgt>
                                        </p:tgtEl>
                                      </p:cBhvr>
                                      <p:to x="100000" y="60000"/>
                                    </p:animScale>
                                    <p:animScale>
                                      <p:cBhvr>
                                        <p:cTn id="39" dur="166" decel="50000">
                                          <p:stCondLst>
                                            <p:cond delay="676"/>
                                          </p:stCondLst>
                                        </p:cTn>
                                        <p:tgtEl>
                                          <p:spTgt spid="15">
                                            <p:txEl>
                                              <p:pRg st="0" end="0"/>
                                            </p:txEl>
                                          </p:spTgt>
                                        </p:tgtEl>
                                      </p:cBhvr>
                                      <p:to x="100000" y="100000"/>
                                    </p:animScale>
                                    <p:animScale>
                                      <p:cBhvr>
                                        <p:cTn id="40" dur="26">
                                          <p:stCondLst>
                                            <p:cond delay="1312"/>
                                          </p:stCondLst>
                                        </p:cTn>
                                        <p:tgtEl>
                                          <p:spTgt spid="15">
                                            <p:txEl>
                                              <p:pRg st="0" end="0"/>
                                            </p:txEl>
                                          </p:spTgt>
                                        </p:tgtEl>
                                      </p:cBhvr>
                                      <p:to x="100000" y="80000"/>
                                    </p:animScale>
                                    <p:animScale>
                                      <p:cBhvr>
                                        <p:cTn id="41" dur="166" decel="50000">
                                          <p:stCondLst>
                                            <p:cond delay="1338"/>
                                          </p:stCondLst>
                                        </p:cTn>
                                        <p:tgtEl>
                                          <p:spTgt spid="15">
                                            <p:txEl>
                                              <p:pRg st="0" end="0"/>
                                            </p:txEl>
                                          </p:spTgt>
                                        </p:tgtEl>
                                      </p:cBhvr>
                                      <p:to x="100000" y="100000"/>
                                    </p:animScale>
                                    <p:animScale>
                                      <p:cBhvr>
                                        <p:cTn id="42" dur="26">
                                          <p:stCondLst>
                                            <p:cond delay="1642"/>
                                          </p:stCondLst>
                                        </p:cTn>
                                        <p:tgtEl>
                                          <p:spTgt spid="15">
                                            <p:txEl>
                                              <p:pRg st="0" end="0"/>
                                            </p:txEl>
                                          </p:spTgt>
                                        </p:tgtEl>
                                      </p:cBhvr>
                                      <p:to x="100000" y="90000"/>
                                    </p:animScale>
                                    <p:animScale>
                                      <p:cBhvr>
                                        <p:cTn id="43" dur="166" decel="50000">
                                          <p:stCondLst>
                                            <p:cond delay="1668"/>
                                          </p:stCondLst>
                                        </p:cTn>
                                        <p:tgtEl>
                                          <p:spTgt spid="15">
                                            <p:txEl>
                                              <p:pRg st="0" end="0"/>
                                            </p:txEl>
                                          </p:spTgt>
                                        </p:tgtEl>
                                      </p:cBhvr>
                                      <p:to x="100000" y="100000"/>
                                    </p:animScale>
                                    <p:animScale>
                                      <p:cBhvr>
                                        <p:cTn id="44" dur="26">
                                          <p:stCondLst>
                                            <p:cond delay="1808"/>
                                          </p:stCondLst>
                                        </p:cTn>
                                        <p:tgtEl>
                                          <p:spTgt spid="15">
                                            <p:txEl>
                                              <p:pRg st="0" end="0"/>
                                            </p:txEl>
                                          </p:spTgt>
                                        </p:tgtEl>
                                      </p:cBhvr>
                                      <p:to x="100000" y="95000"/>
                                    </p:animScale>
                                    <p:animScale>
                                      <p:cBhvr>
                                        <p:cTn id="45" dur="166" decel="50000">
                                          <p:stCondLst>
                                            <p:cond delay="1834"/>
                                          </p:stCondLst>
                                        </p:cTn>
                                        <p:tgtEl>
                                          <p:spTgt spid="15">
                                            <p:txEl>
                                              <p:pRg st="0" end="0"/>
                                            </p:txEl>
                                          </p:spTgt>
                                        </p:tgtEl>
                                      </p:cBhvr>
                                      <p:to x="100000" y="100000"/>
                                    </p:animScale>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down)">
                                      <p:cBhvr>
                                        <p:cTn id="50" dur="580">
                                          <p:stCondLst>
                                            <p:cond delay="0"/>
                                          </p:stCondLst>
                                        </p:cTn>
                                        <p:tgtEl>
                                          <p:spTgt spid="13"/>
                                        </p:tgtEl>
                                      </p:cBhvr>
                                    </p:animEffect>
                                    <p:anim calcmode="lin" valueType="num">
                                      <p:cBhvr>
                                        <p:cTn id="51"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56" dur="26">
                                          <p:stCondLst>
                                            <p:cond delay="650"/>
                                          </p:stCondLst>
                                        </p:cTn>
                                        <p:tgtEl>
                                          <p:spTgt spid="13"/>
                                        </p:tgtEl>
                                      </p:cBhvr>
                                      <p:to x="100000" y="60000"/>
                                    </p:animScale>
                                    <p:animScale>
                                      <p:cBhvr>
                                        <p:cTn id="57" dur="166" decel="50000">
                                          <p:stCondLst>
                                            <p:cond delay="676"/>
                                          </p:stCondLst>
                                        </p:cTn>
                                        <p:tgtEl>
                                          <p:spTgt spid="13"/>
                                        </p:tgtEl>
                                      </p:cBhvr>
                                      <p:to x="100000" y="100000"/>
                                    </p:animScale>
                                    <p:animScale>
                                      <p:cBhvr>
                                        <p:cTn id="58" dur="26">
                                          <p:stCondLst>
                                            <p:cond delay="1312"/>
                                          </p:stCondLst>
                                        </p:cTn>
                                        <p:tgtEl>
                                          <p:spTgt spid="13"/>
                                        </p:tgtEl>
                                      </p:cBhvr>
                                      <p:to x="100000" y="80000"/>
                                    </p:animScale>
                                    <p:animScale>
                                      <p:cBhvr>
                                        <p:cTn id="59" dur="166" decel="50000">
                                          <p:stCondLst>
                                            <p:cond delay="1338"/>
                                          </p:stCondLst>
                                        </p:cTn>
                                        <p:tgtEl>
                                          <p:spTgt spid="13"/>
                                        </p:tgtEl>
                                      </p:cBhvr>
                                      <p:to x="100000" y="100000"/>
                                    </p:animScale>
                                    <p:animScale>
                                      <p:cBhvr>
                                        <p:cTn id="60" dur="26">
                                          <p:stCondLst>
                                            <p:cond delay="1642"/>
                                          </p:stCondLst>
                                        </p:cTn>
                                        <p:tgtEl>
                                          <p:spTgt spid="13"/>
                                        </p:tgtEl>
                                      </p:cBhvr>
                                      <p:to x="100000" y="90000"/>
                                    </p:animScale>
                                    <p:animScale>
                                      <p:cBhvr>
                                        <p:cTn id="61" dur="166" decel="50000">
                                          <p:stCondLst>
                                            <p:cond delay="1668"/>
                                          </p:stCondLst>
                                        </p:cTn>
                                        <p:tgtEl>
                                          <p:spTgt spid="13"/>
                                        </p:tgtEl>
                                      </p:cBhvr>
                                      <p:to x="100000" y="100000"/>
                                    </p:animScale>
                                    <p:animScale>
                                      <p:cBhvr>
                                        <p:cTn id="62" dur="26">
                                          <p:stCondLst>
                                            <p:cond delay="1808"/>
                                          </p:stCondLst>
                                        </p:cTn>
                                        <p:tgtEl>
                                          <p:spTgt spid="13"/>
                                        </p:tgtEl>
                                      </p:cBhvr>
                                      <p:to x="100000" y="95000"/>
                                    </p:animScale>
                                    <p:animScale>
                                      <p:cBhvr>
                                        <p:cTn id="63"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build="allAtOnce"/>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938504"/>
            <a:ext cx="6794605" cy="370305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Title 1"/>
          <p:cNvSpPr>
            <a:spLocks noGrp="1"/>
          </p:cNvSpPr>
          <p:nvPr>
            <p:ph type="title"/>
          </p:nvPr>
        </p:nvSpPr>
        <p:spPr/>
        <p:txBody>
          <a:bodyPr/>
          <a:lstStyle/>
          <a:p>
            <a:r>
              <a:rPr lang="en-US" dirty="0"/>
              <a:t>A Miracle Happened…</a:t>
            </a: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b="13228"/>
          <a:stretch/>
        </p:blipFill>
        <p:spPr>
          <a:xfrm>
            <a:off x="612592" y="938504"/>
            <a:ext cx="4855550" cy="2481796"/>
          </a:xfrm>
          <a:prstGeom prst="rect">
            <a:avLst/>
          </a:prstGeom>
          <a:noFill/>
          <a:ln>
            <a:noFill/>
          </a:ln>
          <a:effectLst>
            <a:outerShdw blurRad="50800" dist="101600" dir="2700000" algn="tl" rotWithShape="0">
              <a:prstClr val="black">
                <a:alpha val="40000"/>
              </a:prstClr>
            </a:outerShdw>
          </a:effectLst>
        </p:spPr>
      </p:pic>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l="1345" r="8535"/>
          <a:stretch/>
        </p:blipFill>
        <p:spPr>
          <a:xfrm>
            <a:off x="767207" y="2105488"/>
            <a:ext cx="3719622" cy="2631587"/>
          </a:xfrm>
          <a:prstGeom prst="rect">
            <a:avLst/>
          </a:prstGeom>
          <a:noFill/>
          <a:ln>
            <a:noFill/>
          </a:ln>
          <a:effectLst>
            <a:outerShdw blurRad="50800" dist="101600" dir="2700000" algn="tl" rotWithShape="0">
              <a:prstClr val="black">
                <a:alpha val="40000"/>
              </a:prstClr>
            </a:outerShdw>
          </a:effectLst>
        </p:spPr>
      </p:pic>
      <p:pic>
        <p:nvPicPr>
          <p:cNvPr id="9" name="Picture 8"/>
          <p:cNvPicPr>
            <a:picLocks noChangeAspect="1"/>
          </p:cNvPicPr>
          <p:nvPr/>
        </p:nvPicPr>
        <p:blipFill rotWithShape="1">
          <a:blip r:embed="rId6">
            <a:extLst>
              <a:ext uri="{28A0092B-C50C-407E-A947-70E740481C1C}">
                <a14:useLocalDpi xmlns:a14="http://schemas.microsoft.com/office/drawing/2010/main" val="0"/>
              </a:ext>
            </a:extLst>
          </a:blip>
          <a:srcRect l="1503" t="1490" r="3105" b="2147"/>
          <a:stretch/>
        </p:blipFill>
        <p:spPr>
          <a:xfrm>
            <a:off x="3923928" y="852043"/>
            <a:ext cx="4795358" cy="3956170"/>
          </a:xfrm>
          <a:prstGeom prst="rect">
            <a:avLst/>
          </a:prstGeom>
          <a:noFill/>
          <a:ln>
            <a:noFill/>
          </a:ln>
          <a:effectLst>
            <a:outerShdw blurRad="50800" dist="101600" dir="2700000" algn="tl" rotWithShape="0">
              <a:prstClr val="black">
                <a:alpha val="40000"/>
              </a:prstClr>
            </a:outerShdw>
          </a:effectLst>
        </p:spPr>
      </p:pic>
      <p:pic>
        <p:nvPicPr>
          <p:cNvPr id="10" name="Picture 9"/>
          <p:cNvPicPr>
            <a:picLocks noChangeAspect="1"/>
          </p:cNvPicPr>
          <p:nvPr/>
        </p:nvPicPr>
        <p:blipFill rotWithShape="1">
          <a:blip r:embed="rId7">
            <a:extLst>
              <a:ext uri="{28A0092B-C50C-407E-A947-70E740481C1C}">
                <a14:useLocalDpi xmlns:a14="http://schemas.microsoft.com/office/drawing/2010/main" val="0"/>
              </a:ext>
            </a:extLst>
          </a:blip>
          <a:srcRect b="18279"/>
          <a:stretch/>
        </p:blipFill>
        <p:spPr>
          <a:xfrm>
            <a:off x="1382409" y="852043"/>
            <a:ext cx="6345225" cy="3853134"/>
          </a:xfrm>
          <a:prstGeom prst="rect">
            <a:avLst/>
          </a:prstGeom>
          <a:noFill/>
          <a:ln>
            <a:noFill/>
          </a:ln>
          <a:effectLst>
            <a:outerShdw blurRad="50800" dist="101600" dir="2700000" algn="tl" rotWithShape="0">
              <a:prstClr val="black">
                <a:alpha val="40000"/>
              </a:prstClr>
            </a:outerShdw>
          </a:effectLst>
        </p:spPr>
      </p:pic>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7754" y="742336"/>
            <a:ext cx="7415792" cy="4152844"/>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8595" y="745671"/>
            <a:ext cx="8434580" cy="4065877"/>
          </a:xfrm>
          <a:prstGeom prst="rect">
            <a:avLst/>
          </a:prstGeom>
        </p:spPr>
      </p:pic>
      <p:pic>
        <p:nvPicPr>
          <p:cNvPr id="3" name="Picture 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95361" y="698438"/>
            <a:ext cx="5828967" cy="4263379"/>
          </a:xfrm>
          <a:prstGeom prst="rect">
            <a:avLst/>
          </a:prstGeom>
        </p:spPr>
      </p:pic>
    </p:spTree>
    <p:extLst>
      <p:ext uri="{BB962C8B-B14F-4D97-AF65-F5344CB8AC3E}">
        <p14:creationId xmlns:p14="http://schemas.microsoft.com/office/powerpoint/2010/main" val="3461835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ircle(in)">
                                      <p:cBhvr>
                                        <p:cTn id="29" dur="20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1000" fill="hold"/>
                                        <p:tgtEl>
                                          <p:spTgt spid="8"/>
                                        </p:tgtEl>
                                        <p:attrNameLst>
                                          <p:attrName>ppt_w</p:attrName>
                                        </p:attrNameLst>
                                      </p:cBhvr>
                                      <p:tavLst>
                                        <p:tav tm="0">
                                          <p:val>
                                            <p:fltVal val="0"/>
                                          </p:val>
                                        </p:tav>
                                        <p:tav tm="100000">
                                          <p:val>
                                            <p:strVal val="#ppt_w"/>
                                          </p:val>
                                        </p:tav>
                                      </p:tavLst>
                                    </p:anim>
                                    <p:anim calcmode="lin" valueType="num">
                                      <p:cBhvr>
                                        <p:cTn id="42" dur="1000" fill="hold"/>
                                        <p:tgtEl>
                                          <p:spTgt spid="8"/>
                                        </p:tgtEl>
                                        <p:attrNameLst>
                                          <p:attrName>ppt_h</p:attrName>
                                        </p:attrNameLst>
                                      </p:cBhvr>
                                      <p:tavLst>
                                        <p:tav tm="0">
                                          <p:val>
                                            <p:fltVal val="0"/>
                                          </p:val>
                                        </p:tav>
                                        <p:tav tm="100000">
                                          <p:val>
                                            <p:strVal val="#ppt_h"/>
                                          </p:val>
                                        </p:tav>
                                      </p:tavLst>
                                    </p:anim>
                                    <p:anim calcmode="lin" valueType="num">
                                      <p:cBhvr>
                                        <p:cTn id="43" dur="1000" fill="hold"/>
                                        <p:tgtEl>
                                          <p:spTgt spid="8"/>
                                        </p:tgtEl>
                                        <p:attrNameLst>
                                          <p:attrName>style.rotation</p:attrName>
                                        </p:attrNameLst>
                                      </p:cBhvr>
                                      <p:tavLst>
                                        <p:tav tm="0">
                                          <p:val>
                                            <p:fltVal val="90"/>
                                          </p:val>
                                        </p:tav>
                                        <p:tav tm="100000">
                                          <p:val>
                                            <p:fltVal val="0"/>
                                          </p:val>
                                        </p:tav>
                                      </p:tavLst>
                                    </p:anim>
                                    <p:animEffect transition="in" filter="fade">
                                      <p:cBhvr>
                                        <p:cTn id="44" dur="10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162" dirty="0"/>
              <a:t>Linux in System Center: increasing momentum</a:t>
            </a:r>
          </a:p>
        </p:txBody>
      </p:sp>
      <p:sp>
        <p:nvSpPr>
          <p:cNvPr id="26" name="TextBox 25"/>
          <p:cNvSpPr txBox="1"/>
          <p:nvPr/>
        </p:nvSpPr>
        <p:spPr>
          <a:xfrm>
            <a:off x="346300" y="1649298"/>
            <a:ext cx="2078520" cy="296107"/>
          </a:xfrm>
          <a:prstGeom prst="rect">
            <a:avLst/>
          </a:prstGeom>
          <a:noFill/>
        </p:spPr>
        <p:txBody>
          <a:bodyPr wrap="square" lIns="0" rIns="0" rtlCol="0">
            <a:spAutoFit/>
          </a:bodyPr>
          <a:lstStyle>
            <a:defPPr>
              <a:defRPr lang="en-US"/>
            </a:defPPr>
            <a:lvl1pPr algn="r">
              <a:defRPr sz="1836">
                <a:gradFill>
                  <a:gsLst>
                    <a:gs pos="18000">
                      <a:schemeClr val="bg2"/>
                    </a:gs>
                    <a:gs pos="46000">
                      <a:schemeClr val="bg2"/>
                    </a:gs>
                  </a:gsLst>
                  <a:lin ang="5400000" scaled="0"/>
                </a:gradFill>
              </a:defRPr>
            </a:lvl1pPr>
          </a:lstStyle>
          <a:p>
            <a:pPr algn="l"/>
            <a:r>
              <a:rPr lang="en-US" sz="1324" dirty="0"/>
              <a:t>Linux/UNIX In </a:t>
            </a:r>
            <a:r>
              <a:rPr lang="en-US" sz="1324" dirty="0" err="1"/>
              <a:t>OpsMgr</a:t>
            </a:r>
            <a:endParaRPr lang="en-US" sz="1324" dirty="0"/>
          </a:p>
        </p:txBody>
      </p:sp>
      <p:grpSp>
        <p:nvGrpSpPr>
          <p:cNvPr id="87" name="Group 86"/>
          <p:cNvGrpSpPr/>
          <p:nvPr/>
        </p:nvGrpSpPr>
        <p:grpSpPr>
          <a:xfrm>
            <a:off x="346299" y="1894312"/>
            <a:ext cx="8471681" cy="268927"/>
            <a:chOff x="470991" y="2575899"/>
            <a:chExt cx="11522074" cy="365760"/>
          </a:xfrm>
        </p:grpSpPr>
        <p:sp>
          <p:nvSpPr>
            <p:cNvPr id="19" name="Rectangle 18"/>
            <p:cNvSpPr/>
            <p:nvPr/>
          </p:nvSpPr>
          <p:spPr bwMode="auto">
            <a:xfrm>
              <a:off x="470991" y="2575899"/>
              <a:ext cx="2082800" cy="3657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92" fontAlgn="base">
                <a:spcBef>
                  <a:spcPct val="0"/>
                </a:spcBef>
                <a:spcAft>
                  <a:spcPct val="0"/>
                </a:spcAft>
              </a:pPr>
              <a:endParaRPr lang="en-US" sz="1471" dirty="0">
                <a:gradFill>
                  <a:gsLst>
                    <a:gs pos="16814">
                      <a:srgbClr val="FFFFFF"/>
                    </a:gs>
                    <a:gs pos="46000">
                      <a:srgbClr val="FFFFFF"/>
                    </a:gs>
                  </a:gsLst>
                  <a:lin ang="5400000" scaled="0"/>
                </a:gradFill>
              </a:endParaRPr>
            </a:p>
          </p:txBody>
        </p:sp>
        <p:sp>
          <p:nvSpPr>
            <p:cNvPr id="17" name="Pentagon 16"/>
            <p:cNvSpPr/>
            <p:nvPr/>
          </p:nvSpPr>
          <p:spPr bwMode="auto">
            <a:xfrm>
              <a:off x="2460129" y="2575899"/>
              <a:ext cx="9532936" cy="3657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92" fontAlgn="base">
                <a:spcBef>
                  <a:spcPct val="0"/>
                </a:spcBef>
                <a:spcAft>
                  <a:spcPct val="0"/>
                </a:spcAft>
              </a:pPr>
              <a:endParaRPr lang="en-US" sz="1471" dirty="0">
                <a:gradFill>
                  <a:gsLst>
                    <a:gs pos="16814">
                      <a:srgbClr val="FFFFFF"/>
                    </a:gs>
                    <a:gs pos="46000">
                      <a:srgbClr val="FFFFFF"/>
                    </a:gs>
                  </a:gsLst>
                  <a:lin ang="5400000" scaled="0"/>
                </a:gradFill>
              </a:endParaRPr>
            </a:p>
          </p:txBody>
        </p:sp>
      </p:grpSp>
      <p:sp>
        <p:nvSpPr>
          <p:cNvPr id="31" name="TextBox 30"/>
          <p:cNvSpPr txBox="1"/>
          <p:nvPr/>
        </p:nvSpPr>
        <p:spPr>
          <a:xfrm>
            <a:off x="580926" y="4252548"/>
            <a:ext cx="1950342" cy="167813"/>
          </a:xfrm>
          <a:prstGeom prst="rect">
            <a:avLst/>
          </a:prstGeom>
          <a:noFill/>
        </p:spPr>
        <p:txBody>
          <a:bodyPr wrap="square" rtlCol="0" anchor="ctr" anchorCtr="0">
            <a:noAutofit/>
          </a:bodyPr>
          <a:lstStyle/>
          <a:p>
            <a:r>
              <a:rPr lang="en-US" sz="1029" dirty="0">
                <a:gradFill>
                  <a:gsLst>
                    <a:gs pos="18000">
                      <a:schemeClr val="bg2"/>
                    </a:gs>
                    <a:gs pos="46000">
                      <a:schemeClr val="bg2"/>
                    </a:gs>
                  </a:gsLst>
                  <a:lin ang="5400000" scaled="0"/>
                </a:gradFill>
              </a:rPr>
              <a:t>Initial development</a:t>
            </a:r>
          </a:p>
        </p:txBody>
      </p:sp>
      <p:grpSp>
        <p:nvGrpSpPr>
          <p:cNvPr id="20" name="Group 19"/>
          <p:cNvGrpSpPr/>
          <p:nvPr/>
        </p:nvGrpSpPr>
        <p:grpSpPr>
          <a:xfrm>
            <a:off x="336161" y="896522"/>
            <a:ext cx="8480705" cy="754273"/>
            <a:chOff x="727769" y="1256936"/>
            <a:chExt cx="11263779" cy="1025864"/>
          </a:xfrm>
        </p:grpSpPr>
        <p:sp>
          <p:nvSpPr>
            <p:cNvPr id="3" name="Right Arrow 2"/>
            <p:cNvSpPr/>
            <p:nvPr/>
          </p:nvSpPr>
          <p:spPr bwMode="auto">
            <a:xfrm>
              <a:off x="727769" y="1256936"/>
              <a:ext cx="1554480" cy="1025864"/>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2008</a:t>
              </a:r>
            </a:p>
          </p:txBody>
        </p:sp>
        <p:sp>
          <p:nvSpPr>
            <p:cNvPr id="4" name="Notched Right Arrow 3"/>
            <p:cNvSpPr/>
            <p:nvPr/>
          </p:nvSpPr>
          <p:spPr bwMode="auto">
            <a:xfrm>
              <a:off x="2114812"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2009</a:t>
              </a:r>
            </a:p>
          </p:txBody>
        </p:sp>
        <p:sp>
          <p:nvSpPr>
            <p:cNvPr id="5" name="Notched Right Arrow 4"/>
            <p:cNvSpPr/>
            <p:nvPr/>
          </p:nvSpPr>
          <p:spPr bwMode="auto">
            <a:xfrm>
              <a:off x="3501855"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2010</a:t>
              </a:r>
            </a:p>
          </p:txBody>
        </p:sp>
        <p:sp>
          <p:nvSpPr>
            <p:cNvPr id="6" name="Notched Right Arrow 5"/>
            <p:cNvSpPr/>
            <p:nvPr/>
          </p:nvSpPr>
          <p:spPr bwMode="auto">
            <a:xfrm>
              <a:off x="4888898"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2011</a:t>
              </a:r>
            </a:p>
          </p:txBody>
        </p:sp>
        <p:sp>
          <p:nvSpPr>
            <p:cNvPr id="7" name="Notched Right Arrow 6"/>
            <p:cNvSpPr/>
            <p:nvPr/>
          </p:nvSpPr>
          <p:spPr bwMode="auto">
            <a:xfrm>
              <a:off x="6275941"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2012</a:t>
              </a:r>
            </a:p>
          </p:txBody>
        </p:sp>
        <p:sp>
          <p:nvSpPr>
            <p:cNvPr id="14" name="Notched Right Arrow 13"/>
            <p:cNvSpPr/>
            <p:nvPr/>
          </p:nvSpPr>
          <p:spPr bwMode="auto">
            <a:xfrm>
              <a:off x="7662984"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2013</a:t>
              </a:r>
            </a:p>
          </p:txBody>
        </p:sp>
        <p:sp>
          <p:nvSpPr>
            <p:cNvPr id="37" name="Notched Right Arrow 36"/>
            <p:cNvSpPr/>
            <p:nvPr/>
          </p:nvSpPr>
          <p:spPr bwMode="auto">
            <a:xfrm>
              <a:off x="10437068"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2015</a:t>
              </a:r>
            </a:p>
          </p:txBody>
        </p:sp>
        <p:sp>
          <p:nvSpPr>
            <p:cNvPr id="49" name="Notched Right Arrow 48"/>
            <p:cNvSpPr/>
            <p:nvPr/>
          </p:nvSpPr>
          <p:spPr bwMode="auto">
            <a:xfrm>
              <a:off x="9050027" y="1256936"/>
              <a:ext cx="1554480" cy="1025864"/>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68567" tIns="34284" rIns="68567" bIns="34284" numCol="1" rtlCol="0" anchor="ctr" anchorCtr="0" compatLnSpc="1">
              <a:prstTxWarp prst="textNoShape">
                <a:avLst/>
              </a:prstTxWarp>
            </a:bodyPr>
            <a:lstStyle/>
            <a:p>
              <a:pPr algn="ctr" defTabSz="685513" fontAlgn="base">
                <a:spcBef>
                  <a:spcPct val="0"/>
                </a:spcBef>
                <a:spcAft>
                  <a:spcPct val="0"/>
                </a:spcAft>
              </a:pPr>
              <a:r>
                <a:rPr lang="en-US" sz="1765" dirty="0">
                  <a:solidFill>
                    <a:srgbClr val="FFFFFF"/>
                  </a:solidFill>
                  <a:latin typeface="Segoe UI Semilight" panose="020B0402040204020203" pitchFamily="34" charset="0"/>
                  <a:cs typeface="Segoe UI Semilight" panose="020B0402040204020203" pitchFamily="34" charset="0"/>
                </a:rPr>
                <a:t>2014</a:t>
              </a:r>
            </a:p>
          </p:txBody>
        </p:sp>
      </p:grpSp>
      <p:sp>
        <p:nvSpPr>
          <p:cNvPr id="54" name="TextBox 53"/>
          <p:cNvSpPr txBox="1"/>
          <p:nvPr/>
        </p:nvSpPr>
        <p:spPr>
          <a:xfrm>
            <a:off x="8273868" y="4686900"/>
            <a:ext cx="614271" cy="253916"/>
          </a:xfrm>
          <a:prstGeom prst="rect">
            <a:avLst/>
          </a:prstGeom>
          <a:noFill/>
        </p:spPr>
        <p:txBody>
          <a:bodyPr wrap="none" rtlCol="0">
            <a:spAutoFit/>
          </a:bodyPr>
          <a:lstStyle/>
          <a:p>
            <a:r>
              <a:rPr lang="en-US" sz="1050" i="1" dirty="0"/>
              <a:t>Preview</a:t>
            </a:r>
          </a:p>
        </p:txBody>
      </p:sp>
      <p:grpSp>
        <p:nvGrpSpPr>
          <p:cNvPr id="85" name="Group 84"/>
          <p:cNvGrpSpPr/>
          <p:nvPr/>
        </p:nvGrpSpPr>
        <p:grpSpPr>
          <a:xfrm>
            <a:off x="1307287" y="2327489"/>
            <a:ext cx="7510694" cy="311766"/>
            <a:chOff x="1757877" y="3260142"/>
            <a:chExt cx="10215065" cy="424024"/>
          </a:xfrm>
        </p:grpSpPr>
        <p:sp>
          <p:nvSpPr>
            <p:cNvPr id="27" name="TextBox 26"/>
            <p:cNvSpPr txBox="1"/>
            <p:nvPr/>
          </p:nvSpPr>
          <p:spPr>
            <a:xfrm>
              <a:off x="1757877" y="3281439"/>
              <a:ext cx="2153719" cy="402727"/>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JEE in </a:t>
              </a:r>
              <a:r>
                <a:rPr lang="en-US" sz="1324" dirty="0" err="1"/>
                <a:t>OpsMgr</a:t>
              </a:r>
              <a:endParaRPr lang="en-US" sz="1324" dirty="0"/>
            </a:p>
          </p:txBody>
        </p:sp>
        <p:grpSp>
          <p:nvGrpSpPr>
            <p:cNvPr id="55" name="Group 54"/>
            <p:cNvGrpSpPr/>
            <p:nvPr/>
          </p:nvGrpSpPr>
          <p:grpSpPr>
            <a:xfrm>
              <a:off x="3911599" y="3260142"/>
              <a:ext cx="8061343" cy="365760"/>
              <a:chOff x="3917930" y="2398099"/>
              <a:chExt cx="8061344" cy="421460"/>
            </a:xfrm>
          </p:grpSpPr>
          <p:sp>
            <p:nvSpPr>
              <p:cNvPr id="56" name="Rectangle 55"/>
              <p:cNvSpPr/>
              <p:nvPr/>
            </p:nvSpPr>
            <p:spPr bwMode="auto">
              <a:xfrm>
                <a:off x="3917930" y="2398099"/>
                <a:ext cx="2837788"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57" name="Pentagon 56"/>
              <p:cNvSpPr/>
              <p:nvPr/>
            </p:nvSpPr>
            <p:spPr bwMode="auto">
              <a:xfrm>
                <a:off x="6755721" y="2398099"/>
                <a:ext cx="5223553" cy="4214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grpSp>
        <p:nvGrpSpPr>
          <p:cNvPr id="84" name="Group 83"/>
          <p:cNvGrpSpPr/>
          <p:nvPr/>
        </p:nvGrpSpPr>
        <p:grpSpPr>
          <a:xfrm>
            <a:off x="1101856" y="2760664"/>
            <a:ext cx="7716124" cy="311766"/>
            <a:chOff x="1461854" y="3876569"/>
            <a:chExt cx="10494464" cy="424024"/>
          </a:xfrm>
        </p:grpSpPr>
        <p:sp>
          <p:nvSpPr>
            <p:cNvPr id="28" name="TextBox 27"/>
            <p:cNvSpPr txBox="1"/>
            <p:nvPr/>
          </p:nvSpPr>
          <p:spPr>
            <a:xfrm>
              <a:off x="1461854" y="3897866"/>
              <a:ext cx="3411266" cy="402727"/>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Linux/UNIX in </a:t>
              </a:r>
              <a:r>
                <a:rPr lang="en-US" sz="1324" dirty="0" err="1"/>
                <a:t>ConfigMgr</a:t>
              </a:r>
              <a:endParaRPr lang="en-US" sz="1324" dirty="0"/>
            </a:p>
          </p:txBody>
        </p:sp>
        <p:grpSp>
          <p:nvGrpSpPr>
            <p:cNvPr id="60" name="Group 59"/>
            <p:cNvGrpSpPr/>
            <p:nvPr/>
          </p:nvGrpSpPr>
          <p:grpSpPr>
            <a:xfrm>
              <a:off x="4873119" y="3876569"/>
              <a:ext cx="7083199" cy="365760"/>
              <a:chOff x="4896074" y="2398099"/>
              <a:chExt cx="7083200" cy="421460"/>
            </a:xfrm>
          </p:grpSpPr>
          <p:sp>
            <p:nvSpPr>
              <p:cNvPr id="61" name="Rectangle 60"/>
              <p:cNvSpPr/>
              <p:nvPr/>
            </p:nvSpPr>
            <p:spPr bwMode="auto">
              <a:xfrm>
                <a:off x="4896074" y="2398099"/>
                <a:ext cx="2934908"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62" name="Pentagon 61"/>
              <p:cNvSpPr/>
              <p:nvPr/>
            </p:nvSpPr>
            <p:spPr bwMode="auto">
              <a:xfrm>
                <a:off x="7718689" y="2398099"/>
                <a:ext cx="4260585" cy="4214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grpSp>
        <p:nvGrpSpPr>
          <p:cNvPr id="83" name="Group 82"/>
          <p:cNvGrpSpPr/>
          <p:nvPr/>
        </p:nvGrpSpPr>
        <p:grpSpPr>
          <a:xfrm>
            <a:off x="1380491" y="3193840"/>
            <a:ext cx="7437490" cy="311766"/>
            <a:chOff x="1840815" y="4469405"/>
            <a:chExt cx="10115503" cy="424024"/>
          </a:xfrm>
        </p:grpSpPr>
        <p:sp>
          <p:nvSpPr>
            <p:cNvPr id="43" name="TextBox 42"/>
            <p:cNvSpPr txBox="1"/>
            <p:nvPr/>
          </p:nvSpPr>
          <p:spPr>
            <a:xfrm>
              <a:off x="1840815" y="4490702"/>
              <a:ext cx="4516853" cy="402727"/>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Linux Endpoint Protection in ConfigMgr</a:t>
              </a:r>
            </a:p>
          </p:txBody>
        </p:sp>
        <p:grpSp>
          <p:nvGrpSpPr>
            <p:cNvPr id="65" name="Group 64"/>
            <p:cNvGrpSpPr/>
            <p:nvPr/>
          </p:nvGrpSpPr>
          <p:grpSpPr>
            <a:xfrm>
              <a:off x="6357668" y="4469405"/>
              <a:ext cx="5598650" cy="365760"/>
              <a:chOff x="6380623" y="2398099"/>
              <a:chExt cx="5598651" cy="421460"/>
            </a:xfrm>
          </p:grpSpPr>
          <p:sp>
            <p:nvSpPr>
              <p:cNvPr id="66" name="Rectangle 65"/>
              <p:cNvSpPr/>
              <p:nvPr/>
            </p:nvSpPr>
            <p:spPr bwMode="auto">
              <a:xfrm>
                <a:off x="6380623" y="2398099"/>
                <a:ext cx="974202"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67" name="Pentagon 66"/>
              <p:cNvSpPr/>
              <p:nvPr/>
            </p:nvSpPr>
            <p:spPr bwMode="auto">
              <a:xfrm>
                <a:off x="7331908" y="2398099"/>
                <a:ext cx="4647366" cy="4214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grpSp>
        <p:nvGrpSpPr>
          <p:cNvPr id="82" name="Group 81"/>
          <p:cNvGrpSpPr/>
          <p:nvPr/>
        </p:nvGrpSpPr>
        <p:grpSpPr>
          <a:xfrm>
            <a:off x="3469152" y="3627009"/>
            <a:ext cx="5348829" cy="311765"/>
            <a:chOff x="4696201" y="5092994"/>
            <a:chExt cx="7274779" cy="424023"/>
          </a:xfrm>
        </p:grpSpPr>
        <p:sp>
          <p:nvSpPr>
            <p:cNvPr id="29" name="TextBox 28"/>
            <p:cNvSpPr txBox="1"/>
            <p:nvPr/>
          </p:nvSpPr>
          <p:spPr>
            <a:xfrm>
              <a:off x="4696201" y="5114291"/>
              <a:ext cx="2565190" cy="402726"/>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Linux in VMM</a:t>
              </a:r>
            </a:p>
          </p:txBody>
        </p:sp>
        <p:grpSp>
          <p:nvGrpSpPr>
            <p:cNvPr id="70" name="Group 69"/>
            <p:cNvGrpSpPr/>
            <p:nvPr/>
          </p:nvGrpSpPr>
          <p:grpSpPr>
            <a:xfrm>
              <a:off x="7261390" y="5092994"/>
              <a:ext cx="4709590" cy="365761"/>
              <a:chOff x="7269683" y="2398099"/>
              <a:chExt cx="4709591" cy="421461"/>
            </a:xfrm>
          </p:grpSpPr>
          <p:sp>
            <p:nvSpPr>
              <p:cNvPr id="71" name="Rectangle 70"/>
              <p:cNvSpPr/>
              <p:nvPr/>
            </p:nvSpPr>
            <p:spPr bwMode="auto">
              <a:xfrm>
                <a:off x="7269683" y="2398099"/>
                <a:ext cx="1089551"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72" name="Pentagon 71"/>
              <p:cNvSpPr/>
              <p:nvPr/>
            </p:nvSpPr>
            <p:spPr bwMode="auto">
              <a:xfrm>
                <a:off x="8359235" y="2398100"/>
                <a:ext cx="3620039" cy="4214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grpSp>
        <p:nvGrpSpPr>
          <p:cNvPr id="25" name="Group 24"/>
          <p:cNvGrpSpPr/>
          <p:nvPr/>
        </p:nvGrpSpPr>
        <p:grpSpPr>
          <a:xfrm>
            <a:off x="3610012" y="4060186"/>
            <a:ext cx="5207969" cy="315673"/>
            <a:chOff x="4909866" y="5743867"/>
            <a:chExt cx="7083199" cy="429338"/>
          </a:xfrm>
        </p:grpSpPr>
        <p:sp>
          <p:nvSpPr>
            <p:cNvPr id="51" name="TextBox 50"/>
            <p:cNvSpPr txBox="1"/>
            <p:nvPr/>
          </p:nvSpPr>
          <p:spPr>
            <a:xfrm>
              <a:off x="4909866" y="5770479"/>
              <a:ext cx="3184528" cy="402726"/>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Linux in DPM</a:t>
              </a:r>
            </a:p>
          </p:txBody>
        </p:sp>
        <p:grpSp>
          <p:nvGrpSpPr>
            <p:cNvPr id="74" name="Group 73"/>
            <p:cNvGrpSpPr/>
            <p:nvPr/>
          </p:nvGrpSpPr>
          <p:grpSpPr>
            <a:xfrm>
              <a:off x="8094393" y="5743867"/>
              <a:ext cx="3898672" cy="365761"/>
              <a:chOff x="8080600" y="2398099"/>
              <a:chExt cx="3898673" cy="421461"/>
            </a:xfrm>
          </p:grpSpPr>
          <p:sp>
            <p:nvSpPr>
              <p:cNvPr id="75" name="Rectangle 74"/>
              <p:cNvSpPr/>
              <p:nvPr/>
            </p:nvSpPr>
            <p:spPr bwMode="auto">
              <a:xfrm>
                <a:off x="8080600" y="2398099"/>
                <a:ext cx="907062"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76" name="Pentagon 75"/>
              <p:cNvSpPr/>
              <p:nvPr/>
            </p:nvSpPr>
            <p:spPr bwMode="auto">
              <a:xfrm>
                <a:off x="8962775" y="2398100"/>
                <a:ext cx="3016498" cy="421460"/>
              </a:xfrm>
              <a:prstGeom prst="homePlat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grpSp>
        <p:nvGrpSpPr>
          <p:cNvPr id="24" name="Group 23"/>
          <p:cNvGrpSpPr/>
          <p:nvPr/>
        </p:nvGrpSpPr>
        <p:grpSpPr>
          <a:xfrm>
            <a:off x="3921859" y="4526027"/>
            <a:ext cx="4896121" cy="299337"/>
            <a:chOff x="5333998" y="6320324"/>
            <a:chExt cx="6659064" cy="407120"/>
          </a:xfrm>
        </p:grpSpPr>
        <p:sp>
          <p:nvSpPr>
            <p:cNvPr id="52" name="TextBox 51"/>
            <p:cNvSpPr txBox="1"/>
            <p:nvPr/>
          </p:nvSpPr>
          <p:spPr>
            <a:xfrm>
              <a:off x="5333998" y="6324718"/>
              <a:ext cx="4389437" cy="402726"/>
            </a:xfrm>
            <a:prstGeom prst="rect">
              <a:avLst/>
            </a:prstGeom>
            <a:noFill/>
          </p:spPr>
          <p:txBody>
            <a:bodyPr wrap="square" lIns="0" rIns="67232" rtlCol="0">
              <a:spAutoFit/>
            </a:bodyPr>
            <a:lstStyle>
              <a:defPPr>
                <a:defRPr lang="en-US"/>
              </a:defPPr>
              <a:lvl1pPr>
                <a:defRPr sz="1500">
                  <a:gradFill>
                    <a:gsLst>
                      <a:gs pos="18000">
                        <a:schemeClr val="bg2"/>
                      </a:gs>
                      <a:gs pos="46000">
                        <a:schemeClr val="bg2"/>
                      </a:gs>
                    </a:gsLst>
                    <a:lin ang="5400000" scaled="0"/>
                  </a:gradFill>
                </a:defRPr>
              </a:lvl1pPr>
            </a:lstStyle>
            <a:p>
              <a:pPr algn="r"/>
              <a:r>
                <a:rPr lang="en-US" sz="1324" dirty="0"/>
                <a:t>Apache and MySQL in OpsMgr</a:t>
              </a:r>
            </a:p>
          </p:txBody>
        </p:sp>
        <p:grpSp>
          <p:nvGrpSpPr>
            <p:cNvPr id="78" name="Group 77"/>
            <p:cNvGrpSpPr/>
            <p:nvPr/>
          </p:nvGrpSpPr>
          <p:grpSpPr>
            <a:xfrm>
              <a:off x="9723436" y="6320324"/>
              <a:ext cx="2269626" cy="365761"/>
              <a:chOff x="9709646" y="2398099"/>
              <a:chExt cx="2269627" cy="421461"/>
            </a:xfrm>
          </p:grpSpPr>
          <p:sp>
            <p:nvSpPr>
              <p:cNvPr id="79" name="Rectangle 78"/>
              <p:cNvSpPr/>
              <p:nvPr/>
            </p:nvSpPr>
            <p:spPr bwMode="auto">
              <a:xfrm>
                <a:off x="9709646" y="2398099"/>
                <a:ext cx="1529595" cy="4214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sp>
            <p:nvSpPr>
              <p:cNvPr id="80" name="Pentagon 79"/>
              <p:cNvSpPr/>
              <p:nvPr/>
            </p:nvSpPr>
            <p:spPr bwMode="auto">
              <a:xfrm>
                <a:off x="11239242" y="2398100"/>
                <a:ext cx="740031" cy="421460"/>
              </a:xfrm>
              <a:prstGeom prst="homePlate">
                <a:avLst/>
              </a:prstGeom>
              <a:solidFill>
                <a:schemeClr val="accent1">
                  <a:lumMod val="5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67232" bIns="34290" numCol="1" rtlCol="0" anchor="ctr" anchorCtr="0" compatLnSpc="1">
                <a:prstTxWarp prst="textNoShape">
                  <a:avLst/>
                </a:prstTxWarp>
              </a:bodyPr>
              <a:lstStyle/>
              <a:p>
                <a:pPr algn="r" defTabSz="685592" fontAlgn="base">
                  <a:spcBef>
                    <a:spcPct val="0"/>
                  </a:spcBef>
                  <a:spcAft>
                    <a:spcPct val="0"/>
                  </a:spcAft>
                </a:pPr>
                <a:endParaRPr lang="en-US" sz="1324" dirty="0">
                  <a:gradFill>
                    <a:gsLst>
                      <a:gs pos="16814">
                        <a:srgbClr val="FFFFFF"/>
                      </a:gs>
                      <a:gs pos="46000">
                        <a:srgbClr val="FFFFFF"/>
                      </a:gs>
                    </a:gsLst>
                    <a:lin ang="5400000" scaled="0"/>
                  </a:gradFill>
                </a:endParaRPr>
              </a:p>
            </p:txBody>
          </p:sp>
        </p:grpSp>
      </p:grpSp>
      <p:sp>
        <p:nvSpPr>
          <p:cNvPr id="89" name="TextBox 88"/>
          <p:cNvSpPr txBox="1"/>
          <p:nvPr/>
        </p:nvSpPr>
        <p:spPr>
          <a:xfrm>
            <a:off x="580927" y="4439847"/>
            <a:ext cx="1969404" cy="167814"/>
          </a:xfrm>
          <a:prstGeom prst="rect">
            <a:avLst/>
          </a:prstGeom>
          <a:noFill/>
        </p:spPr>
        <p:txBody>
          <a:bodyPr wrap="square" rtlCol="0" anchor="ctr" anchorCtr="0">
            <a:noAutofit/>
          </a:bodyPr>
          <a:lstStyle/>
          <a:p>
            <a:r>
              <a:rPr lang="en-US" sz="1029" dirty="0">
                <a:gradFill>
                  <a:gsLst>
                    <a:gs pos="18000">
                      <a:schemeClr val="bg2"/>
                    </a:gs>
                    <a:gs pos="46000">
                      <a:schemeClr val="bg2"/>
                    </a:gs>
                  </a:gsLst>
                  <a:lin ang="5400000" scaled="0"/>
                </a:gradFill>
              </a:rPr>
              <a:t>Shipping</a:t>
            </a:r>
          </a:p>
        </p:txBody>
      </p:sp>
      <p:sp>
        <p:nvSpPr>
          <p:cNvPr id="91" name="TextBox 90"/>
          <p:cNvSpPr txBox="1"/>
          <p:nvPr/>
        </p:nvSpPr>
        <p:spPr>
          <a:xfrm>
            <a:off x="580928" y="4627147"/>
            <a:ext cx="2116883" cy="167814"/>
          </a:xfrm>
          <a:prstGeom prst="rect">
            <a:avLst/>
          </a:prstGeom>
          <a:noFill/>
        </p:spPr>
        <p:txBody>
          <a:bodyPr wrap="square" rtlCol="0" anchor="ctr" anchorCtr="0">
            <a:noAutofit/>
          </a:bodyPr>
          <a:lstStyle/>
          <a:p>
            <a:r>
              <a:rPr lang="en-US" sz="1029" dirty="0">
                <a:gradFill>
                  <a:gsLst>
                    <a:gs pos="18000">
                      <a:schemeClr val="bg2"/>
                    </a:gs>
                    <a:gs pos="46000">
                      <a:schemeClr val="bg2"/>
                    </a:gs>
                  </a:gsLst>
                  <a:lin ang="5400000" scaled="0"/>
                </a:gradFill>
              </a:rPr>
              <a:t>Preview</a:t>
            </a:r>
          </a:p>
        </p:txBody>
      </p:sp>
      <p:grpSp>
        <p:nvGrpSpPr>
          <p:cNvPr id="93" name="Group 92"/>
          <p:cNvGrpSpPr/>
          <p:nvPr/>
        </p:nvGrpSpPr>
        <p:grpSpPr>
          <a:xfrm>
            <a:off x="336161" y="4252547"/>
            <a:ext cx="244767" cy="542414"/>
            <a:chOff x="457201" y="5338764"/>
            <a:chExt cx="533483" cy="1182220"/>
          </a:xfrm>
        </p:grpSpPr>
        <p:sp>
          <p:nvSpPr>
            <p:cNvPr id="88" name="Rectangle 87"/>
            <p:cNvSpPr/>
            <p:nvPr/>
          </p:nvSpPr>
          <p:spPr bwMode="auto">
            <a:xfrm>
              <a:off x="457201" y="5338764"/>
              <a:ext cx="533483" cy="365760"/>
            </a:xfrm>
            <a:prstGeom prst="rect">
              <a:avLst/>
            </a:prstGeom>
            <a:solidFill>
              <a:schemeClr val="accent5"/>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92" fontAlgn="base">
                <a:spcBef>
                  <a:spcPct val="0"/>
                </a:spcBef>
                <a:spcAft>
                  <a:spcPct val="0"/>
                </a:spcAft>
              </a:pPr>
              <a:endParaRPr lang="en-US" sz="1471" dirty="0">
                <a:gradFill>
                  <a:gsLst>
                    <a:gs pos="16814">
                      <a:srgbClr val="FFFFFF"/>
                    </a:gs>
                    <a:gs pos="46000">
                      <a:srgbClr val="FFFFFF"/>
                    </a:gs>
                  </a:gsLst>
                  <a:lin ang="5400000" scaled="0"/>
                </a:gradFill>
              </a:endParaRPr>
            </a:p>
          </p:txBody>
        </p:sp>
        <p:sp>
          <p:nvSpPr>
            <p:cNvPr id="90" name="Rectangle 89"/>
            <p:cNvSpPr/>
            <p:nvPr/>
          </p:nvSpPr>
          <p:spPr bwMode="auto">
            <a:xfrm>
              <a:off x="457201" y="5746994"/>
              <a:ext cx="533483" cy="365760"/>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92" fontAlgn="base">
                <a:spcBef>
                  <a:spcPct val="0"/>
                </a:spcBef>
                <a:spcAft>
                  <a:spcPct val="0"/>
                </a:spcAft>
              </a:pPr>
              <a:endParaRPr lang="en-US" sz="1471" dirty="0">
                <a:gradFill>
                  <a:gsLst>
                    <a:gs pos="16814">
                      <a:srgbClr val="FFFFFF"/>
                    </a:gs>
                    <a:gs pos="46000">
                      <a:srgbClr val="FFFFFF"/>
                    </a:gs>
                  </a:gsLst>
                  <a:lin ang="5400000" scaled="0"/>
                </a:gradFill>
              </a:endParaRPr>
            </a:p>
          </p:txBody>
        </p:sp>
        <p:sp>
          <p:nvSpPr>
            <p:cNvPr id="92" name="Rectangle 91"/>
            <p:cNvSpPr/>
            <p:nvPr/>
          </p:nvSpPr>
          <p:spPr bwMode="auto">
            <a:xfrm>
              <a:off x="457201" y="6155224"/>
              <a:ext cx="533483" cy="365760"/>
            </a:xfrm>
            <a:prstGeom prst="rect">
              <a:avLst/>
            </a:prstGeom>
            <a:solidFill>
              <a:schemeClr val="accent1">
                <a:lumMod val="5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92" fontAlgn="base">
                <a:spcBef>
                  <a:spcPct val="0"/>
                </a:spcBef>
                <a:spcAft>
                  <a:spcPct val="0"/>
                </a:spcAft>
              </a:pPr>
              <a:endParaRPr lang="en-US" sz="1471" dirty="0">
                <a:gradFill>
                  <a:gsLst>
                    <a:gs pos="16814">
                      <a:srgbClr val="FFFFFF"/>
                    </a:gs>
                    <a:gs pos="46000">
                      <a:srgbClr val="FFFFFF"/>
                    </a:gs>
                  </a:gsLst>
                  <a:lin ang="5400000" scaled="0"/>
                </a:gradFill>
              </a:endParaRPr>
            </a:p>
          </p:txBody>
        </p:sp>
      </p:grpSp>
    </p:spTree>
    <p:extLst>
      <p:ext uri="{BB962C8B-B14F-4D97-AF65-F5344CB8AC3E}">
        <p14:creationId xmlns:p14="http://schemas.microsoft.com/office/powerpoint/2010/main" val="366455814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Architectural Overview</a:t>
            </a:r>
          </a:p>
        </p:txBody>
      </p:sp>
      <p:sp>
        <p:nvSpPr>
          <p:cNvPr id="6" name="Rounded Rectangle 5"/>
          <p:cNvSpPr/>
          <p:nvPr/>
        </p:nvSpPr>
        <p:spPr bwMode="auto">
          <a:xfrm>
            <a:off x="1056495" y="1157712"/>
            <a:ext cx="2554579" cy="3163366"/>
          </a:xfrm>
          <a:prstGeom prst="roundRect">
            <a:avLst>
              <a:gd name="adj" fmla="val 10032"/>
            </a:avLst>
          </a:prstGeom>
          <a:solidFill>
            <a:schemeClr val="tx1">
              <a:lumMod val="85000"/>
            </a:schemeClr>
          </a:solidFill>
          <a:ln>
            <a:solidFill>
              <a:schemeClr val="bg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endParaRPr lang="en-US" sz="2175" dirty="0">
              <a:gradFill>
                <a:gsLst>
                  <a:gs pos="0">
                    <a:srgbClr val="FFFFFF"/>
                  </a:gs>
                  <a:gs pos="100000">
                    <a:srgbClr val="FFFFFF"/>
                  </a:gs>
                </a:gsLst>
                <a:lin ang="5400000" scaled="0"/>
              </a:gradFill>
            </a:endParaRPr>
          </a:p>
        </p:txBody>
      </p:sp>
      <p:sp>
        <p:nvSpPr>
          <p:cNvPr id="8" name="Rectangle 7"/>
          <p:cNvSpPr/>
          <p:nvPr/>
        </p:nvSpPr>
        <p:spPr bwMode="auto">
          <a:xfrm>
            <a:off x="1799342" y="2402951"/>
            <a:ext cx="1203914" cy="419268"/>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200" b="1" dirty="0">
                <a:solidFill>
                  <a:srgbClr val="FFFFFF"/>
                </a:solidFill>
              </a:rPr>
              <a:t>Health</a:t>
            </a:r>
          </a:p>
          <a:p>
            <a:pPr algn="ctr" defTabSz="913857" fontAlgn="base">
              <a:spcBef>
                <a:spcPct val="0"/>
              </a:spcBef>
              <a:spcAft>
                <a:spcPct val="0"/>
              </a:spcAft>
            </a:pPr>
            <a:r>
              <a:rPr lang="en-US" sz="1200" b="1" dirty="0">
                <a:solidFill>
                  <a:srgbClr val="FFFFFF"/>
                </a:solidFill>
              </a:rPr>
              <a:t>Service</a:t>
            </a:r>
          </a:p>
        </p:txBody>
      </p:sp>
      <p:grpSp>
        <p:nvGrpSpPr>
          <p:cNvPr id="9" name="Group 8"/>
          <p:cNvGrpSpPr/>
          <p:nvPr/>
        </p:nvGrpSpPr>
        <p:grpSpPr>
          <a:xfrm>
            <a:off x="1271050" y="2000309"/>
            <a:ext cx="436967" cy="622692"/>
            <a:chOff x="2700346" y="5034220"/>
            <a:chExt cx="582706" cy="830373"/>
          </a:xfrm>
        </p:grpSpPr>
        <p:sp>
          <p:nvSpPr>
            <p:cNvPr id="10" name="Rectangle 9"/>
            <p:cNvSpPr/>
            <p:nvPr/>
          </p:nvSpPr>
          <p:spPr bwMode="auto">
            <a:xfrm>
              <a:off x="2700346" y="5034220"/>
              <a:ext cx="582706" cy="276791"/>
            </a:xfrm>
            <a:prstGeom prst="rect">
              <a:avLst/>
            </a:prstGeom>
            <a:ln w="22225">
              <a:solidFill>
                <a:schemeClr val="tx1"/>
              </a:solidFill>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r>
                <a:rPr lang="en-US" sz="1125" dirty="0">
                  <a:solidFill>
                    <a:srgbClr val="000000"/>
                  </a:solidFill>
                </a:rPr>
                <a:t>MP</a:t>
              </a:r>
              <a:endParaRPr lang="en-US" sz="1200" dirty="0">
                <a:solidFill>
                  <a:srgbClr val="000000"/>
                </a:solidFill>
              </a:endParaRPr>
            </a:p>
          </p:txBody>
        </p:sp>
        <p:sp>
          <p:nvSpPr>
            <p:cNvPr id="11" name="Rectangle 10"/>
            <p:cNvSpPr/>
            <p:nvPr/>
          </p:nvSpPr>
          <p:spPr bwMode="auto">
            <a:xfrm>
              <a:off x="2700346" y="5311011"/>
              <a:ext cx="582706" cy="276791"/>
            </a:xfrm>
            <a:prstGeom prst="rect">
              <a:avLst/>
            </a:prstGeom>
            <a:ln w="22225">
              <a:solidFill>
                <a:schemeClr val="tx1"/>
              </a:solidFill>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r>
                <a:rPr lang="en-US" sz="1200" dirty="0">
                  <a:solidFill>
                    <a:srgbClr val="000000"/>
                  </a:solidFill>
                </a:rPr>
                <a:t>MP</a:t>
              </a:r>
            </a:p>
          </p:txBody>
        </p:sp>
        <p:sp>
          <p:nvSpPr>
            <p:cNvPr id="12" name="Rectangle 11"/>
            <p:cNvSpPr/>
            <p:nvPr/>
          </p:nvSpPr>
          <p:spPr bwMode="auto">
            <a:xfrm>
              <a:off x="2700346" y="5587802"/>
              <a:ext cx="582706" cy="276791"/>
            </a:xfrm>
            <a:prstGeom prst="rect">
              <a:avLst/>
            </a:prstGeom>
            <a:ln w="22225">
              <a:solidFill>
                <a:schemeClr val="tx1"/>
              </a:solidFill>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r>
                <a:rPr lang="en-US" sz="1200" dirty="0">
                  <a:solidFill>
                    <a:srgbClr val="000000"/>
                  </a:solidFill>
                </a:rPr>
                <a:t>MP</a:t>
              </a:r>
            </a:p>
          </p:txBody>
        </p:sp>
      </p:grpSp>
      <p:sp>
        <p:nvSpPr>
          <p:cNvPr id="13" name="TextBox 12"/>
          <p:cNvSpPr txBox="1"/>
          <p:nvPr/>
        </p:nvSpPr>
        <p:spPr>
          <a:xfrm>
            <a:off x="953806" y="4373126"/>
            <a:ext cx="2785863" cy="242374"/>
          </a:xfrm>
          <a:prstGeom prst="rect">
            <a:avLst/>
          </a:prstGeom>
          <a:noFill/>
        </p:spPr>
        <p:txBody>
          <a:bodyPr wrap="square" lIns="0" tIns="0" rIns="0" bIns="0" rtlCol="0">
            <a:spAutoFit/>
          </a:bodyPr>
          <a:lstStyle/>
          <a:p>
            <a:pPr algn="ctr"/>
            <a:r>
              <a:rPr lang="en-US" sz="1575" b="1" i="1" dirty="0">
                <a:solidFill>
                  <a:srgbClr val="FFFFFF"/>
                </a:solidFill>
              </a:rPr>
              <a:t>OpsMgr Management Server</a:t>
            </a:r>
          </a:p>
        </p:txBody>
      </p:sp>
      <p:sp>
        <p:nvSpPr>
          <p:cNvPr id="15" name="Rounded Rectangle 14"/>
          <p:cNvSpPr/>
          <p:nvPr/>
        </p:nvSpPr>
        <p:spPr bwMode="auto">
          <a:xfrm>
            <a:off x="5859759" y="2604285"/>
            <a:ext cx="2200071" cy="1618784"/>
          </a:xfrm>
          <a:prstGeom prst="roundRect">
            <a:avLst>
              <a:gd name="adj" fmla="val 10032"/>
            </a:avLst>
          </a:prstGeom>
          <a:solidFill>
            <a:schemeClr val="tx1">
              <a:lumMod val="85000"/>
            </a:schemeClr>
          </a:solidFill>
          <a:ln>
            <a:solidFill>
              <a:schemeClr val="bg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endParaRPr lang="en-US" sz="1350" dirty="0">
              <a:solidFill>
                <a:srgbClr val="000000"/>
              </a:solidFill>
            </a:endParaRPr>
          </a:p>
        </p:txBody>
      </p:sp>
      <p:sp>
        <p:nvSpPr>
          <p:cNvPr id="16" name="TextBox 15"/>
          <p:cNvSpPr txBox="1"/>
          <p:nvPr/>
        </p:nvSpPr>
        <p:spPr>
          <a:xfrm>
            <a:off x="5582079" y="4389127"/>
            <a:ext cx="2875879" cy="230832"/>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en-US" sz="1500" b="1" i="1" dirty="0">
                <a:solidFill>
                  <a:srgbClr val="FFFFFF"/>
                </a:solidFill>
              </a:rPr>
              <a:t>Managed Linux/UNIX Computer</a:t>
            </a:r>
          </a:p>
        </p:txBody>
      </p:sp>
      <p:sp>
        <p:nvSpPr>
          <p:cNvPr id="17" name="Rounded Rectangle 16"/>
          <p:cNvSpPr/>
          <p:nvPr/>
        </p:nvSpPr>
        <p:spPr bwMode="auto">
          <a:xfrm>
            <a:off x="5995882" y="2667851"/>
            <a:ext cx="1908029" cy="1146518"/>
          </a:xfrm>
          <a:prstGeom prst="roundRect">
            <a:avLst>
              <a:gd name="adj" fmla="val 9795"/>
            </a:avLst>
          </a:prstGeom>
          <a:ln>
            <a:solidFill>
              <a:schemeClr val="bg1">
                <a:lumMod val="95000"/>
                <a:lumOff val="5000"/>
                <a:alpha val="50000"/>
              </a:schemeClr>
            </a:solidFill>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endParaRPr lang="en-US" sz="1200" dirty="0">
              <a:solidFill>
                <a:srgbClr val="000000"/>
              </a:solidFill>
            </a:endParaRPr>
          </a:p>
        </p:txBody>
      </p:sp>
      <p:sp>
        <p:nvSpPr>
          <p:cNvPr id="18" name="TextBox 17"/>
          <p:cNvSpPr txBox="1"/>
          <p:nvPr/>
        </p:nvSpPr>
        <p:spPr>
          <a:xfrm>
            <a:off x="6003024" y="2866538"/>
            <a:ext cx="1811864" cy="884858"/>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en-US" sz="1425" dirty="0">
                <a:solidFill>
                  <a:srgbClr val="FFFFFF"/>
                </a:solidFill>
              </a:rPr>
              <a:t>OpsMgr agent</a:t>
            </a:r>
          </a:p>
          <a:p>
            <a:pPr algn="ctr">
              <a:spcAft>
                <a:spcPts val="600"/>
              </a:spcAft>
            </a:pPr>
            <a:r>
              <a:rPr lang="en-US" sz="1425" dirty="0">
                <a:solidFill>
                  <a:srgbClr val="FFFFFF"/>
                </a:solidFill>
              </a:rPr>
              <a:t>for Linux/UNIX</a:t>
            </a:r>
          </a:p>
          <a:p>
            <a:pPr algn="ctr"/>
            <a:r>
              <a:rPr lang="en-US" sz="1200" i="1" dirty="0">
                <a:solidFill>
                  <a:srgbClr val="FFFFFF"/>
                </a:solidFill>
              </a:rPr>
              <a:t>(</a:t>
            </a:r>
            <a:r>
              <a:rPr lang="en-US" sz="1200" i="1" dirty="0" err="1">
                <a:solidFill>
                  <a:srgbClr val="FFFFFF"/>
                </a:solidFill>
              </a:rPr>
              <a:t>OpenPegasus</a:t>
            </a:r>
            <a:r>
              <a:rPr lang="en-US" sz="1200" i="1" dirty="0">
                <a:solidFill>
                  <a:srgbClr val="FFFFFF"/>
                </a:solidFill>
              </a:rPr>
              <a:t> CIM</a:t>
            </a:r>
          </a:p>
          <a:p>
            <a:pPr algn="ctr"/>
            <a:r>
              <a:rPr lang="en-US" sz="1200" i="1" dirty="0">
                <a:solidFill>
                  <a:srgbClr val="FFFFFF"/>
                </a:solidFill>
              </a:rPr>
              <a:t>Server + providers)</a:t>
            </a:r>
          </a:p>
        </p:txBody>
      </p:sp>
      <p:sp>
        <p:nvSpPr>
          <p:cNvPr id="21" name="Rounded Rectangle 20"/>
          <p:cNvSpPr/>
          <p:nvPr/>
        </p:nvSpPr>
        <p:spPr bwMode="auto">
          <a:xfrm>
            <a:off x="6003024" y="3851496"/>
            <a:ext cx="580920" cy="288998"/>
          </a:xfrm>
          <a:prstGeom prst="roundRect">
            <a:avLst/>
          </a:prstGeom>
          <a:solidFill>
            <a:schemeClr val="accent1">
              <a:lumMod val="60000"/>
              <a:lumOff val="40000"/>
            </a:schemeClr>
          </a:solidFill>
          <a:ln w="19050">
            <a:solidFill>
              <a:schemeClr val="tx1"/>
            </a:solid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200" dirty="0" err="1">
                <a:solidFill>
                  <a:srgbClr val="000000"/>
                </a:solidFill>
              </a:rPr>
              <a:t>sshd</a:t>
            </a:r>
            <a:endParaRPr lang="en-US" sz="1200" dirty="0">
              <a:solidFill>
                <a:srgbClr val="000000"/>
              </a:solidFill>
            </a:endParaRPr>
          </a:p>
        </p:txBody>
      </p:sp>
      <p:sp>
        <p:nvSpPr>
          <p:cNvPr id="22" name="Rounded Rectangle 21"/>
          <p:cNvSpPr/>
          <p:nvPr/>
        </p:nvSpPr>
        <p:spPr bwMode="auto">
          <a:xfrm>
            <a:off x="2778743" y="3678341"/>
            <a:ext cx="745975" cy="557980"/>
          </a:xfrm>
          <a:prstGeom prst="roundRect">
            <a:avLst/>
          </a:prstGeom>
          <a:solidFill>
            <a:schemeClr val="accent1">
              <a:lumMod val="60000"/>
              <a:lumOff val="40000"/>
            </a:schemeClr>
          </a:solidFill>
          <a:ln w="19050">
            <a:solidFill>
              <a:schemeClr val="tx1"/>
            </a:solid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0" tIns="45704" rIns="0" bIns="45704" numCol="1" rtlCol="0" anchor="ctr" anchorCtr="0" compatLnSpc="1">
            <a:prstTxWarp prst="textNoShape">
              <a:avLst/>
            </a:prstTxWarp>
          </a:bodyPr>
          <a:lstStyle/>
          <a:p>
            <a:pPr algn="ctr" defTabSz="913857" fontAlgn="base">
              <a:spcBef>
                <a:spcPct val="0"/>
              </a:spcBef>
              <a:spcAft>
                <a:spcPct val="0"/>
              </a:spcAft>
            </a:pPr>
            <a:r>
              <a:rPr lang="en-US" sz="1200" dirty="0">
                <a:solidFill>
                  <a:srgbClr val="000000"/>
                </a:solidFill>
              </a:rPr>
              <a:t>ssh client</a:t>
            </a:r>
          </a:p>
          <a:p>
            <a:pPr algn="ctr" defTabSz="913857" fontAlgn="base">
              <a:spcBef>
                <a:spcPct val="0"/>
              </a:spcBef>
              <a:spcAft>
                <a:spcPct val="0"/>
              </a:spcAft>
            </a:pPr>
            <a:r>
              <a:rPr lang="en-US" sz="1200" dirty="0">
                <a:solidFill>
                  <a:srgbClr val="000000"/>
                </a:solidFill>
              </a:rPr>
              <a:t>library</a:t>
            </a:r>
          </a:p>
        </p:txBody>
      </p:sp>
      <p:sp>
        <p:nvSpPr>
          <p:cNvPr id="23" name="Rounded Rectangle 22"/>
          <p:cNvSpPr/>
          <p:nvPr/>
        </p:nvSpPr>
        <p:spPr bwMode="auto">
          <a:xfrm>
            <a:off x="2778743" y="2965148"/>
            <a:ext cx="732211" cy="660447"/>
          </a:xfrm>
          <a:prstGeom prst="roundRect">
            <a:avLst/>
          </a:prstGeom>
          <a:solidFill>
            <a:schemeClr val="accent1">
              <a:lumMod val="60000"/>
              <a:lumOff val="40000"/>
            </a:schemeClr>
          </a:solidFill>
          <a:ln w="19050">
            <a:solidFill>
              <a:schemeClr val="tx1"/>
            </a:solid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0" tIns="45704" rIns="0" bIns="45704" numCol="1" rtlCol="0" anchor="ctr" anchorCtr="0" compatLnSpc="1">
            <a:prstTxWarp prst="textNoShape">
              <a:avLst/>
            </a:prstTxWarp>
          </a:bodyPr>
          <a:lstStyle/>
          <a:p>
            <a:pPr algn="ctr" defTabSz="913857" fontAlgn="base">
              <a:spcBef>
                <a:spcPct val="0"/>
              </a:spcBef>
              <a:spcAft>
                <a:spcPct val="0"/>
              </a:spcAft>
            </a:pPr>
            <a:r>
              <a:rPr lang="en-US" sz="1200" dirty="0" err="1">
                <a:solidFill>
                  <a:srgbClr val="000000"/>
                </a:solidFill>
              </a:rPr>
              <a:t>WinRM</a:t>
            </a:r>
            <a:endParaRPr lang="en-US" sz="1200" dirty="0">
              <a:solidFill>
                <a:srgbClr val="000000"/>
              </a:solidFill>
            </a:endParaRPr>
          </a:p>
          <a:p>
            <a:pPr algn="ctr" defTabSz="913857" fontAlgn="base">
              <a:spcBef>
                <a:spcPct val="0"/>
              </a:spcBef>
              <a:spcAft>
                <a:spcPct val="0"/>
              </a:spcAft>
            </a:pPr>
            <a:r>
              <a:rPr lang="en-US" sz="1200" dirty="0">
                <a:solidFill>
                  <a:srgbClr val="000000"/>
                </a:solidFill>
              </a:rPr>
              <a:t>library</a:t>
            </a:r>
          </a:p>
        </p:txBody>
      </p:sp>
      <p:sp>
        <p:nvSpPr>
          <p:cNvPr id="26" name="Right Arrow 25"/>
          <p:cNvSpPr/>
          <p:nvPr/>
        </p:nvSpPr>
        <p:spPr bwMode="auto">
          <a:xfrm>
            <a:off x="3562580" y="2978885"/>
            <a:ext cx="2410084" cy="274281"/>
          </a:xfrm>
          <a:prstGeom prst="rightArrow">
            <a:avLst/>
          </a:prstGeom>
          <a:solidFill>
            <a:schemeClr val="accent3">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050" b="1" i="1" dirty="0">
                <a:solidFill>
                  <a:srgbClr val="000000"/>
                </a:solidFill>
              </a:rPr>
              <a:t>    HTTPS </a:t>
            </a:r>
            <a:r>
              <a:rPr lang="en-US" sz="825" b="1" i="1" dirty="0">
                <a:solidFill>
                  <a:srgbClr val="000000"/>
                </a:solidFill>
              </a:rPr>
              <a:t>transport</a:t>
            </a:r>
            <a:endParaRPr lang="en-US" sz="1050" b="1" i="1" dirty="0">
              <a:solidFill>
                <a:srgbClr val="000000"/>
              </a:solidFill>
            </a:endParaRPr>
          </a:p>
        </p:txBody>
      </p:sp>
      <p:sp>
        <p:nvSpPr>
          <p:cNvPr id="28" name="TextBox 27"/>
          <p:cNvSpPr txBox="1"/>
          <p:nvPr/>
        </p:nvSpPr>
        <p:spPr>
          <a:xfrm>
            <a:off x="3982791" y="3439304"/>
            <a:ext cx="1238801" cy="207749"/>
          </a:xfrm>
          <a:prstGeom prst="rect">
            <a:avLst/>
          </a:prstGeom>
          <a:noFill/>
        </p:spPr>
        <p:txBody>
          <a:bodyPr wrap="none" lIns="0" tIns="0" rIns="0" bIns="0" rtlCol="0">
            <a:spAutoFit/>
          </a:bodyPr>
          <a:lstStyle/>
          <a:p>
            <a:r>
              <a:rPr lang="en-US" sz="1350" dirty="0">
                <a:solidFill>
                  <a:srgbClr val="FFFFFF"/>
                </a:solidFill>
              </a:rPr>
              <a:t>WS-Man protocol</a:t>
            </a:r>
          </a:p>
        </p:txBody>
      </p:sp>
      <p:sp>
        <p:nvSpPr>
          <p:cNvPr id="29" name="TextBox 28"/>
          <p:cNvSpPr txBox="1"/>
          <p:nvPr/>
        </p:nvSpPr>
        <p:spPr>
          <a:xfrm>
            <a:off x="3734354" y="4045529"/>
            <a:ext cx="2149942" cy="184666"/>
          </a:xfrm>
          <a:prstGeom prst="rect">
            <a:avLst/>
          </a:prstGeom>
          <a:noFill/>
        </p:spPr>
        <p:txBody>
          <a:bodyPr wrap="square" lIns="0" tIns="0" rIns="0" bIns="0" rtlCol="0">
            <a:spAutoFit/>
          </a:bodyPr>
          <a:lstStyle/>
          <a:p>
            <a:r>
              <a:rPr lang="en-US" sz="1200" dirty="0">
                <a:solidFill>
                  <a:srgbClr val="FFFFFF"/>
                </a:solidFill>
              </a:rPr>
              <a:t>Agent Maintenance Actions</a:t>
            </a:r>
          </a:p>
        </p:txBody>
      </p:sp>
      <p:sp>
        <p:nvSpPr>
          <p:cNvPr id="30" name="Right Arrow 29"/>
          <p:cNvSpPr/>
          <p:nvPr/>
        </p:nvSpPr>
        <p:spPr bwMode="auto">
          <a:xfrm rot="2109748">
            <a:off x="2119088" y="2988526"/>
            <a:ext cx="650132" cy="239072"/>
          </a:xfrm>
          <a:prstGeom prst="rightArrow">
            <a:avLst/>
          </a:prstGeom>
          <a:ln w="19050">
            <a:solidFill>
              <a:schemeClr val="tx1"/>
            </a:solidFill>
            <a:headEnd type="none" w="med" len="med"/>
            <a:tailEnd type="none" w="med" len="med"/>
          </a:ln>
        </p:spPr>
        <p:style>
          <a:lnRef idx="3">
            <a:schemeClr val="lt1"/>
          </a:lnRef>
          <a:fillRef idx="1">
            <a:schemeClr val="accent6"/>
          </a:fillRef>
          <a:effectRef idx="1">
            <a:schemeClr val="accent6"/>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endParaRPr lang="en-US" sz="2175" dirty="0">
              <a:gradFill>
                <a:gsLst>
                  <a:gs pos="0">
                    <a:srgbClr val="FFFFFF"/>
                  </a:gs>
                  <a:gs pos="100000">
                    <a:srgbClr val="FFFFFF"/>
                  </a:gs>
                </a:gsLst>
                <a:lin ang="5400000" scaled="0"/>
              </a:gradFill>
            </a:endParaRPr>
          </a:p>
        </p:txBody>
      </p:sp>
      <p:sp>
        <p:nvSpPr>
          <p:cNvPr id="31" name="Left Arrow 30"/>
          <p:cNvSpPr/>
          <p:nvPr/>
        </p:nvSpPr>
        <p:spPr bwMode="auto">
          <a:xfrm>
            <a:off x="3555439" y="3207347"/>
            <a:ext cx="2410084" cy="274281"/>
          </a:xfrm>
          <a:prstGeom prst="leftArrow">
            <a:avLst/>
          </a:prstGeom>
          <a:solidFill>
            <a:schemeClr val="accent3">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050" b="1" i="1" dirty="0">
                <a:solidFill>
                  <a:srgbClr val="000000"/>
                </a:solidFill>
              </a:rPr>
              <a:t>HTTPS </a:t>
            </a:r>
            <a:r>
              <a:rPr lang="en-US" sz="825" b="1" i="1" dirty="0">
                <a:solidFill>
                  <a:srgbClr val="000000"/>
                </a:solidFill>
              </a:rPr>
              <a:t>transport</a:t>
            </a:r>
            <a:endParaRPr lang="en-US" sz="1050" b="1" i="1" dirty="0">
              <a:solidFill>
                <a:srgbClr val="000000"/>
              </a:solidFill>
            </a:endParaRPr>
          </a:p>
        </p:txBody>
      </p:sp>
      <p:sp>
        <p:nvSpPr>
          <p:cNvPr id="33" name="Right Arrow 32"/>
          <p:cNvSpPr/>
          <p:nvPr/>
        </p:nvSpPr>
        <p:spPr bwMode="auto">
          <a:xfrm>
            <a:off x="3583486" y="3804334"/>
            <a:ext cx="2389178" cy="274281"/>
          </a:xfrm>
          <a:prstGeom prst="rightArrow">
            <a:avLst/>
          </a:prstGeom>
          <a:solidFill>
            <a:schemeClr val="accent3">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endParaRPr lang="en-US" sz="1200" b="1" i="1" dirty="0">
              <a:solidFill>
                <a:srgbClr val="000000"/>
              </a:solidFill>
            </a:endParaRPr>
          </a:p>
        </p:txBody>
      </p:sp>
      <p:sp>
        <p:nvSpPr>
          <p:cNvPr id="36" name="Rectangle 35"/>
          <p:cNvSpPr/>
          <p:nvPr/>
        </p:nvSpPr>
        <p:spPr bwMode="auto">
          <a:xfrm>
            <a:off x="1792978" y="1851670"/>
            <a:ext cx="1203914" cy="454028"/>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200" b="1" dirty="0" err="1">
                <a:solidFill>
                  <a:srgbClr val="FFFFFF"/>
                </a:solidFill>
              </a:rPr>
              <a:t>Config</a:t>
            </a:r>
            <a:endParaRPr lang="en-US" sz="1200" b="1" dirty="0">
              <a:solidFill>
                <a:srgbClr val="FFFFFF"/>
              </a:solidFill>
            </a:endParaRPr>
          </a:p>
          <a:p>
            <a:pPr algn="ctr" defTabSz="913857" fontAlgn="base">
              <a:spcBef>
                <a:spcPct val="0"/>
              </a:spcBef>
              <a:spcAft>
                <a:spcPct val="0"/>
              </a:spcAft>
            </a:pPr>
            <a:r>
              <a:rPr lang="en-US" sz="1200" b="1" dirty="0">
                <a:solidFill>
                  <a:srgbClr val="FFFFFF"/>
                </a:solidFill>
              </a:rPr>
              <a:t>Service</a:t>
            </a:r>
          </a:p>
        </p:txBody>
      </p:sp>
      <p:sp>
        <p:nvSpPr>
          <p:cNvPr id="37" name="Rectangle 36"/>
          <p:cNvSpPr/>
          <p:nvPr/>
        </p:nvSpPr>
        <p:spPr bwMode="auto">
          <a:xfrm>
            <a:off x="1792978" y="1451219"/>
            <a:ext cx="1203914" cy="390851"/>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200" b="1" dirty="0">
                <a:solidFill>
                  <a:srgbClr val="FFFFFF"/>
                </a:solidFill>
              </a:rPr>
              <a:t>SDK</a:t>
            </a:r>
          </a:p>
        </p:txBody>
      </p:sp>
      <p:sp>
        <p:nvSpPr>
          <p:cNvPr id="40" name="TextBox 39"/>
          <p:cNvSpPr txBox="1"/>
          <p:nvPr/>
        </p:nvSpPr>
        <p:spPr>
          <a:xfrm>
            <a:off x="6053862" y="3363289"/>
            <a:ext cx="1811864" cy="369332"/>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lIns="0" tIns="0" rIns="0" bIns="0" rtlCol="0">
            <a:spAutoFit/>
          </a:bodyPr>
          <a:lstStyle/>
          <a:p>
            <a:pPr algn="ctr"/>
            <a:r>
              <a:rPr lang="en-US" sz="1200" b="1" dirty="0">
                <a:solidFill>
                  <a:srgbClr val="FFFFFF"/>
                </a:solidFill>
              </a:rPr>
              <a:t>(OMI CIM Server </a:t>
            </a:r>
            <a:br>
              <a:rPr lang="en-US" sz="1200" b="1" dirty="0">
                <a:solidFill>
                  <a:srgbClr val="FFFFFF"/>
                </a:solidFill>
              </a:rPr>
            </a:br>
            <a:r>
              <a:rPr lang="en-US" sz="1200" b="1" dirty="0">
                <a:solidFill>
                  <a:srgbClr val="FFFFFF"/>
                </a:solidFill>
              </a:rPr>
              <a:t>+ providers)</a:t>
            </a:r>
          </a:p>
        </p:txBody>
      </p:sp>
      <p:sp>
        <p:nvSpPr>
          <p:cNvPr id="24" name="TextBox 23"/>
          <p:cNvSpPr txBox="1"/>
          <p:nvPr/>
        </p:nvSpPr>
        <p:spPr>
          <a:xfrm>
            <a:off x="4159637" y="3855333"/>
            <a:ext cx="812723" cy="158377"/>
          </a:xfrm>
          <a:prstGeom prst="rect">
            <a:avLst/>
          </a:prstGeom>
          <a:noFill/>
        </p:spPr>
        <p:txBody>
          <a:bodyPr wrap="none" lIns="0" tIns="0" rIns="0" bIns="0" rtlCol="0">
            <a:spAutoFit/>
          </a:bodyPr>
          <a:lstStyle/>
          <a:p>
            <a:r>
              <a:rPr lang="en-US" sz="1029" b="1" dirty="0">
                <a:solidFill>
                  <a:srgbClr val="000000"/>
                </a:solidFill>
              </a:rPr>
              <a:t>ssh connection</a:t>
            </a:r>
          </a:p>
        </p:txBody>
      </p:sp>
      <p:sp>
        <p:nvSpPr>
          <p:cNvPr id="48" name="Rounded Rectangle 47"/>
          <p:cNvSpPr/>
          <p:nvPr/>
        </p:nvSpPr>
        <p:spPr bwMode="auto">
          <a:xfrm>
            <a:off x="5847692" y="1157712"/>
            <a:ext cx="2200071" cy="1358012"/>
          </a:xfrm>
          <a:prstGeom prst="roundRect">
            <a:avLst>
              <a:gd name="adj" fmla="val 10032"/>
            </a:avLst>
          </a:prstGeom>
          <a:solidFill>
            <a:schemeClr val="tx1">
              <a:lumMod val="85000"/>
            </a:schemeClr>
          </a:solidFill>
          <a:ln>
            <a:solidFill>
              <a:schemeClr val="bg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endParaRPr lang="en-US" sz="1350" dirty="0">
              <a:solidFill>
                <a:srgbClr val="000000"/>
              </a:solidFill>
            </a:endParaRPr>
          </a:p>
        </p:txBody>
      </p:sp>
      <p:sp>
        <p:nvSpPr>
          <p:cNvPr id="49" name="Rounded Rectangle 48"/>
          <p:cNvSpPr/>
          <p:nvPr/>
        </p:nvSpPr>
        <p:spPr bwMode="auto">
          <a:xfrm>
            <a:off x="5996977" y="1271782"/>
            <a:ext cx="1908029" cy="1077883"/>
          </a:xfrm>
          <a:prstGeom prst="roundRect">
            <a:avLst>
              <a:gd name="adj" fmla="val 9795"/>
            </a:avLst>
          </a:prstGeom>
          <a:ln>
            <a:solidFill>
              <a:schemeClr val="bg1">
                <a:lumMod val="95000"/>
                <a:lumOff val="5000"/>
                <a:alpha val="50000"/>
              </a:schemeClr>
            </a:solidFill>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68567" tIns="34284" rIns="68567" bIns="34284" numCol="1" rtlCol="0" anchor="ctr" anchorCtr="0" compatLnSpc="1">
            <a:prstTxWarp prst="textNoShape">
              <a:avLst/>
            </a:prstTxWarp>
          </a:bodyPr>
          <a:lstStyle/>
          <a:p>
            <a:pPr algn="ctr" defTabSz="913857" fontAlgn="base">
              <a:spcBef>
                <a:spcPct val="0"/>
              </a:spcBef>
              <a:spcAft>
                <a:spcPct val="0"/>
              </a:spcAft>
            </a:pPr>
            <a:endParaRPr lang="en-US" sz="1200" dirty="0">
              <a:solidFill>
                <a:srgbClr val="000000"/>
              </a:solidFill>
            </a:endParaRPr>
          </a:p>
        </p:txBody>
      </p:sp>
      <p:sp>
        <p:nvSpPr>
          <p:cNvPr id="50" name="TextBox 49"/>
          <p:cNvSpPr txBox="1"/>
          <p:nvPr/>
        </p:nvSpPr>
        <p:spPr>
          <a:xfrm>
            <a:off x="6004118" y="1470469"/>
            <a:ext cx="1811864" cy="700192"/>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en-US" sz="1425" dirty="0">
                <a:solidFill>
                  <a:srgbClr val="FFFFFF"/>
                </a:solidFill>
              </a:rPr>
              <a:t>OpsMgr agent</a:t>
            </a:r>
          </a:p>
          <a:p>
            <a:pPr algn="ctr">
              <a:spcAft>
                <a:spcPts val="600"/>
              </a:spcAft>
            </a:pPr>
            <a:r>
              <a:rPr lang="en-US" sz="1425" dirty="0">
                <a:solidFill>
                  <a:srgbClr val="FFFFFF"/>
                </a:solidFill>
              </a:rPr>
              <a:t>for Windows</a:t>
            </a:r>
          </a:p>
          <a:p>
            <a:pPr algn="ctr"/>
            <a:endParaRPr lang="en-US" sz="1200" i="1" dirty="0">
              <a:solidFill>
                <a:srgbClr val="FFFFFF"/>
              </a:solidFill>
            </a:endParaRPr>
          </a:p>
        </p:txBody>
      </p:sp>
      <p:sp>
        <p:nvSpPr>
          <p:cNvPr id="65" name="Right Arrow 64"/>
          <p:cNvSpPr/>
          <p:nvPr/>
        </p:nvSpPr>
        <p:spPr bwMode="auto">
          <a:xfrm>
            <a:off x="3562580" y="1560412"/>
            <a:ext cx="2410084" cy="274281"/>
          </a:xfrm>
          <a:prstGeom prst="rightArrow">
            <a:avLst/>
          </a:prstGeom>
          <a:solidFill>
            <a:schemeClr val="accent3">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050" b="1" i="1" dirty="0" err="1">
                <a:solidFill>
                  <a:srgbClr val="000000"/>
                </a:solidFill>
              </a:rPr>
              <a:t>Config</a:t>
            </a:r>
            <a:r>
              <a:rPr lang="en-US" sz="1050" b="1" i="1" dirty="0">
                <a:solidFill>
                  <a:srgbClr val="000000"/>
                </a:solidFill>
              </a:rPr>
              <a:t> (MPs)</a:t>
            </a:r>
          </a:p>
        </p:txBody>
      </p:sp>
      <p:sp>
        <p:nvSpPr>
          <p:cNvPr id="66" name="Left Arrow 65"/>
          <p:cNvSpPr/>
          <p:nvPr/>
        </p:nvSpPr>
        <p:spPr bwMode="auto">
          <a:xfrm>
            <a:off x="3555439" y="1788874"/>
            <a:ext cx="2410084" cy="274281"/>
          </a:xfrm>
          <a:prstGeom prst="leftArrow">
            <a:avLst/>
          </a:prstGeom>
          <a:solidFill>
            <a:schemeClr val="accent3">
              <a:lumMod val="20000"/>
              <a:lumOff val="80000"/>
            </a:schemeClr>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050" b="1" i="1" dirty="0">
                <a:solidFill>
                  <a:srgbClr val="000000"/>
                </a:solidFill>
              </a:rPr>
              <a:t>Events, Data, State</a:t>
            </a:r>
          </a:p>
        </p:txBody>
      </p:sp>
      <p:sp>
        <p:nvSpPr>
          <p:cNvPr id="67" name="TextBox 66"/>
          <p:cNvSpPr txBox="1"/>
          <p:nvPr/>
        </p:nvSpPr>
        <p:spPr>
          <a:xfrm>
            <a:off x="5582078" y="828654"/>
            <a:ext cx="2875879" cy="230832"/>
          </a:xfrm>
          <a:prstGeom prst="rect">
            <a:avLst/>
          </a:prstGeom>
          <a:noFill/>
          <a:ln>
            <a:noFill/>
          </a:ln>
        </p:spPr>
        <p:style>
          <a:lnRef idx="1">
            <a:schemeClr val="dk1"/>
          </a:lnRef>
          <a:fillRef idx="2">
            <a:schemeClr val="dk1"/>
          </a:fillRef>
          <a:effectRef idx="1">
            <a:schemeClr val="dk1"/>
          </a:effectRef>
          <a:fontRef idx="minor">
            <a:schemeClr val="dk1"/>
          </a:fontRef>
        </p:style>
        <p:txBody>
          <a:bodyPr wrap="square" lIns="0" tIns="0" rIns="0" bIns="0" rtlCol="0">
            <a:spAutoFit/>
          </a:bodyPr>
          <a:lstStyle/>
          <a:p>
            <a:pPr algn="ctr"/>
            <a:r>
              <a:rPr lang="en-US" sz="1500" b="1" i="1" dirty="0">
                <a:solidFill>
                  <a:srgbClr val="FFFFFF"/>
                </a:solidFill>
              </a:rPr>
              <a:t>Managed Windows Computer</a:t>
            </a:r>
          </a:p>
        </p:txBody>
      </p:sp>
      <p:pic>
        <p:nvPicPr>
          <p:cNvPr id="76" name="Picture 7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934" y="2318469"/>
            <a:ext cx="583239" cy="628308"/>
          </a:xfrm>
          <a:prstGeom prst="rect">
            <a:avLst/>
          </a:prstGeom>
        </p:spPr>
      </p:pic>
      <p:sp>
        <p:nvSpPr>
          <p:cNvPr id="79" name="Rectangle 78"/>
          <p:cNvSpPr/>
          <p:nvPr/>
        </p:nvSpPr>
        <p:spPr bwMode="auto">
          <a:xfrm>
            <a:off x="6055442" y="1894992"/>
            <a:ext cx="1813843" cy="358468"/>
          </a:xfrm>
          <a:prstGeom prst="rect">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7" tIns="45704" rIns="91407" bIns="45704" numCol="1" rtlCol="0" anchor="ctr" anchorCtr="0" compatLnSpc="1">
            <a:prstTxWarp prst="textNoShape">
              <a:avLst/>
            </a:prstTxWarp>
          </a:bodyPr>
          <a:lstStyle/>
          <a:p>
            <a:pPr algn="ctr" defTabSz="913857" fontAlgn="base">
              <a:spcBef>
                <a:spcPct val="0"/>
              </a:spcBef>
              <a:spcAft>
                <a:spcPct val="0"/>
              </a:spcAft>
            </a:pPr>
            <a:r>
              <a:rPr lang="en-US" sz="1200" b="1" dirty="0">
                <a:solidFill>
                  <a:srgbClr val="FFFFFF"/>
                </a:solidFill>
              </a:rPr>
              <a:t>Health Service</a:t>
            </a:r>
          </a:p>
        </p:txBody>
      </p:sp>
      <p:sp>
        <p:nvSpPr>
          <p:cNvPr id="38" name="TextBox 37"/>
          <p:cNvSpPr txBox="1"/>
          <p:nvPr/>
        </p:nvSpPr>
        <p:spPr>
          <a:xfrm>
            <a:off x="4247682" y="1332861"/>
            <a:ext cx="987450" cy="207749"/>
          </a:xfrm>
          <a:prstGeom prst="rect">
            <a:avLst/>
          </a:prstGeom>
          <a:noFill/>
        </p:spPr>
        <p:txBody>
          <a:bodyPr wrap="none" lIns="0" tIns="0" rIns="0" bIns="0" rtlCol="0">
            <a:spAutoFit/>
          </a:bodyPr>
          <a:lstStyle/>
          <a:p>
            <a:r>
              <a:rPr lang="en-US" sz="1350" dirty="0" err="1">
                <a:solidFill>
                  <a:srgbClr val="FFFFFF"/>
                </a:solidFill>
              </a:rPr>
              <a:t>MOMChannel</a:t>
            </a:r>
            <a:endParaRPr lang="en-US" sz="1350" dirty="0">
              <a:solidFill>
                <a:srgbClr val="FFFFFF"/>
              </a:solidFill>
            </a:endParaRPr>
          </a:p>
        </p:txBody>
      </p:sp>
    </p:spTree>
    <p:extLst>
      <p:ext uri="{BB962C8B-B14F-4D97-AF65-F5344CB8AC3E}">
        <p14:creationId xmlns:p14="http://schemas.microsoft.com/office/powerpoint/2010/main" val="745551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animBg="1"/>
      <p:bldP spid="18" grpId="0"/>
      <p:bldP spid="21" grpId="0" animBg="1"/>
      <p:bldP spid="22" grpId="0" animBg="1"/>
      <p:bldP spid="23" grpId="0" animBg="1"/>
      <p:bldP spid="26" grpId="0" animBg="1"/>
      <p:bldP spid="28" grpId="0"/>
      <p:bldP spid="29" grpId="0"/>
      <p:bldP spid="30" grpId="0" animBg="1"/>
      <p:bldP spid="31" grpId="0" animBg="1"/>
      <p:bldP spid="33" grpId="0" animBg="1"/>
      <p:bldP spid="40" grpId="0" animBg="1"/>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Monitoring</a:t>
            </a:r>
          </a:p>
        </p:txBody>
      </p:sp>
      <p:graphicFrame>
        <p:nvGraphicFramePr>
          <p:cNvPr id="6" name="Content Placeholder 5"/>
          <p:cNvGraphicFramePr>
            <a:graphicFrameLocks noGrp="1"/>
          </p:cNvGraphicFramePr>
          <p:nvPr>
            <p:ph sz="quarter" idx="10"/>
            <p:extLst/>
          </p:nvPr>
        </p:nvGraphicFramePr>
        <p:xfrm>
          <a:off x="179512" y="3765018"/>
          <a:ext cx="8858374" cy="8405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nvPr>
        </p:nvGraphicFramePr>
        <p:xfrm>
          <a:off x="106114" y="759128"/>
          <a:ext cx="7054001" cy="294878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33" name="Group 32"/>
          <p:cNvGrpSpPr/>
          <p:nvPr/>
        </p:nvGrpSpPr>
        <p:grpSpPr>
          <a:xfrm>
            <a:off x="179513" y="4659982"/>
            <a:ext cx="8858374" cy="432048"/>
            <a:chOff x="179513" y="4659982"/>
            <a:chExt cx="8858374" cy="432048"/>
          </a:xfrm>
        </p:grpSpPr>
        <p:sp>
          <p:nvSpPr>
            <p:cNvPr id="3" name="Rectangle 2"/>
            <p:cNvSpPr/>
            <p:nvPr/>
          </p:nvSpPr>
          <p:spPr>
            <a:xfrm>
              <a:off x="179513" y="4659982"/>
              <a:ext cx="8858374" cy="432048"/>
            </a:xfrm>
            <a:prstGeom prst="rect">
              <a:avLst/>
            </a:prstGeom>
            <a:scene3d>
              <a:camera prst="orthographicFront"/>
              <a:lightRig rig="threePt" dir="t"/>
            </a:scene3d>
            <a:sp3d>
              <a:bevelT/>
            </a:sp3d>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pic>
          <p:nvPicPr>
            <p:cNvPr id="15" name="Picture 6" descr="https://assets.ubuntu.com/v1/c037fd75-ubuntu-logo.png">
              <a:extLst/>
            </p:cNvPr>
            <p:cNvPicPr>
              <a:picLocks noChangeAspect="1"/>
            </p:cNvPicPr>
            <p:nvPr/>
          </p:nvPicPr>
          <p:blipFill>
            <a:blip r:embed="rId13"/>
            <a:srcRect/>
            <a:stretch>
              <a:fillRect/>
            </a:stretch>
          </p:blipFill>
          <p:spPr>
            <a:xfrm>
              <a:off x="2472398" y="4786567"/>
              <a:ext cx="701883" cy="158340"/>
            </a:xfrm>
            <a:prstGeom prst="rect">
              <a:avLst/>
            </a:prstGeom>
            <a:noFill/>
            <a:ln cap="flat">
              <a:noFill/>
            </a:ln>
          </p:spPr>
        </p:pic>
        <p:pic>
          <p:nvPicPr>
            <p:cNvPr id="16" name="Picture 14" descr="https://d0.awsstatic.com/logos/partners/logo-oracle-linux.png">
              <a:extLst/>
            </p:cNvPr>
            <p:cNvPicPr>
              <a:picLocks noChangeAspect="1"/>
            </p:cNvPicPr>
            <p:nvPr/>
          </p:nvPicPr>
          <p:blipFill>
            <a:blip r:embed="rId14"/>
            <a:srcRect/>
            <a:stretch>
              <a:fillRect/>
            </a:stretch>
          </p:blipFill>
          <p:spPr>
            <a:xfrm>
              <a:off x="4334975" y="4767184"/>
              <a:ext cx="640126" cy="217643"/>
            </a:xfrm>
            <a:prstGeom prst="rect">
              <a:avLst/>
            </a:prstGeom>
            <a:noFill/>
            <a:ln cap="flat">
              <a:noFill/>
            </a:ln>
          </p:spPr>
        </p:pic>
        <p:pic>
          <p:nvPicPr>
            <p:cNvPr id="17" name="Picture 10" descr="https://upload.wikimedia.org/wikipedia/commons/thumb/b/bf/Centos-logo-light.svg/200px-Centos-logo-light.svg.png">
              <a:extLst/>
            </p:cNvPr>
            <p:cNvPicPr>
              <a:picLocks noChangeAspect="1"/>
            </p:cNvPicPr>
            <p:nvPr/>
          </p:nvPicPr>
          <p:blipFill>
            <a:blip r:embed="rId15"/>
            <a:srcRect/>
            <a:stretch>
              <a:fillRect/>
            </a:stretch>
          </p:blipFill>
          <p:spPr>
            <a:xfrm>
              <a:off x="3371868" y="4748185"/>
              <a:ext cx="696544" cy="233342"/>
            </a:xfrm>
            <a:prstGeom prst="rect">
              <a:avLst/>
            </a:prstGeom>
            <a:noFill/>
            <a:ln cap="flat">
              <a:noFill/>
            </a:ln>
          </p:spPr>
        </p:pic>
        <p:pic>
          <p:nvPicPr>
            <p:cNvPr id="18" name="Picture 2" descr="http://www.linuxservice.be/nl/images/debian5.png">
              <a:extLst/>
            </p:cNvPr>
            <p:cNvPicPr>
              <a:picLocks noChangeAspect="1"/>
            </p:cNvPicPr>
            <p:nvPr/>
          </p:nvPicPr>
          <p:blipFill>
            <a:blip r:embed="rId16"/>
            <a:srcRect/>
            <a:stretch>
              <a:fillRect/>
            </a:stretch>
          </p:blipFill>
          <p:spPr>
            <a:xfrm>
              <a:off x="1485043" y="4749947"/>
              <a:ext cx="896441" cy="231580"/>
            </a:xfrm>
            <a:prstGeom prst="rect">
              <a:avLst/>
            </a:prstGeom>
            <a:noFill/>
            <a:ln cap="flat">
              <a:noFill/>
            </a:ln>
          </p:spPr>
        </p:pic>
        <p:pic>
          <p:nvPicPr>
            <p:cNvPr id="19" name="Picture 4" descr="http://www.radicaltechnologiesbangalore.com/wp-content/plugins/ambil-services/resources/images/technologies/SLD4736999.png">
              <a:extLst/>
            </p:cNvPr>
            <p:cNvPicPr>
              <a:picLocks noChangeAspect="1"/>
            </p:cNvPicPr>
            <p:nvPr/>
          </p:nvPicPr>
          <p:blipFill>
            <a:blip r:embed="rId17"/>
            <a:srcRect/>
            <a:stretch>
              <a:fillRect/>
            </a:stretch>
          </p:blipFill>
          <p:spPr>
            <a:xfrm>
              <a:off x="611560" y="4659982"/>
              <a:ext cx="411510" cy="411510"/>
            </a:xfrm>
            <a:prstGeom prst="rect">
              <a:avLst/>
            </a:prstGeom>
            <a:noFill/>
            <a:ln cap="flat">
              <a:noFill/>
            </a:ln>
          </p:spPr>
        </p:pic>
        <p:pic>
          <p:nvPicPr>
            <p:cNvPr id="20" name="Picture 19"/>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05699" y="4794658"/>
              <a:ext cx="291001" cy="162696"/>
            </a:xfrm>
            <a:prstGeom prst="rect">
              <a:avLst/>
            </a:prstGeom>
          </p:spPr>
        </p:pic>
        <p:pic>
          <p:nvPicPr>
            <p:cNvPr id="21" name="Picture 20"/>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70059" y="4748185"/>
              <a:ext cx="306040" cy="306040"/>
            </a:xfrm>
            <a:prstGeom prst="rect">
              <a:avLst/>
            </a:prstGeom>
          </p:spPr>
        </p:pic>
        <p:pic>
          <p:nvPicPr>
            <p:cNvPr id="22" name="Picture 21"/>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209508" y="4762725"/>
              <a:ext cx="553355" cy="291500"/>
            </a:xfrm>
            <a:prstGeom prst="rect">
              <a:avLst/>
            </a:prstGeom>
          </p:spPr>
        </p:pic>
        <p:pic>
          <p:nvPicPr>
            <p:cNvPr id="23" name="Picture 2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203459" y="4730574"/>
              <a:ext cx="635621" cy="306040"/>
            </a:xfrm>
            <a:prstGeom prst="rect">
              <a:avLst/>
            </a:prstGeom>
          </p:spPr>
        </p:pic>
      </p:grpSp>
      <p:grpSp>
        <p:nvGrpSpPr>
          <p:cNvPr id="34" name="Group 33"/>
          <p:cNvGrpSpPr/>
          <p:nvPr/>
        </p:nvGrpSpPr>
        <p:grpSpPr>
          <a:xfrm>
            <a:off x="7125941" y="759128"/>
            <a:ext cx="1945606" cy="2948781"/>
            <a:chOff x="7125941" y="759128"/>
            <a:chExt cx="1945606" cy="2948781"/>
          </a:xfrm>
        </p:grpSpPr>
        <p:sp>
          <p:nvSpPr>
            <p:cNvPr id="25" name="Rectangle 24"/>
            <p:cNvSpPr/>
            <p:nvPr/>
          </p:nvSpPr>
          <p:spPr>
            <a:xfrm>
              <a:off x="7125941" y="759128"/>
              <a:ext cx="1945606" cy="2948781"/>
            </a:xfrm>
            <a:prstGeom prst="rect">
              <a:avLst/>
            </a:prstGeom>
            <a:solidFill>
              <a:srgbClr val="4F81BD">
                <a:hueOff val="0"/>
                <a:satOff val="0"/>
                <a:lumOff val="0"/>
                <a:alphaOff val="0"/>
              </a:srgbClr>
            </a:solidFill>
            <a:ln w="25400" cap="flat" cmpd="sng" algn="ctr">
              <a:solidFill>
                <a:prstClr val="white">
                  <a:hueOff val="0"/>
                  <a:satOff val="0"/>
                  <a:lumOff val="0"/>
                  <a:alphaOff val="0"/>
                </a:prstClr>
              </a:solidFill>
              <a:prstDash val="solid"/>
            </a:ln>
            <a:effectLst/>
            <a:scene3d>
              <a:camera prst="orthographicFront"/>
              <a:lightRig rig="threePt" dir="t"/>
            </a:scene3d>
            <a:sp3d>
              <a:bevelT/>
            </a:sp3d>
          </p:spPr>
          <p:txBody>
            <a:bodyPr spcFirstLastPara="0" vert="horz" wrap="square" lIns="60960" tIns="30480" rIns="60960" bIns="30480" numCol="1" spcCol="1270" anchor="ctr" anchorCtr="0">
              <a:noAutofit/>
            </a:bodyPr>
            <a:lstStyle/>
            <a:p>
              <a:endParaRPr lang="en-US" sz="1600"/>
            </a:p>
          </p:txBody>
        </p:sp>
        <p:sp>
          <p:nvSpPr>
            <p:cNvPr id="27" name="TextBox 26"/>
            <p:cNvSpPr txBox="1"/>
            <p:nvPr/>
          </p:nvSpPr>
          <p:spPr>
            <a:xfrm>
              <a:off x="7270973" y="759785"/>
              <a:ext cx="1689716" cy="369332"/>
            </a:xfrm>
            <a:prstGeom prst="rect">
              <a:avLst/>
            </a:prstGeom>
            <a:noFill/>
          </p:spPr>
          <p:txBody>
            <a:bodyPr wrap="square" rtlCol="0">
              <a:spAutoFit/>
            </a:bodyPr>
            <a:lstStyle/>
            <a:p>
              <a:r>
                <a:rPr lang="en-US" dirty="0">
                  <a:solidFill>
                    <a:schemeClr val="bg1"/>
                  </a:solidFill>
                </a:rPr>
                <a:t>JEE </a:t>
              </a:r>
              <a:r>
                <a:rPr lang="en-US" dirty="0" err="1">
                  <a:solidFill>
                    <a:schemeClr val="bg1"/>
                  </a:solidFill>
                </a:rPr>
                <a:t>AppServer</a:t>
              </a:r>
              <a:endParaRPr lang="en-US" dirty="0">
                <a:solidFill>
                  <a:schemeClr val="bg1"/>
                </a:solidFill>
              </a:endParaRPr>
            </a:p>
          </p:txBody>
        </p:sp>
        <p:sp>
          <p:nvSpPr>
            <p:cNvPr id="28" name="TextBox 27"/>
            <p:cNvSpPr txBox="1"/>
            <p:nvPr/>
          </p:nvSpPr>
          <p:spPr>
            <a:xfrm>
              <a:off x="7160114" y="1075610"/>
              <a:ext cx="1877771" cy="2400657"/>
            </a:xfrm>
            <a:prstGeom prst="rect">
              <a:avLst/>
            </a:prstGeom>
            <a:noFill/>
          </p:spPr>
          <p:txBody>
            <a:bodyPr wrap="square" rtlCol="0">
              <a:spAutoFit/>
            </a:bodyPr>
            <a:lstStyle/>
            <a:p>
              <a:r>
                <a:rPr lang="en-US" sz="900" b="1" dirty="0">
                  <a:solidFill>
                    <a:schemeClr val="bg1"/>
                  </a:solidFill>
                </a:rPr>
                <a:t>Basic</a:t>
              </a:r>
            </a:p>
            <a:p>
              <a:pPr marL="171450" indent="-171450">
                <a:buFont typeface="Arial" panose="020B0604020202020204" pitchFamily="34" charset="0"/>
                <a:buChar char="•"/>
              </a:pPr>
              <a:r>
                <a:rPr lang="en-US" sz="900" dirty="0">
                  <a:solidFill>
                    <a:schemeClr val="bg1"/>
                  </a:solidFill>
                </a:rPr>
                <a:t>Application server instances</a:t>
              </a:r>
            </a:p>
            <a:p>
              <a:pPr marL="171450" indent="-171450">
                <a:buFont typeface="Arial" panose="020B0604020202020204" pitchFamily="34" charset="0"/>
                <a:buChar char="•"/>
              </a:pPr>
              <a:r>
                <a:rPr lang="en-US" sz="900" dirty="0">
                  <a:solidFill>
                    <a:schemeClr val="bg1"/>
                  </a:solidFill>
                </a:rPr>
                <a:t>Basic discovery of apps, </a:t>
              </a:r>
              <a:r>
                <a:rPr lang="en-US" sz="900">
                  <a:solidFill>
                    <a:schemeClr val="bg1"/>
                  </a:solidFill>
                </a:rPr>
                <a:t>ports etc.</a:t>
              </a:r>
              <a:endParaRPr lang="en-US" sz="900" b="1" dirty="0">
                <a:solidFill>
                  <a:schemeClr val="bg1"/>
                </a:solidFill>
              </a:endParaRPr>
            </a:p>
            <a:p>
              <a:r>
                <a:rPr lang="en-US" sz="900" b="1" dirty="0">
                  <a:solidFill>
                    <a:schemeClr val="bg1"/>
                  </a:solidFill>
                </a:rPr>
                <a:t>Deep (Bean Spy)</a:t>
              </a:r>
            </a:p>
            <a:p>
              <a:pPr marL="171450" indent="-171450">
                <a:buFont typeface="Arial" panose="020B0604020202020204" pitchFamily="34" charset="0"/>
                <a:buChar char="•"/>
              </a:pPr>
              <a:r>
                <a:rPr lang="en-US" sz="900" dirty="0">
                  <a:solidFill>
                    <a:schemeClr val="bg1"/>
                  </a:solidFill>
                </a:rPr>
                <a:t>Applications deployed in the application server.</a:t>
              </a:r>
            </a:p>
            <a:p>
              <a:pPr marL="171450" indent="-171450">
                <a:buFont typeface="Arial" panose="020B0604020202020204" pitchFamily="34" charset="0"/>
                <a:buChar char="•"/>
              </a:pPr>
              <a:r>
                <a:rPr lang="en-US" sz="900" dirty="0">
                  <a:solidFill>
                    <a:schemeClr val="bg1"/>
                  </a:solidFill>
                </a:rPr>
                <a:t>Garbage collections per second.</a:t>
              </a:r>
            </a:p>
            <a:p>
              <a:pPr marL="171450" indent="-171450">
                <a:buFont typeface="Arial" panose="020B0604020202020204" pitchFamily="34" charset="0"/>
                <a:buChar char="•"/>
              </a:pPr>
              <a:r>
                <a:rPr lang="en-US" sz="900" dirty="0">
                  <a:solidFill>
                    <a:schemeClr val="bg1"/>
                  </a:solidFill>
                </a:rPr>
                <a:t>Time spent in garbage collection.</a:t>
              </a:r>
            </a:p>
            <a:p>
              <a:pPr marL="171450" indent="-171450">
                <a:buFont typeface="Arial" panose="020B0604020202020204" pitchFamily="34" charset="0"/>
                <a:buChar char="•"/>
              </a:pPr>
              <a:r>
                <a:rPr lang="en-US" sz="900" dirty="0">
                  <a:solidFill>
                    <a:schemeClr val="bg1"/>
                  </a:solidFill>
                </a:rPr>
                <a:t>JVM memory usage and capacity.</a:t>
              </a:r>
            </a:p>
            <a:p>
              <a:pPr marL="171450" indent="-171450">
                <a:buFont typeface="Arial" panose="020B0604020202020204" pitchFamily="34" charset="0"/>
                <a:buChar char="•"/>
              </a:pPr>
              <a:r>
                <a:rPr lang="en-US" sz="900" dirty="0">
                  <a:solidFill>
                    <a:schemeClr val="bg1"/>
                  </a:solidFill>
                </a:rPr>
                <a:t>Number of class loaded in the JVM.</a:t>
              </a:r>
            </a:p>
            <a:p>
              <a:pPr marL="171450" indent="-171450">
                <a:buFont typeface="Arial" panose="020B0604020202020204" pitchFamily="34" charset="0"/>
                <a:buChar char="•"/>
              </a:pPr>
              <a:r>
                <a:rPr lang="en-US" sz="900" dirty="0">
                  <a:solidFill>
                    <a:schemeClr val="bg1"/>
                  </a:solidFill>
                </a:rPr>
                <a:t>Number of active threads.</a:t>
              </a:r>
            </a:p>
            <a:p>
              <a:pPr marL="171450" indent="-171450">
                <a:buFont typeface="Arial" panose="020B0604020202020204" pitchFamily="34" charset="0"/>
                <a:buChar char="•"/>
              </a:pPr>
              <a:r>
                <a:rPr lang="en-US" sz="900" b="1" dirty="0">
                  <a:solidFill>
                    <a:schemeClr val="bg1"/>
                  </a:solidFill>
                </a:rPr>
                <a:t>More using </a:t>
              </a:r>
              <a:r>
                <a:rPr lang="en-US" sz="900" b="1" dirty="0" err="1">
                  <a:solidFill>
                    <a:schemeClr val="bg1"/>
                  </a:solidFill>
                </a:rPr>
                <a:t>MBeans</a:t>
              </a:r>
              <a:r>
                <a:rPr lang="en-US" sz="900" b="1" dirty="0">
                  <a:solidFill>
                    <a:schemeClr val="bg1"/>
                  </a:solidFill>
                </a:rPr>
                <a:t> (JMX)</a:t>
              </a:r>
            </a:p>
            <a:p>
              <a:endParaRPr lang="en-US" sz="600" dirty="0">
                <a:solidFill>
                  <a:schemeClr val="bg1"/>
                </a:solidFill>
              </a:endParaRPr>
            </a:p>
          </p:txBody>
        </p:sp>
        <p:pic>
          <p:nvPicPr>
            <p:cNvPr id="29" name="Picture 28"/>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131863" y="3384619"/>
              <a:ext cx="439283" cy="292741"/>
            </a:xfrm>
            <a:prstGeom prst="rect">
              <a:avLst/>
            </a:prstGeom>
          </p:spPr>
        </p:pic>
        <p:pic>
          <p:nvPicPr>
            <p:cNvPr id="30" name="Picture 29"/>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7587859" y="3462405"/>
              <a:ext cx="502441" cy="182706"/>
            </a:xfrm>
            <a:prstGeom prst="rect">
              <a:avLst/>
            </a:prstGeom>
          </p:spPr>
        </p:pic>
        <p:pic>
          <p:nvPicPr>
            <p:cNvPr id="31" name="Picture 30"/>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8576735" y="3380198"/>
              <a:ext cx="445026" cy="275742"/>
            </a:xfrm>
            <a:prstGeom prst="rect">
              <a:avLst/>
            </a:prstGeom>
          </p:spPr>
        </p:pic>
        <p:pic>
          <p:nvPicPr>
            <p:cNvPr id="32" name="Picture 31"/>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8139896" y="3380198"/>
              <a:ext cx="393944" cy="262630"/>
            </a:xfrm>
            <a:prstGeom prst="rect">
              <a:avLst/>
            </a:prstGeom>
          </p:spPr>
        </p:pic>
      </p:grpSp>
    </p:spTree>
    <p:extLst>
      <p:ext uri="{BB962C8B-B14F-4D97-AF65-F5344CB8AC3E}">
        <p14:creationId xmlns:p14="http://schemas.microsoft.com/office/powerpoint/2010/main" val="1465612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down)">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Apache Monitoring Architecture</a:t>
            </a:r>
          </a:p>
        </p:txBody>
      </p:sp>
      <p:grpSp>
        <p:nvGrpSpPr>
          <p:cNvPr id="2" name="Group 1"/>
          <p:cNvGrpSpPr/>
          <p:nvPr/>
        </p:nvGrpSpPr>
        <p:grpSpPr>
          <a:xfrm>
            <a:off x="107504" y="1018692"/>
            <a:ext cx="6769447" cy="3105423"/>
            <a:chOff x="370009" y="1059033"/>
            <a:chExt cx="8494371" cy="3529673"/>
          </a:xfrm>
        </p:grpSpPr>
        <p:sp>
          <p:nvSpPr>
            <p:cNvPr id="8" name="Rectangle 7"/>
            <p:cNvSpPr/>
            <p:nvPr/>
          </p:nvSpPr>
          <p:spPr bwMode="auto">
            <a:xfrm>
              <a:off x="370009" y="1059033"/>
              <a:ext cx="7059345" cy="3529673"/>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algn="ctr" defTabSz="685647"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3809293" y="1250538"/>
              <a:ext cx="2969407" cy="819147"/>
            </a:xfrm>
            <a:prstGeom prst="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OMI Server</a:t>
              </a:r>
            </a:p>
            <a:p>
              <a:pPr algn="ctr" defTabSz="685647" fontAlgn="base">
                <a:spcBef>
                  <a:spcPct val="0"/>
                </a:spcBef>
                <a:spcAft>
                  <a:spcPct val="0"/>
                </a:spcAft>
              </a:pPr>
              <a:r>
                <a:rPr lang="en-US" sz="1100" dirty="0">
                  <a:gradFill>
                    <a:gsLst>
                      <a:gs pos="0">
                        <a:srgbClr val="FFFFFF"/>
                      </a:gs>
                      <a:gs pos="100000">
                        <a:srgbClr val="FFFFFF"/>
                      </a:gs>
                    </a:gsLst>
                    <a:lin ang="5400000" scaled="0"/>
                  </a:gradFill>
                </a:rPr>
                <a:t>(CIM Server)</a:t>
              </a:r>
            </a:p>
          </p:txBody>
        </p:sp>
        <p:sp>
          <p:nvSpPr>
            <p:cNvPr id="5" name="Rectangle 4"/>
            <p:cNvSpPr/>
            <p:nvPr/>
          </p:nvSpPr>
          <p:spPr bwMode="auto">
            <a:xfrm>
              <a:off x="5959554" y="2070663"/>
              <a:ext cx="819147" cy="1951526"/>
            </a:xfrm>
            <a:prstGeom prst="rect">
              <a:avLst/>
            </a:prstGeom>
            <a:ln>
              <a:headEnd type="none" w="med" len="med"/>
              <a:tailEnd type="none" w="med" len="med"/>
            </a:ln>
          </p:spPr>
          <p:style>
            <a:lnRef idx="3">
              <a:schemeClr val="lt1"/>
            </a:lnRef>
            <a:fillRef idx="1">
              <a:schemeClr val="accent4"/>
            </a:fillRef>
            <a:effectRef idx="1">
              <a:schemeClr val="accent4"/>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Providers</a:t>
              </a:r>
            </a:p>
          </p:txBody>
        </p:sp>
        <p:sp>
          <p:nvSpPr>
            <p:cNvPr id="6" name="Rectangle 5"/>
            <p:cNvSpPr/>
            <p:nvPr/>
          </p:nvSpPr>
          <p:spPr bwMode="auto">
            <a:xfrm>
              <a:off x="3809294" y="2073695"/>
              <a:ext cx="2150260" cy="491255"/>
            </a:xfrm>
            <a:prstGeom prst="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Apache_HTTPD</a:t>
              </a:r>
              <a:r>
                <a:rPr lang="en-US" sz="1100" dirty="0">
                  <a:gradFill>
                    <a:gsLst>
                      <a:gs pos="0">
                        <a:srgbClr val="FFFFFF"/>
                      </a:gs>
                      <a:gs pos="100000">
                        <a:srgbClr val="FFFFFF"/>
                      </a:gs>
                    </a:gsLst>
                    <a:lin ang="5400000" scaled="0"/>
                  </a:gradFill>
                </a:rPr>
                <a:t>*</a:t>
              </a:r>
            </a:p>
          </p:txBody>
        </p:sp>
        <p:sp>
          <p:nvSpPr>
            <p:cNvPr id="7" name="Rectangle 6"/>
            <p:cNvSpPr/>
            <p:nvPr/>
          </p:nvSpPr>
          <p:spPr bwMode="auto">
            <a:xfrm>
              <a:off x="3809294" y="2566016"/>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SCX_OperatingSystem</a:t>
              </a:r>
              <a:endParaRPr lang="en-US" sz="1100" dirty="0">
                <a:gradFill>
                  <a:gsLst>
                    <a:gs pos="0">
                      <a:srgbClr val="FFFFFF"/>
                    </a:gs>
                    <a:gs pos="100000">
                      <a:srgbClr val="FFFFFF"/>
                    </a:gs>
                  </a:gsLst>
                  <a:lin ang="5400000" scaled="0"/>
                </a:gradFill>
              </a:endParaRPr>
            </a:p>
          </p:txBody>
        </p:sp>
        <p:sp>
          <p:nvSpPr>
            <p:cNvPr id="9" name="Rectangle 8"/>
            <p:cNvSpPr/>
            <p:nvPr/>
          </p:nvSpPr>
          <p:spPr bwMode="auto">
            <a:xfrm>
              <a:off x="3809294" y="3050240"/>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SCX_FileSystem</a:t>
              </a:r>
              <a:endParaRPr lang="en-US" sz="1100" dirty="0">
                <a:gradFill>
                  <a:gsLst>
                    <a:gs pos="0">
                      <a:srgbClr val="FFFFFF"/>
                    </a:gs>
                    <a:gs pos="100000">
                      <a:srgbClr val="FFFFFF"/>
                    </a:gs>
                  </a:gsLst>
                  <a:lin ang="5400000" scaled="0"/>
                </a:gradFill>
              </a:endParaRPr>
            </a:p>
          </p:txBody>
        </p:sp>
        <p:sp>
          <p:nvSpPr>
            <p:cNvPr id="10" name="Rectangle 9"/>
            <p:cNvSpPr/>
            <p:nvPr/>
          </p:nvSpPr>
          <p:spPr bwMode="auto">
            <a:xfrm>
              <a:off x="3809294" y="3530935"/>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SCX_UnixProcess</a:t>
              </a:r>
              <a:endParaRPr lang="en-US" sz="1100" dirty="0">
                <a:gradFill>
                  <a:gsLst>
                    <a:gs pos="0">
                      <a:srgbClr val="FFFFFF"/>
                    </a:gs>
                    <a:gs pos="100000">
                      <a:srgbClr val="FFFFFF"/>
                    </a:gs>
                  </a:gsLst>
                  <a:lin ang="5400000" scaled="0"/>
                </a:gradFill>
              </a:endParaRPr>
            </a:p>
          </p:txBody>
        </p:sp>
        <p:sp>
          <p:nvSpPr>
            <p:cNvPr id="11" name="TextBox 10"/>
            <p:cNvSpPr txBox="1"/>
            <p:nvPr/>
          </p:nvSpPr>
          <p:spPr>
            <a:xfrm>
              <a:off x="3731602" y="4046689"/>
              <a:ext cx="3249541" cy="435826"/>
            </a:xfrm>
            <a:prstGeom prst="rect">
              <a:avLst/>
            </a:prstGeom>
            <a:noFill/>
          </p:spPr>
          <p:txBody>
            <a:bodyPr wrap="square" lIns="134464" tIns="107571" rIns="134464" bIns="107571" rtlCol="0">
              <a:spAutoFit/>
            </a:bodyPr>
            <a:lstStyle/>
            <a:p>
              <a:pPr>
                <a:lnSpc>
                  <a:spcPct val="90000"/>
                </a:lnSpc>
                <a:spcAft>
                  <a:spcPts val="441"/>
                </a:spcAft>
              </a:pPr>
              <a:r>
                <a:rPr lang="en-US" sz="1200" dirty="0" err="1">
                  <a:solidFill>
                    <a:srgbClr val="505050">
                      <a:lumMod val="50000"/>
                    </a:srgbClr>
                  </a:solidFill>
                </a:rPr>
                <a:t>OpsMgr</a:t>
              </a:r>
              <a:r>
                <a:rPr lang="en-US" sz="1200" dirty="0">
                  <a:solidFill>
                    <a:srgbClr val="505050">
                      <a:lumMod val="50000"/>
                    </a:srgbClr>
                  </a:solidFill>
                </a:rPr>
                <a:t> Linux Agent</a:t>
              </a:r>
            </a:p>
          </p:txBody>
        </p:sp>
        <p:sp>
          <p:nvSpPr>
            <p:cNvPr id="13" name="Rectangle 12"/>
            <p:cNvSpPr/>
            <p:nvPr/>
          </p:nvSpPr>
          <p:spPr bwMode="auto">
            <a:xfrm>
              <a:off x="594115" y="1270937"/>
              <a:ext cx="1960929" cy="804489"/>
            </a:xfrm>
            <a:prstGeom prst="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Apache HTTP Server</a:t>
              </a:r>
            </a:p>
          </p:txBody>
        </p:sp>
        <p:sp>
          <p:nvSpPr>
            <p:cNvPr id="14" name="Rectangle 13"/>
            <p:cNvSpPr/>
            <p:nvPr/>
          </p:nvSpPr>
          <p:spPr bwMode="auto">
            <a:xfrm>
              <a:off x="594115" y="2075426"/>
              <a:ext cx="1960930" cy="491255"/>
            </a:xfrm>
            <a:prstGeom prst="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mod_cimprov</a:t>
              </a:r>
              <a:endParaRPr lang="en-US" sz="1100" dirty="0">
                <a:gradFill>
                  <a:gsLst>
                    <a:gs pos="0">
                      <a:srgbClr val="FFFFFF"/>
                    </a:gs>
                    <a:gs pos="100000">
                      <a:srgbClr val="FFFFFF"/>
                    </a:gs>
                  </a:gsLst>
                  <a:lin ang="5400000" scaled="0"/>
                </a:gradFill>
              </a:endParaRPr>
            </a:p>
          </p:txBody>
        </p:sp>
        <p:sp>
          <p:nvSpPr>
            <p:cNvPr id="15" name="Rectangle 14"/>
            <p:cNvSpPr/>
            <p:nvPr/>
          </p:nvSpPr>
          <p:spPr bwMode="auto">
            <a:xfrm>
              <a:off x="594115" y="2563843"/>
              <a:ext cx="196093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mod_php</a:t>
              </a:r>
              <a:endParaRPr lang="en-US" sz="1100" dirty="0">
                <a:gradFill>
                  <a:gsLst>
                    <a:gs pos="0">
                      <a:srgbClr val="FFFFFF"/>
                    </a:gs>
                    <a:gs pos="100000">
                      <a:srgbClr val="FFFFFF"/>
                    </a:gs>
                  </a:gsLst>
                  <a:lin ang="5400000" scaled="0"/>
                </a:gradFill>
              </a:endParaRPr>
            </a:p>
          </p:txBody>
        </p:sp>
        <p:sp>
          <p:nvSpPr>
            <p:cNvPr id="16" name="Rectangle 15"/>
            <p:cNvSpPr/>
            <p:nvPr/>
          </p:nvSpPr>
          <p:spPr bwMode="auto">
            <a:xfrm>
              <a:off x="594115" y="3039679"/>
              <a:ext cx="196093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mod_ssl</a:t>
              </a:r>
              <a:endParaRPr lang="en-US" sz="1100" dirty="0">
                <a:gradFill>
                  <a:gsLst>
                    <a:gs pos="0">
                      <a:srgbClr val="FFFFFF"/>
                    </a:gs>
                    <a:gs pos="100000">
                      <a:srgbClr val="FFFFFF"/>
                    </a:gs>
                  </a:gsLst>
                  <a:lin ang="5400000" scaled="0"/>
                </a:gradFill>
              </a:endParaRPr>
            </a:p>
          </p:txBody>
        </p:sp>
        <p:sp>
          <p:nvSpPr>
            <p:cNvPr id="17" name="Rectangle 16"/>
            <p:cNvSpPr/>
            <p:nvPr/>
          </p:nvSpPr>
          <p:spPr bwMode="auto">
            <a:xfrm>
              <a:off x="594115" y="3530935"/>
              <a:ext cx="196093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mod_alias</a:t>
              </a:r>
              <a:endParaRPr lang="en-US" sz="1100" dirty="0">
                <a:gradFill>
                  <a:gsLst>
                    <a:gs pos="0">
                      <a:srgbClr val="FFFFFF"/>
                    </a:gs>
                    <a:gs pos="100000">
                      <a:srgbClr val="FFFFFF"/>
                    </a:gs>
                  </a:gsLst>
                  <a:lin ang="5400000" scaled="0"/>
                </a:gradFill>
              </a:endParaRPr>
            </a:p>
          </p:txBody>
        </p:sp>
        <p:sp>
          <p:nvSpPr>
            <p:cNvPr id="19" name="TextBox 18"/>
            <p:cNvSpPr txBox="1"/>
            <p:nvPr/>
          </p:nvSpPr>
          <p:spPr>
            <a:xfrm>
              <a:off x="479766" y="4046689"/>
              <a:ext cx="2859650" cy="435826"/>
            </a:xfrm>
            <a:prstGeom prst="rect">
              <a:avLst/>
            </a:prstGeom>
            <a:noFill/>
          </p:spPr>
          <p:txBody>
            <a:bodyPr wrap="square" lIns="134464" tIns="107571" rIns="134464" bIns="107571" rtlCol="0">
              <a:spAutoFit/>
            </a:bodyPr>
            <a:lstStyle/>
            <a:p>
              <a:pPr>
                <a:lnSpc>
                  <a:spcPct val="90000"/>
                </a:lnSpc>
                <a:spcAft>
                  <a:spcPts val="441"/>
                </a:spcAft>
              </a:pPr>
              <a:r>
                <a:rPr lang="en-US" sz="1200" dirty="0">
                  <a:solidFill>
                    <a:srgbClr val="505050">
                      <a:lumMod val="50000"/>
                    </a:srgbClr>
                  </a:solidFill>
                </a:rPr>
                <a:t>Apache Web Server</a:t>
              </a:r>
            </a:p>
          </p:txBody>
        </p:sp>
        <p:cxnSp>
          <p:nvCxnSpPr>
            <p:cNvPr id="21" name="Straight Arrow Connector 20"/>
            <p:cNvCxnSpPr>
              <a:stCxn id="14" idx="3"/>
              <a:endCxn id="6" idx="1"/>
            </p:cNvCxnSpPr>
            <p:nvPr/>
          </p:nvCxnSpPr>
          <p:spPr>
            <a:xfrm flipV="1">
              <a:off x="2555045" y="2319322"/>
              <a:ext cx="1254248" cy="1731"/>
            </a:xfrm>
            <a:prstGeom prst="straightConnector1">
              <a:avLst/>
            </a:prstGeom>
            <a:ln w="666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371370" y="1946248"/>
              <a:ext cx="1621597" cy="420084"/>
            </a:xfrm>
            <a:prstGeom prst="rect">
              <a:avLst/>
            </a:prstGeom>
            <a:noFill/>
          </p:spPr>
          <p:txBody>
            <a:bodyPr wrap="square" lIns="134464" tIns="107571" rIns="134464" bIns="107571" rtlCol="0">
              <a:spAutoFit/>
            </a:bodyPr>
            <a:lstStyle/>
            <a:p>
              <a:pPr algn="ctr">
                <a:lnSpc>
                  <a:spcPct val="90000"/>
                </a:lnSpc>
                <a:spcAft>
                  <a:spcPts val="441"/>
                </a:spcAft>
              </a:pPr>
              <a:r>
                <a:rPr lang="en-US" sz="1000" dirty="0">
                  <a:solidFill>
                    <a:srgbClr val="505050">
                      <a:lumMod val="50000"/>
                    </a:srgbClr>
                  </a:solidFill>
                </a:rPr>
                <a:t>Shared memory</a:t>
              </a:r>
            </a:p>
          </p:txBody>
        </p:sp>
        <p:sp>
          <p:nvSpPr>
            <p:cNvPr id="23" name="Left Arrow 22"/>
            <p:cNvSpPr/>
            <p:nvPr/>
          </p:nvSpPr>
          <p:spPr bwMode="auto">
            <a:xfrm>
              <a:off x="6981142" y="1366587"/>
              <a:ext cx="1883238" cy="448212"/>
            </a:xfrm>
            <a:prstGeom prst="leftArrow">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WS-Man</a:t>
              </a:r>
            </a:p>
          </p:txBody>
        </p:sp>
        <p:sp>
          <p:nvSpPr>
            <p:cNvPr id="18" name="TextBox 17"/>
            <p:cNvSpPr txBox="1"/>
            <p:nvPr/>
          </p:nvSpPr>
          <p:spPr>
            <a:xfrm>
              <a:off x="7434991" y="3896201"/>
              <a:ext cx="1127151" cy="683036"/>
            </a:xfrm>
            <a:prstGeom prst="rect">
              <a:avLst/>
            </a:prstGeom>
            <a:noFill/>
          </p:spPr>
          <p:txBody>
            <a:bodyPr wrap="none" lIns="134464" tIns="107571" rIns="134464" bIns="107571" rtlCol="0">
              <a:spAutoFit/>
            </a:bodyPr>
            <a:lstStyle/>
            <a:p>
              <a:pPr>
                <a:lnSpc>
                  <a:spcPct val="90000"/>
                </a:lnSpc>
                <a:spcAft>
                  <a:spcPts val="441"/>
                </a:spcAft>
              </a:pPr>
              <a:r>
                <a:rPr lang="en-US" sz="1200" dirty="0">
                  <a:gradFill>
                    <a:gsLst>
                      <a:gs pos="2917">
                        <a:srgbClr val="FFFFFF"/>
                      </a:gs>
                      <a:gs pos="30000">
                        <a:srgbClr val="FFFFFF"/>
                      </a:gs>
                    </a:gsLst>
                    <a:lin ang="5400000" scaled="0"/>
                  </a:gradFill>
                </a:rPr>
                <a:t>Linux</a:t>
              </a:r>
            </a:p>
            <a:p>
              <a:pPr>
                <a:lnSpc>
                  <a:spcPct val="90000"/>
                </a:lnSpc>
                <a:spcAft>
                  <a:spcPts val="441"/>
                </a:spcAft>
              </a:pPr>
              <a:r>
                <a:rPr lang="en-US" sz="1200" dirty="0">
                  <a:gradFill>
                    <a:gsLst>
                      <a:gs pos="2917">
                        <a:srgbClr val="FFFFFF"/>
                      </a:gs>
                      <a:gs pos="30000">
                        <a:srgbClr val="FFFFFF"/>
                      </a:gs>
                    </a:gsLst>
                    <a:lin ang="5400000" scaled="0"/>
                  </a:gradFill>
                </a:rPr>
                <a:t>Computer</a:t>
              </a:r>
            </a:p>
          </p:txBody>
        </p:sp>
      </p:grpSp>
      <p:sp>
        <p:nvSpPr>
          <p:cNvPr id="12" name="TextBox 11"/>
          <p:cNvSpPr txBox="1"/>
          <p:nvPr/>
        </p:nvSpPr>
        <p:spPr>
          <a:xfrm>
            <a:off x="5858771" y="1676605"/>
            <a:ext cx="3160063" cy="1838241"/>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400" dirty="0">
                <a:solidFill>
                  <a:schemeClr val="bg1"/>
                </a:solidFill>
              </a:rPr>
              <a:t>Step 1: Import MP</a:t>
            </a:r>
          </a:p>
          <a:p>
            <a:r>
              <a:rPr lang="en-US" sz="1400" dirty="0">
                <a:solidFill>
                  <a:schemeClr val="bg1"/>
                </a:solidFill>
              </a:rPr>
              <a:t>Step 2: Deploy SCOM agent*</a:t>
            </a:r>
          </a:p>
          <a:p>
            <a:r>
              <a:rPr lang="en-US" sz="1400" dirty="0">
                <a:solidFill>
                  <a:schemeClr val="bg1"/>
                </a:solidFill>
              </a:rPr>
              <a:t>Step 3: Run SCOM task to deploy </a:t>
            </a:r>
            <a:r>
              <a:rPr lang="en-US" sz="1400" dirty="0" err="1">
                <a:solidFill>
                  <a:schemeClr val="bg1"/>
                </a:solidFill>
              </a:rPr>
              <a:t>mod_cimprov</a:t>
            </a:r>
            <a:r>
              <a:rPr lang="en-US" sz="1400" dirty="0">
                <a:solidFill>
                  <a:schemeClr val="bg1"/>
                </a:solidFill>
              </a:rPr>
              <a:t> Apache module **</a:t>
            </a:r>
          </a:p>
          <a:p>
            <a:endParaRPr lang="en-US" sz="1400" dirty="0">
              <a:solidFill>
                <a:schemeClr val="bg1"/>
              </a:solidFill>
            </a:endParaRPr>
          </a:p>
          <a:p>
            <a:endParaRPr lang="en-US" sz="1400" dirty="0">
              <a:solidFill>
                <a:schemeClr val="bg1"/>
              </a:solidFill>
            </a:endParaRPr>
          </a:p>
          <a:p>
            <a:r>
              <a:rPr lang="en-US" sz="1400" dirty="0">
                <a:solidFill>
                  <a:schemeClr val="bg1"/>
                </a:solidFill>
              </a:rPr>
              <a:t>* </a:t>
            </a:r>
            <a:r>
              <a:rPr lang="en-US" sz="1200" dirty="0">
                <a:solidFill>
                  <a:schemeClr val="bg1"/>
                </a:solidFill>
              </a:rPr>
              <a:t>Automatically deploys OMI module</a:t>
            </a:r>
            <a:endParaRPr lang="en-US" sz="1400" dirty="0">
              <a:solidFill>
                <a:schemeClr val="bg1"/>
              </a:solidFill>
            </a:endParaRPr>
          </a:p>
          <a:p>
            <a:r>
              <a:rPr lang="en-US" sz="1200" dirty="0">
                <a:solidFill>
                  <a:schemeClr val="bg1"/>
                </a:solidFill>
              </a:rPr>
              <a:t>**UNIX/Linux Privileged Account Run As Profile </a:t>
            </a:r>
          </a:p>
        </p:txBody>
      </p:sp>
    </p:spTree>
    <p:extLst>
      <p:ext uri="{BB962C8B-B14F-4D97-AF65-F5344CB8AC3E}">
        <p14:creationId xmlns:p14="http://schemas.microsoft.com/office/powerpoint/2010/main" val="1836899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Demo</a:t>
            </a:r>
            <a:br>
              <a:rPr lang="en-US" dirty="0"/>
            </a:br>
            <a:r>
              <a:rPr lang="en-US" dirty="0"/>
              <a:t>Apache Monitoring</a:t>
            </a:r>
            <a:endParaRPr lang="de-DE" dirty="0">
              <a:solidFill>
                <a:srgbClr val="FFFF00"/>
              </a:solidFill>
            </a:endParaRPr>
          </a:p>
        </p:txBody>
      </p:sp>
    </p:spTree>
    <p:extLst>
      <p:ext uri="{BB962C8B-B14F-4D97-AF65-F5344CB8AC3E}">
        <p14:creationId xmlns:p14="http://schemas.microsoft.com/office/powerpoint/2010/main" val="382326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MySQL Monitoring Architecture</a:t>
            </a:r>
          </a:p>
        </p:txBody>
      </p:sp>
      <p:grpSp>
        <p:nvGrpSpPr>
          <p:cNvPr id="2" name="Group 1"/>
          <p:cNvGrpSpPr/>
          <p:nvPr/>
        </p:nvGrpSpPr>
        <p:grpSpPr>
          <a:xfrm>
            <a:off x="179513" y="1028391"/>
            <a:ext cx="6768752" cy="3241092"/>
            <a:chOff x="370009" y="1059033"/>
            <a:chExt cx="8516036" cy="3529673"/>
          </a:xfrm>
        </p:grpSpPr>
        <p:sp>
          <p:nvSpPr>
            <p:cNvPr id="8" name="Rectangle 7"/>
            <p:cNvSpPr/>
            <p:nvPr/>
          </p:nvSpPr>
          <p:spPr bwMode="auto">
            <a:xfrm>
              <a:off x="370009" y="1059033"/>
              <a:ext cx="7059345" cy="352967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algn="ctr" defTabSz="685647"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3809293" y="1250538"/>
              <a:ext cx="2969407" cy="819147"/>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OMI Server</a:t>
              </a:r>
            </a:p>
            <a:p>
              <a:pPr algn="ctr" defTabSz="685647" fontAlgn="base">
                <a:spcBef>
                  <a:spcPct val="0"/>
                </a:spcBef>
                <a:spcAft>
                  <a:spcPct val="0"/>
                </a:spcAft>
              </a:pPr>
              <a:r>
                <a:rPr lang="en-US" sz="1100" dirty="0">
                  <a:gradFill>
                    <a:gsLst>
                      <a:gs pos="0">
                        <a:srgbClr val="FFFFFF"/>
                      </a:gs>
                      <a:gs pos="100000">
                        <a:srgbClr val="FFFFFF"/>
                      </a:gs>
                    </a:gsLst>
                    <a:lin ang="5400000" scaled="0"/>
                  </a:gradFill>
                </a:rPr>
                <a:t>(CIM Server)</a:t>
              </a:r>
            </a:p>
          </p:txBody>
        </p:sp>
        <p:sp>
          <p:nvSpPr>
            <p:cNvPr id="5" name="Rectangle 4"/>
            <p:cNvSpPr/>
            <p:nvPr/>
          </p:nvSpPr>
          <p:spPr bwMode="auto">
            <a:xfrm>
              <a:off x="5959554" y="2070663"/>
              <a:ext cx="819147" cy="1951526"/>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Providers</a:t>
              </a:r>
            </a:p>
          </p:txBody>
        </p:sp>
        <p:sp>
          <p:nvSpPr>
            <p:cNvPr id="6" name="Rectangle 5"/>
            <p:cNvSpPr/>
            <p:nvPr/>
          </p:nvSpPr>
          <p:spPr bwMode="auto">
            <a:xfrm>
              <a:off x="3809294" y="2073695"/>
              <a:ext cx="2150260" cy="491255"/>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MySQL_Server</a:t>
              </a:r>
              <a:r>
                <a:rPr lang="en-US" sz="1100" dirty="0">
                  <a:gradFill>
                    <a:gsLst>
                      <a:gs pos="0">
                        <a:srgbClr val="FFFFFF"/>
                      </a:gs>
                      <a:gs pos="100000">
                        <a:srgbClr val="FFFFFF"/>
                      </a:gs>
                    </a:gsLst>
                    <a:lin ang="5400000" scaled="0"/>
                  </a:gradFill>
                </a:rPr>
                <a:t>*</a:t>
              </a:r>
            </a:p>
          </p:txBody>
        </p:sp>
        <p:sp>
          <p:nvSpPr>
            <p:cNvPr id="7" name="Rectangle 6"/>
            <p:cNvSpPr/>
            <p:nvPr/>
          </p:nvSpPr>
          <p:spPr bwMode="auto">
            <a:xfrm>
              <a:off x="3809294" y="2566016"/>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SCX_OperatingSystem</a:t>
              </a:r>
              <a:endParaRPr lang="en-US" sz="1100" dirty="0">
                <a:gradFill>
                  <a:gsLst>
                    <a:gs pos="0">
                      <a:srgbClr val="FFFFFF"/>
                    </a:gs>
                    <a:gs pos="100000">
                      <a:srgbClr val="FFFFFF"/>
                    </a:gs>
                  </a:gsLst>
                  <a:lin ang="5400000" scaled="0"/>
                </a:gradFill>
              </a:endParaRPr>
            </a:p>
          </p:txBody>
        </p:sp>
        <p:sp>
          <p:nvSpPr>
            <p:cNvPr id="9" name="Rectangle 8"/>
            <p:cNvSpPr/>
            <p:nvPr/>
          </p:nvSpPr>
          <p:spPr bwMode="auto">
            <a:xfrm>
              <a:off x="3809294" y="3050240"/>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SCX_FileSystem</a:t>
              </a:r>
              <a:endParaRPr lang="en-US" sz="1100" dirty="0">
                <a:gradFill>
                  <a:gsLst>
                    <a:gs pos="0">
                      <a:srgbClr val="FFFFFF"/>
                    </a:gs>
                    <a:gs pos="100000">
                      <a:srgbClr val="FFFFFF"/>
                    </a:gs>
                  </a:gsLst>
                  <a:lin ang="5400000" scaled="0"/>
                </a:gradFill>
              </a:endParaRPr>
            </a:p>
          </p:txBody>
        </p:sp>
        <p:sp>
          <p:nvSpPr>
            <p:cNvPr id="10" name="Rectangle 9"/>
            <p:cNvSpPr/>
            <p:nvPr/>
          </p:nvSpPr>
          <p:spPr bwMode="auto">
            <a:xfrm>
              <a:off x="3809294" y="3530935"/>
              <a:ext cx="2150260" cy="491255"/>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err="1">
                  <a:gradFill>
                    <a:gsLst>
                      <a:gs pos="0">
                        <a:srgbClr val="FFFFFF"/>
                      </a:gs>
                      <a:gs pos="100000">
                        <a:srgbClr val="FFFFFF"/>
                      </a:gs>
                    </a:gsLst>
                    <a:lin ang="5400000" scaled="0"/>
                  </a:gradFill>
                </a:rPr>
                <a:t>SCX_UnixProcess</a:t>
              </a:r>
              <a:endParaRPr lang="en-US" sz="1100" dirty="0">
                <a:gradFill>
                  <a:gsLst>
                    <a:gs pos="0">
                      <a:srgbClr val="FFFFFF"/>
                    </a:gs>
                    <a:gs pos="100000">
                      <a:srgbClr val="FFFFFF"/>
                    </a:gs>
                  </a:gsLst>
                  <a:lin ang="5400000" scaled="0"/>
                </a:gradFill>
              </a:endParaRPr>
            </a:p>
          </p:txBody>
        </p:sp>
        <p:sp>
          <p:nvSpPr>
            <p:cNvPr id="11" name="TextBox 10"/>
            <p:cNvSpPr txBox="1"/>
            <p:nvPr/>
          </p:nvSpPr>
          <p:spPr>
            <a:xfrm>
              <a:off x="3731602" y="4046688"/>
              <a:ext cx="3249540" cy="383442"/>
            </a:xfrm>
            <a:prstGeom prst="rect">
              <a:avLst/>
            </a:prstGeom>
            <a:noFill/>
          </p:spPr>
          <p:txBody>
            <a:bodyPr wrap="square" lIns="134464" tIns="107571" rIns="134464" bIns="107571" rtlCol="0">
              <a:spAutoFit/>
            </a:bodyPr>
            <a:lstStyle/>
            <a:p>
              <a:pPr>
                <a:lnSpc>
                  <a:spcPct val="90000"/>
                </a:lnSpc>
                <a:spcAft>
                  <a:spcPts val="441"/>
                </a:spcAft>
              </a:pPr>
              <a:r>
                <a:rPr lang="en-US" sz="1200" dirty="0" err="1">
                  <a:solidFill>
                    <a:srgbClr val="505050">
                      <a:lumMod val="50000"/>
                    </a:srgbClr>
                  </a:solidFill>
                </a:rPr>
                <a:t>OpsMgr</a:t>
              </a:r>
              <a:r>
                <a:rPr lang="en-US" sz="1200" dirty="0">
                  <a:solidFill>
                    <a:srgbClr val="505050">
                      <a:lumMod val="50000"/>
                    </a:srgbClr>
                  </a:solidFill>
                </a:rPr>
                <a:t> Linux Agent</a:t>
              </a:r>
            </a:p>
          </p:txBody>
        </p:sp>
        <p:sp>
          <p:nvSpPr>
            <p:cNvPr id="13" name="Rectangle 12"/>
            <p:cNvSpPr/>
            <p:nvPr/>
          </p:nvSpPr>
          <p:spPr bwMode="auto">
            <a:xfrm>
              <a:off x="594115" y="1767261"/>
              <a:ext cx="1960929" cy="804489"/>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MySQL Server</a:t>
              </a:r>
            </a:p>
          </p:txBody>
        </p:sp>
        <p:sp>
          <p:nvSpPr>
            <p:cNvPr id="15" name="Rectangle 14"/>
            <p:cNvSpPr/>
            <p:nvPr/>
          </p:nvSpPr>
          <p:spPr bwMode="auto">
            <a:xfrm>
              <a:off x="594116" y="2563842"/>
              <a:ext cx="1002843" cy="520643"/>
            </a:xfrm>
            <a:prstGeom prst="rect">
              <a:avLst/>
            </a:prstGeom>
            <a:ln>
              <a:solidFill>
                <a:schemeClr val="tx1"/>
              </a:solidFill>
              <a:headEnd type="none" w="med" len="med"/>
              <a:tailEnd type="none" w="med" len="med"/>
            </a:ln>
          </p:spPr>
          <p:style>
            <a:lnRef idx="3">
              <a:schemeClr val="lt1"/>
            </a:lnRef>
            <a:fillRef idx="1">
              <a:schemeClr val="dk1"/>
            </a:fillRef>
            <a:effectRef idx="1">
              <a:schemeClr val="dk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Database</a:t>
              </a:r>
            </a:p>
          </p:txBody>
        </p:sp>
        <p:sp>
          <p:nvSpPr>
            <p:cNvPr id="19" name="TextBox 18"/>
            <p:cNvSpPr txBox="1"/>
            <p:nvPr/>
          </p:nvSpPr>
          <p:spPr>
            <a:xfrm>
              <a:off x="479766" y="4046688"/>
              <a:ext cx="2859650" cy="383442"/>
            </a:xfrm>
            <a:prstGeom prst="rect">
              <a:avLst/>
            </a:prstGeom>
            <a:noFill/>
          </p:spPr>
          <p:txBody>
            <a:bodyPr wrap="square" lIns="134464" tIns="107571" rIns="134464" bIns="107571" rtlCol="0">
              <a:spAutoFit/>
            </a:bodyPr>
            <a:lstStyle/>
            <a:p>
              <a:pPr>
                <a:lnSpc>
                  <a:spcPct val="90000"/>
                </a:lnSpc>
                <a:spcAft>
                  <a:spcPts val="441"/>
                </a:spcAft>
              </a:pPr>
              <a:r>
                <a:rPr lang="en-US" sz="1200" dirty="0">
                  <a:solidFill>
                    <a:srgbClr val="505050">
                      <a:lumMod val="50000"/>
                    </a:srgbClr>
                  </a:solidFill>
                </a:rPr>
                <a:t>MySQL Server</a:t>
              </a:r>
            </a:p>
          </p:txBody>
        </p:sp>
        <p:cxnSp>
          <p:nvCxnSpPr>
            <p:cNvPr id="21" name="Straight Arrow Connector 20"/>
            <p:cNvCxnSpPr>
              <a:endCxn id="6" idx="1"/>
            </p:cNvCxnSpPr>
            <p:nvPr/>
          </p:nvCxnSpPr>
          <p:spPr>
            <a:xfrm flipV="1">
              <a:off x="2555045" y="2319322"/>
              <a:ext cx="1254248" cy="1731"/>
            </a:xfrm>
            <a:prstGeom prst="straightConnector1">
              <a:avLst/>
            </a:prstGeom>
            <a:ln w="666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371370" y="1459039"/>
              <a:ext cx="1621597" cy="545538"/>
            </a:xfrm>
            <a:prstGeom prst="rect">
              <a:avLst/>
            </a:prstGeom>
            <a:noFill/>
          </p:spPr>
          <p:txBody>
            <a:bodyPr wrap="square" lIns="134464" tIns="107571" rIns="134464" bIns="107571" rtlCol="0">
              <a:spAutoFit/>
            </a:bodyPr>
            <a:lstStyle/>
            <a:p>
              <a:pPr algn="ctr">
                <a:lnSpc>
                  <a:spcPct val="90000"/>
                </a:lnSpc>
                <a:spcAft>
                  <a:spcPts val="441"/>
                </a:spcAft>
              </a:pPr>
              <a:r>
                <a:rPr lang="en-US" sz="1000" dirty="0">
                  <a:solidFill>
                    <a:srgbClr val="505050">
                      <a:lumMod val="50000"/>
                    </a:srgbClr>
                  </a:solidFill>
                </a:rPr>
                <a:t>Authentication</a:t>
              </a:r>
            </a:p>
            <a:p>
              <a:pPr algn="ctr">
                <a:lnSpc>
                  <a:spcPct val="90000"/>
                </a:lnSpc>
                <a:spcAft>
                  <a:spcPts val="441"/>
                </a:spcAft>
              </a:pPr>
              <a:r>
                <a:rPr lang="en-US" sz="1000" dirty="0">
                  <a:solidFill>
                    <a:srgbClr val="505050">
                      <a:lumMod val="50000"/>
                    </a:srgbClr>
                  </a:solidFill>
                </a:rPr>
                <a:t> File defines credentials</a:t>
              </a:r>
            </a:p>
          </p:txBody>
        </p:sp>
        <p:sp>
          <p:nvSpPr>
            <p:cNvPr id="23" name="Left Arrow 22"/>
            <p:cNvSpPr/>
            <p:nvPr/>
          </p:nvSpPr>
          <p:spPr bwMode="auto">
            <a:xfrm>
              <a:off x="7002807" y="1451219"/>
              <a:ext cx="1883238" cy="448212"/>
            </a:xfrm>
            <a:prstGeom prst="leftArrow">
              <a:avLst/>
            </a:prstGeom>
            <a:ln>
              <a:headEnd type="none" w="med" len="med"/>
              <a:tailEnd type="none" w="med" len="med"/>
            </a:ln>
          </p:spPr>
          <p:style>
            <a:lnRef idx="3">
              <a:schemeClr val="lt1"/>
            </a:lnRef>
            <a:fillRef idx="1">
              <a:schemeClr val="accent6"/>
            </a:fillRef>
            <a:effectRef idx="1">
              <a:schemeClr val="accent6"/>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WS-Man</a:t>
              </a:r>
            </a:p>
          </p:txBody>
        </p:sp>
        <p:sp>
          <p:nvSpPr>
            <p:cNvPr id="18" name="TextBox 17"/>
            <p:cNvSpPr txBox="1"/>
            <p:nvPr/>
          </p:nvSpPr>
          <p:spPr>
            <a:xfrm>
              <a:off x="7434990" y="3896201"/>
              <a:ext cx="898264" cy="600938"/>
            </a:xfrm>
            <a:prstGeom prst="rect">
              <a:avLst/>
            </a:prstGeom>
            <a:noFill/>
          </p:spPr>
          <p:txBody>
            <a:bodyPr wrap="none" lIns="134464" tIns="107571" rIns="134464" bIns="107571" rtlCol="0">
              <a:spAutoFit/>
            </a:bodyPr>
            <a:lstStyle/>
            <a:p>
              <a:pPr>
                <a:lnSpc>
                  <a:spcPct val="90000"/>
                </a:lnSpc>
                <a:spcAft>
                  <a:spcPts val="441"/>
                </a:spcAft>
              </a:pPr>
              <a:r>
                <a:rPr lang="en-US" sz="1200" dirty="0">
                  <a:gradFill>
                    <a:gsLst>
                      <a:gs pos="2917">
                        <a:srgbClr val="FFFFFF"/>
                      </a:gs>
                      <a:gs pos="30000">
                        <a:srgbClr val="FFFFFF"/>
                      </a:gs>
                    </a:gsLst>
                    <a:lin ang="5400000" scaled="0"/>
                  </a:gradFill>
                </a:rPr>
                <a:t>Linux</a:t>
              </a:r>
            </a:p>
            <a:p>
              <a:pPr>
                <a:lnSpc>
                  <a:spcPct val="90000"/>
                </a:lnSpc>
                <a:spcAft>
                  <a:spcPts val="441"/>
                </a:spcAft>
              </a:pPr>
              <a:r>
                <a:rPr lang="en-US" sz="1200" dirty="0">
                  <a:gradFill>
                    <a:gsLst>
                      <a:gs pos="2917">
                        <a:srgbClr val="FFFFFF"/>
                      </a:gs>
                      <a:gs pos="30000">
                        <a:srgbClr val="FFFFFF"/>
                      </a:gs>
                    </a:gsLst>
                    <a:lin ang="5400000" scaled="0"/>
                  </a:gradFill>
                </a:rPr>
                <a:t>Computer</a:t>
              </a:r>
            </a:p>
          </p:txBody>
        </p:sp>
        <p:sp>
          <p:nvSpPr>
            <p:cNvPr id="25" name="Rectangle 24"/>
            <p:cNvSpPr/>
            <p:nvPr/>
          </p:nvSpPr>
          <p:spPr bwMode="auto">
            <a:xfrm>
              <a:off x="1602594" y="2563843"/>
              <a:ext cx="952451" cy="520643"/>
            </a:xfrm>
            <a:prstGeom prst="rect">
              <a:avLst/>
            </a:prstGeom>
            <a:ln>
              <a:solidFill>
                <a:schemeClr val="tx1"/>
              </a:solidFill>
              <a:headEnd type="none" w="med" len="med"/>
              <a:tailEnd type="none" w="med" len="med"/>
            </a:ln>
          </p:spPr>
          <p:style>
            <a:lnRef idx="3">
              <a:schemeClr val="lt1"/>
            </a:lnRef>
            <a:fillRef idx="1">
              <a:schemeClr val="dk1"/>
            </a:fillRef>
            <a:effectRef idx="1">
              <a:schemeClr val="dk1"/>
            </a:effectRef>
            <a:fontRef idx="minor">
              <a:schemeClr val="lt1"/>
            </a:fontRef>
          </p:style>
          <p:txBody>
            <a:bodyPr vert="horz" wrap="square" lIns="0" tIns="34290" rIns="0" bIns="34290" numCol="1" rtlCol="0" anchor="ctr" anchorCtr="0" compatLnSpc="1">
              <a:prstTxWarp prst="textNoShape">
                <a:avLst/>
              </a:prstTxWarp>
            </a:bodyPr>
            <a:lstStyle/>
            <a:p>
              <a:pPr algn="ctr" defTabSz="685647" fontAlgn="base">
                <a:spcBef>
                  <a:spcPct val="0"/>
                </a:spcBef>
                <a:spcAft>
                  <a:spcPct val="0"/>
                </a:spcAft>
              </a:pPr>
              <a:r>
                <a:rPr lang="en-US" sz="1100" dirty="0">
                  <a:gradFill>
                    <a:gsLst>
                      <a:gs pos="0">
                        <a:srgbClr val="FFFFFF"/>
                      </a:gs>
                      <a:gs pos="100000">
                        <a:srgbClr val="FFFFFF"/>
                      </a:gs>
                    </a:gsLst>
                    <a:lin ang="5400000" scaled="0"/>
                  </a:gradFill>
                </a:rPr>
                <a:t>Database</a:t>
              </a:r>
            </a:p>
          </p:txBody>
        </p:sp>
        <p:sp>
          <p:nvSpPr>
            <p:cNvPr id="20" name="TextBox 19"/>
            <p:cNvSpPr txBox="1"/>
            <p:nvPr/>
          </p:nvSpPr>
          <p:spPr>
            <a:xfrm>
              <a:off x="2371370" y="2291618"/>
              <a:ext cx="1621597" cy="362667"/>
            </a:xfrm>
            <a:prstGeom prst="rect">
              <a:avLst/>
            </a:prstGeom>
            <a:noFill/>
          </p:spPr>
          <p:txBody>
            <a:bodyPr wrap="square" lIns="134464" tIns="107571" rIns="134464" bIns="107571" rtlCol="0">
              <a:spAutoFit/>
            </a:bodyPr>
            <a:lstStyle/>
            <a:p>
              <a:pPr algn="ctr">
                <a:lnSpc>
                  <a:spcPct val="90000"/>
                </a:lnSpc>
                <a:spcAft>
                  <a:spcPts val="441"/>
                </a:spcAft>
              </a:pPr>
              <a:r>
                <a:rPr lang="en-US" sz="1000" b="1" dirty="0">
                  <a:solidFill>
                    <a:srgbClr val="505050">
                      <a:lumMod val="50000"/>
                    </a:srgbClr>
                  </a:solidFill>
                </a:rPr>
                <a:t>MySQL Client</a:t>
              </a:r>
            </a:p>
          </p:txBody>
        </p:sp>
      </p:grpSp>
      <p:sp>
        <p:nvSpPr>
          <p:cNvPr id="24" name="TextBox 23"/>
          <p:cNvSpPr txBox="1"/>
          <p:nvPr/>
        </p:nvSpPr>
        <p:spPr>
          <a:xfrm>
            <a:off x="5868144" y="1797717"/>
            <a:ext cx="3160063" cy="1785104"/>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1400" dirty="0">
                <a:solidFill>
                  <a:schemeClr val="bg1"/>
                </a:solidFill>
              </a:rPr>
              <a:t>Step 1: Import MP</a:t>
            </a:r>
          </a:p>
          <a:p>
            <a:r>
              <a:rPr lang="en-US" sz="1400" dirty="0">
                <a:solidFill>
                  <a:schemeClr val="bg1"/>
                </a:solidFill>
              </a:rPr>
              <a:t>Step 2: Deploy SCOM agent*</a:t>
            </a:r>
          </a:p>
          <a:p>
            <a:r>
              <a:rPr lang="en-US" sz="1400" dirty="0">
                <a:solidFill>
                  <a:schemeClr val="bg1"/>
                </a:solidFill>
              </a:rPr>
              <a:t>Step 3: Configure MySQL user</a:t>
            </a:r>
          </a:p>
          <a:p>
            <a:r>
              <a:rPr lang="en-US" sz="1400" dirty="0">
                <a:solidFill>
                  <a:schemeClr val="bg1"/>
                </a:solidFill>
              </a:rPr>
              <a:t>Step 3: Run SCOM task “</a:t>
            </a:r>
            <a:r>
              <a:rPr lang="en-US" sz="1400" dirty="0"/>
              <a:t>Set Default MySQL Credentials”</a:t>
            </a:r>
            <a:r>
              <a:rPr lang="en-US" sz="1400" dirty="0">
                <a:solidFill>
                  <a:schemeClr val="bg1"/>
                </a:solidFill>
              </a:rPr>
              <a:t>**</a:t>
            </a:r>
          </a:p>
          <a:p>
            <a:endParaRPr lang="en-US" sz="1400" dirty="0">
              <a:solidFill>
                <a:schemeClr val="bg1"/>
              </a:solidFill>
            </a:endParaRPr>
          </a:p>
          <a:p>
            <a:r>
              <a:rPr lang="en-US" sz="1400" dirty="0">
                <a:solidFill>
                  <a:schemeClr val="bg1"/>
                </a:solidFill>
              </a:rPr>
              <a:t>* </a:t>
            </a:r>
            <a:r>
              <a:rPr lang="en-US" sz="1200" dirty="0">
                <a:solidFill>
                  <a:schemeClr val="bg1"/>
                </a:solidFill>
              </a:rPr>
              <a:t>Automatically deploys OMI module</a:t>
            </a:r>
            <a:endParaRPr lang="en-US" sz="1400" dirty="0">
              <a:solidFill>
                <a:schemeClr val="bg1"/>
              </a:solidFill>
            </a:endParaRPr>
          </a:p>
          <a:p>
            <a:r>
              <a:rPr lang="en-US" sz="1200" dirty="0">
                <a:solidFill>
                  <a:schemeClr val="bg1"/>
                </a:solidFill>
              </a:rPr>
              <a:t>**UNIX/Linux Privileged Account Run As Profile </a:t>
            </a:r>
          </a:p>
        </p:txBody>
      </p:sp>
    </p:spTree>
    <p:extLst>
      <p:ext uri="{BB962C8B-B14F-4D97-AF65-F5344CB8AC3E}">
        <p14:creationId xmlns:p14="http://schemas.microsoft.com/office/powerpoint/2010/main" val="684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Demo</a:t>
            </a:r>
            <a:br>
              <a:rPr lang="en-US" dirty="0"/>
            </a:br>
            <a:r>
              <a:rPr lang="en-US" dirty="0"/>
              <a:t>MySQL Monitoring</a:t>
            </a:r>
            <a:endParaRPr lang="de-DE" dirty="0">
              <a:solidFill>
                <a:srgbClr val="FFFF00"/>
              </a:solidFill>
            </a:endParaRPr>
          </a:p>
        </p:txBody>
      </p:sp>
    </p:spTree>
    <p:extLst>
      <p:ext uri="{BB962C8B-B14F-4D97-AF65-F5344CB8AC3E}">
        <p14:creationId xmlns:p14="http://schemas.microsoft.com/office/powerpoint/2010/main" val="84052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Demo</a:t>
            </a:r>
            <a:br>
              <a:rPr lang="en-US" dirty="0"/>
            </a:br>
            <a:r>
              <a:rPr lang="en-US" dirty="0"/>
              <a:t>Overview SCOM 2016 Features</a:t>
            </a:r>
            <a:endParaRPr lang="de-DE" dirty="0">
              <a:solidFill>
                <a:srgbClr val="FFFF00"/>
              </a:solidFill>
            </a:endParaRPr>
          </a:p>
        </p:txBody>
      </p:sp>
    </p:spTree>
    <p:extLst>
      <p:ext uri="{BB962C8B-B14F-4D97-AF65-F5344CB8AC3E}">
        <p14:creationId xmlns:p14="http://schemas.microsoft.com/office/powerpoint/2010/main" val="594412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OMS</a:t>
            </a:r>
            <a:br>
              <a:rPr lang="en-US" dirty="0"/>
            </a:br>
            <a:r>
              <a:rPr lang="en-US" dirty="0"/>
              <a:t>Agent for Linux</a:t>
            </a:r>
            <a:endParaRPr lang="de-DE" dirty="0">
              <a:solidFill>
                <a:srgbClr val="FFFF00"/>
              </a:solidFill>
            </a:endParaRPr>
          </a:p>
        </p:txBody>
      </p:sp>
    </p:spTree>
    <p:extLst>
      <p:ext uri="{BB962C8B-B14F-4D97-AF65-F5344CB8AC3E}">
        <p14:creationId xmlns:p14="http://schemas.microsoft.com/office/powerpoint/2010/main" val="3408704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825" y="138292"/>
            <a:ext cx="8642350" cy="857250"/>
          </a:xfrm>
        </p:spPr>
        <p:txBody>
          <a:bodyPr/>
          <a:lstStyle/>
          <a:p>
            <a:r>
              <a:rPr lang="de-CH" dirty="0"/>
              <a:t>Big Picture</a:t>
            </a:r>
          </a:p>
        </p:txBody>
      </p:sp>
      <p:grpSp>
        <p:nvGrpSpPr>
          <p:cNvPr id="44" name="Group 43"/>
          <p:cNvGrpSpPr/>
          <p:nvPr/>
        </p:nvGrpSpPr>
        <p:grpSpPr>
          <a:xfrm>
            <a:off x="971600" y="843558"/>
            <a:ext cx="7074532" cy="3824733"/>
            <a:chOff x="0" y="102831"/>
            <a:chExt cx="9144000" cy="4924824"/>
          </a:xfrm>
        </p:grpSpPr>
        <p:pic>
          <p:nvPicPr>
            <p:cNvPr id="46" name="Picture 2" descr="https://acom.azurecomcdn.net/80C57D/cdn/mediahandler/docarticles/dpsmedia-prod/azure.microsoft.com/en-us/documentation/articles/operations-management-suite-architecture/20160601100259/log-analytic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2831"/>
              <a:ext cx="9144000" cy="4917191"/>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p:cNvSpPr txBox="1"/>
            <p:nvPr/>
          </p:nvSpPr>
          <p:spPr>
            <a:xfrm>
              <a:off x="1835348" y="4522248"/>
              <a:ext cx="5473303" cy="505407"/>
            </a:xfrm>
            <a:prstGeom prst="rect">
              <a:avLst/>
            </a:prstGeom>
            <a:noFill/>
          </p:spPr>
          <p:txBody>
            <a:bodyPr wrap="square" rtlCol="0">
              <a:spAutoFit/>
            </a:bodyPr>
            <a:lstStyle/>
            <a:p>
              <a:pPr algn="ctr"/>
              <a:r>
                <a:rPr lang="en-US" sz="700" b="1" dirty="0">
                  <a:solidFill>
                    <a:schemeClr val="tx1">
                      <a:lumMod val="50000"/>
                      <a:lumOff val="50000"/>
                    </a:schemeClr>
                  </a:solidFill>
                </a:rPr>
                <a:t>Sources</a:t>
              </a:r>
              <a:r>
                <a:rPr lang="en-US" sz="700" dirty="0">
                  <a:solidFill>
                    <a:schemeClr val="tx1">
                      <a:lumMod val="50000"/>
                      <a:lumOff val="50000"/>
                    </a:schemeClr>
                  </a:solidFill>
                </a:rPr>
                <a:t>:</a:t>
              </a:r>
            </a:p>
            <a:p>
              <a:pPr algn="ctr"/>
              <a:r>
                <a:rPr lang="en-US" sz="700" dirty="0">
                  <a:solidFill>
                    <a:schemeClr val="tx1">
                      <a:lumMod val="50000"/>
                      <a:lumOff val="50000"/>
                    </a:schemeClr>
                  </a:solidFill>
                </a:rPr>
                <a:t>https://azure.microsoft.com/en-us/documentation/articles/log-analytics-overview/</a:t>
              </a:r>
            </a:p>
            <a:p>
              <a:pPr algn="ctr"/>
              <a:r>
                <a:rPr lang="de-CH" sz="700" dirty="0">
                  <a:solidFill>
                    <a:schemeClr val="tx1">
                      <a:lumMod val="50000"/>
                      <a:lumOff val="50000"/>
                    </a:schemeClr>
                  </a:solidFill>
                </a:rPr>
                <a:t>https://azure.microsoft.com/en-us/documentation/articles/log-analytics-security/</a:t>
              </a:r>
            </a:p>
          </p:txBody>
        </p:sp>
        <p:grpSp>
          <p:nvGrpSpPr>
            <p:cNvPr id="48" name="Group 47"/>
            <p:cNvGrpSpPr/>
            <p:nvPr/>
          </p:nvGrpSpPr>
          <p:grpSpPr>
            <a:xfrm>
              <a:off x="3010156" y="2183333"/>
              <a:ext cx="393493" cy="302772"/>
              <a:chOff x="2771800" y="403802"/>
              <a:chExt cx="609171" cy="472500"/>
            </a:xfrm>
          </p:grpSpPr>
          <p:pic>
            <p:nvPicPr>
              <p:cNvPr id="64" name="Picture 63"/>
              <p:cNvPicPr>
                <a:picLocks noChangeAspect="1"/>
              </p:cNvPicPr>
              <p:nvPr/>
            </p:nvPicPr>
            <p:blipFill>
              <a:blip r:embed="rId4"/>
              <a:stretch>
                <a:fillRect/>
              </a:stretch>
            </p:blipFill>
            <p:spPr>
              <a:xfrm>
                <a:off x="2771800" y="483518"/>
                <a:ext cx="360040" cy="313068"/>
              </a:xfrm>
              <a:prstGeom prst="rect">
                <a:avLst/>
              </a:prstGeom>
            </p:spPr>
          </p:pic>
          <p:pic>
            <p:nvPicPr>
              <p:cNvPr id="65" name="Picture 64"/>
              <p:cNvPicPr>
                <a:picLocks noChangeAspect="1"/>
              </p:cNvPicPr>
              <p:nvPr/>
            </p:nvPicPr>
            <p:blipFill>
              <a:blip r:embed="rId5"/>
              <a:stretch>
                <a:fillRect/>
              </a:stretch>
            </p:blipFill>
            <p:spPr>
              <a:xfrm>
                <a:off x="3131840" y="403802"/>
                <a:ext cx="249131" cy="472500"/>
              </a:xfrm>
              <a:prstGeom prst="rect">
                <a:avLst/>
              </a:prstGeom>
            </p:spPr>
          </p:pic>
        </p:grpSp>
        <p:grpSp>
          <p:nvGrpSpPr>
            <p:cNvPr id="49" name="Group 48"/>
            <p:cNvGrpSpPr/>
            <p:nvPr/>
          </p:nvGrpSpPr>
          <p:grpSpPr>
            <a:xfrm>
              <a:off x="3006541" y="1591902"/>
              <a:ext cx="393493" cy="302772"/>
              <a:chOff x="2771800" y="403802"/>
              <a:chExt cx="609171" cy="472500"/>
            </a:xfrm>
          </p:grpSpPr>
          <p:pic>
            <p:nvPicPr>
              <p:cNvPr id="62" name="Picture 61"/>
              <p:cNvPicPr>
                <a:picLocks noChangeAspect="1"/>
              </p:cNvPicPr>
              <p:nvPr/>
            </p:nvPicPr>
            <p:blipFill>
              <a:blip r:embed="rId4"/>
              <a:stretch>
                <a:fillRect/>
              </a:stretch>
            </p:blipFill>
            <p:spPr>
              <a:xfrm>
                <a:off x="2771800" y="483518"/>
                <a:ext cx="360040" cy="313068"/>
              </a:xfrm>
              <a:prstGeom prst="rect">
                <a:avLst/>
              </a:prstGeom>
            </p:spPr>
          </p:pic>
          <p:pic>
            <p:nvPicPr>
              <p:cNvPr id="63" name="Picture 62"/>
              <p:cNvPicPr>
                <a:picLocks noChangeAspect="1"/>
              </p:cNvPicPr>
              <p:nvPr/>
            </p:nvPicPr>
            <p:blipFill>
              <a:blip r:embed="rId5"/>
              <a:stretch>
                <a:fillRect/>
              </a:stretch>
            </p:blipFill>
            <p:spPr>
              <a:xfrm>
                <a:off x="3131840" y="403802"/>
                <a:ext cx="249131" cy="472500"/>
              </a:xfrm>
              <a:prstGeom prst="rect">
                <a:avLst/>
              </a:prstGeom>
            </p:spPr>
          </p:pic>
        </p:grpSp>
        <p:grpSp>
          <p:nvGrpSpPr>
            <p:cNvPr id="50" name="Group 49"/>
            <p:cNvGrpSpPr/>
            <p:nvPr/>
          </p:nvGrpSpPr>
          <p:grpSpPr>
            <a:xfrm>
              <a:off x="3006541" y="473440"/>
              <a:ext cx="393493" cy="302772"/>
              <a:chOff x="2771800" y="403802"/>
              <a:chExt cx="609171" cy="472500"/>
            </a:xfrm>
          </p:grpSpPr>
          <p:pic>
            <p:nvPicPr>
              <p:cNvPr id="60" name="Picture 59"/>
              <p:cNvPicPr>
                <a:picLocks noChangeAspect="1"/>
              </p:cNvPicPr>
              <p:nvPr/>
            </p:nvPicPr>
            <p:blipFill>
              <a:blip r:embed="rId4"/>
              <a:stretch>
                <a:fillRect/>
              </a:stretch>
            </p:blipFill>
            <p:spPr>
              <a:xfrm>
                <a:off x="2771800" y="483518"/>
                <a:ext cx="360040" cy="313068"/>
              </a:xfrm>
              <a:prstGeom prst="rect">
                <a:avLst/>
              </a:prstGeom>
            </p:spPr>
          </p:pic>
          <p:pic>
            <p:nvPicPr>
              <p:cNvPr id="61" name="Picture 60"/>
              <p:cNvPicPr>
                <a:picLocks noChangeAspect="1"/>
              </p:cNvPicPr>
              <p:nvPr/>
            </p:nvPicPr>
            <p:blipFill>
              <a:blip r:embed="rId5"/>
              <a:stretch>
                <a:fillRect/>
              </a:stretch>
            </p:blipFill>
            <p:spPr>
              <a:xfrm>
                <a:off x="3131840" y="403802"/>
                <a:ext cx="249131" cy="472500"/>
              </a:xfrm>
              <a:prstGeom prst="rect">
                <a:avLst/>
              </a:prstGeom>
            </p:spPr>
          </p:pic>
        </p:grpSp>
        <p:grpSp>
          <p:nvGrpSpPr>
            <p:cNvPr id="51" name="Group 50"/>
            <p:cNvGrpSpPr/>
            <p:nvPr/>
          </p:nvGrpSpPr>
          <p:grpSpPr>
            <a:xfrm>
              <a:off x="3006541" y="3094713"/>
              <a:ext cx="393493" cy="302772"/>
              <a:chOff x="2771800" y="403802"/>
              <a:chExt cx="609171" cy="472500"/>
            </a:xfrm>
          </p:grpSpPr>
          <p:pic>
            <p:nvPicPr>
              <p:cNvPr id="58" name="Picture 57"/>
              <p:cNvPicPr>
                <a:picLocks noChangeAspect="1"/>
              </p:cNvPicPr>
              <p:nvPr/>
            </p:nvPicPr>
            <p:blipFill>
              <a:blip r:embed="rId4"/>
              <a:stretch>
                <a:fillRect/>
              </a:stretch>
            </p:blipFill>
            <p:spPr>
              <a:xfrm>
                <a:off x="2771800" y="483518"/>
                <a:ext cx="360040" cy="313068"/>
              </a:xfrm>
              <a:prstGeom prst="rect">
                <a:avLst/>
              </a:prstGeom>
            </p:spPr>
          </p:pic>
          <p:pic>
            <p:nvPicPr>
              <p:cNvPr id="59" name="Picture 58"/>
              <p:cNvPicPr>
                <a:picLocks noChangeAspect="1"/>
              </p:cNvPicPr>
              <p:nvPr/>
            </p:nvPicPr>
            <p:blipFill>
              <a:blip r:embed="rId5"/>
              <a:stretch>
                <a:fillRect/>
              </a:stretch>
            </p:blipFill>
            <p:spPr>
              <a:xfrm>
                <a:off x="3131840" y="403802"/>
                <a:ext cx="249131" cy="472500"/>
              </a:xfrm>
              <a:prstGeom prst="rect">
                <a:avLst/>
              </a:prstGeom>
            </p:spPr>
          </p:pic>
        </p:grpSp>
        <p:grpSp>
          <p:nvGrpSpPr>
            <p:cNvPr id="53" name="Group 52"/>
            <p:cNvGrpSpPr/>
            <p:nvPr/>
          </p:nvGrpSpPr>
          <p:grpSpPr>
            <a:xfrm>
              <a:off x="3010942" y="3723112"/>
              <a:ext cx="393493" cy="302772"/>
              <a:chOff x="2771800" y="403802"/>
              <a:chExt cx="609171" cy="472500"/>
            </a:xfrm>
          </p:grpSpPr>
          <p:pic>
            <p:nvPicPr>
              <p:cNvPr id="55" name="Picture 54"/>
              <p:cNvPicPr>
                <a:picLocks noChangeAspect="1"/>
              </p:cNvPicPr>
              <p:nvPr/>
            </p:nvPicPr>
            <p:blipFill>
              <a:blip r:embed="rId4"/>
              <a:stretch>
                <a:fillRect/>
              </a:stretch>
            </p:blipFill>
            <p:spPr>
              <a:xfrm>
                <a:off x="2771800" y="483518"/>
                <a:ext cx="360040" cy="313068"/>
              </a:xfrm>
              <a:prstGeom prst="rect">
                <a:avLst/>
              </a:prstGeom>
            </p:spPr>
          </p:pic>
          <p:pic>
            <p:nvPicPr>
              <p:cNvPr id="57" name="Picture 56"/>
              <p:cNvPicPr>
                <a:picLocks noChangeAspect="1"/>
              </p:cNvPicPr>
              <p:nvPr/>
            </p:nvPicPr>
            <p:blipFill>
              <a:blip r:embed="rId5"/>
              <a:stretch>
                <a:fillRect/>
              </a:stretch>
            </p:blipFill>
            <p:spPr>
              <a:xfrm>
                <a:off x="3131840" y="403802"/>
                <a:ext cx="249131" cy="472500"/>
              </a:xfrm>
              <a:prstGeom prst="rect">
                <a:avLst/>
              </a:prstGeom>
            </p:spPr>
          </p:pic>
        </p:grpSp>
        <p:pic>
          <p:nvPicPr>
            <p:cNvPr id="54" name="Picture 53"/>
            <p:cNvPicPr>
              <a:picLocks noChangeAspect="1"/>
            </p:cNvPicPr>
            <p:nvPr/>
          </p:nvPicPr>
          <p:blipFill>
            <a:blip r:embed="rId5"/>
            <a:stretch>
              <a:fillRect/>
            </a:stretch>
          </p:blipFill>
          <p:spPr>
            <a:xfrm>
              <a:off x="6245649" y="207580"/>
              <a:ext cx="177983" cy="337562"/>
            </a:xfrm>
            <a:prstGeom prst="rect">
              <a:avLst/>
            </a:prstGeom>
          </p:spPr>
        </p:pic>
      </p:grpSp>
    </p:spTree>
    <p:extLst>
      <p:ext uri="{BB962C8B-B14F-4D97-AF65-F5344CB8AC3E}">
        <p14:creationId xmlns:p14="http://schemas.microsoft.com/office/powerpoint/2010/main" val="289943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p:cNvSpPr/>
          <p:nvPr/>
        </p:nvSpPr>
        <p:spPr>
          <a:xfrm>
            <a:off x="539552" y="843558"/>
            <a:ext cx="7845012" cy="2846180"/>
          </a:xfrm>
          <a:prstGeom prst="rect">
            <a:avLst/>
          </a:prstGeom>
          <a:solidFill>
            <a:schemeClr val="tx2">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5" name="Rectangle 44"/>
          <p:cNvSpPr/>
          <p:nvPr/>
        </p:nvSpPr>
        <p:spPr>
          <a:xfrm>
            <a:off x="539552" y="3790584"/>
            <a:ext cx="7845012" cy="636390"/>
          </a:xfrm>
          <a:prstGeom prst="rect">
            <a:avLst/>
          </a:prstGeom>
          <a:solidFill>
            <a:schemeClr val="accent1">
              <a:lumMod val="7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50825" y="138292"/>
            <a:ext cx="8642350" cy="857250"/>
          </a:xfrm>
        </p:spPr>
        <p:txBody>
          <a:bodyPr/>
          <a:lstStyle/>
          <a:p>
            <a:r>
              <a:rPr lang="en-US" dirty="0"/>
              <a:t>Architectural Overview</a:t>
            </a:r>
            <a:endParaRPr lang="de-CH" dirty="0"/>
          </a:p>
        </p:txBody>
      </p:sp>
      <p:grpSp>
        <p:nvGrpSpPr>
          <p:cNvPr id="3" name="Group 2"/>
          <p:cNvGrpSpPr/>
          <p:nvPr/>
        </p:nvGrpSpPr>
        <p:grpSpPr>
          <a:xfrm>
            <a:off x="971599" y="1059582"/>
            <a:ext cx="7010027" cy="2458533"/>
            <a:chOff x="334934" y="1131590"/>
            <a:chExt cx="8341522" cy="3384463"/>
          </a:xfrm>
        </p:grpSpPr>
        <p:sp>
          <p:nvSpPr>
            <p:cNvPr id="5" name="Rectangle 4"/>
            <p:cNvSpPr/>
            <p:nvPr/>
          </p:nvSpPr>
          <p:spPr>
            <a:xfrm>
              <a:off x="3203848" y="1131590"/>
              <a:ext cx="2952328" cy="432048"/>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err="1">
                  <a:solidFill>
                    <a:schemeClr val="tx1"/>
                  </a:solidFill>
                </a:rPr>
                <a:t>omsagent</a:t>
              </a:r>
              <a:r>
                <a:rPr lang="de-CH" sz="1200" dirty="0">
                  <a:solidFill>
                    <a:schemeClr val="tx1"/>
                  </a:solidFill>
                </a:rPr>
                <a:t> (</a:t>
              </a:r>
              <a:r>
                <a:rPr lang="de-CH" sz="1200" dirty="0" err="1">
                  <a:solidFill>
                    <a:schemeClr val="tx1"/>
                  </a:solidFill>
                </a:rPr>
                <a:t>FluentD</a:t>
              </a:r>
              <a:r>
                <a:rPr lang="de-CH" sz="1200" dirty="0">
                  <a:solidFill>
                    <a:schemeClr val="tx1"/>
                  </a:solidFill>
                </a:rPr>
                <a:t>)</a:t>
              </a:r>
            </a:p>
          </p:txBody>
        </p:sp>
        <p:sp>
          <p:nvSpPr>
            <p:cNvPr id="6" name="Rectangle 5"/>
            <p:cNvSpPr/>
            <p:nvPr/>
          </p:nvSpPr>
          <p:spPr>
            <a:xfrm>
              <a:off x="3203848" y="1960091"/>
              <a:ext cx="2952328" cy="432048"/>
            </a:xfrm>
            <a:prstGeom prst="rect">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OMI Server (CIM Server)</a:t>
              </a:r>
            </a:p>
          </p:txBody>
        </p:sp>
        <p:grpSp>
          <p:nvGrpSpPr>
            <p:cNvPr id="14" name="Group 13"/>
            <p:cNvGrpSpPr/>
            <p:nvPr/>
          </p:nvGrpSpPr>
          <p:grpSpPr>
            <a:xfrm>
              <a:off x="3203847" y="2427820"/>
              <a:ext cx="2952328" cy="2088233"/>
              <a:chOff x="3691523" y="2614292"/>
              <a:chExt cx="2952328" cy="2376265"/>
            </a:xfrm>
          </p:grpSpPr>
          <p:sp>
            <p:nvSpPr>
              <p:cNvPr id="13" name="Rectangle 12"/>
              <p:cNvSpPr/>
              <p:nvPr/>
            </p:nvSpPr>
            <p:spPr>
              <a:xfrm>
                <a:off x="3691523" y="2614292"/>
                <a:ext cx="2952328" cy="2376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algn="ctr"/>
                <a:r>
                  <a:rPr lang="de-CH" sz="1200" dirty="0">
                    <a:solidFill>
                      <a:schemeClr val="tx1"/>
                    </a:solidFill>
                  </a:rPr>
                  <a:t>Providers</a:t>
                </a:r>
              </a:p>
            </p:txBody>
          </p:sp>
          <p:sp>
            <p:nvSpPr>
              <p:cNvPr id="7" name="Rectangle 6"/>
              <p:cNvSpPr/>
              <p:nvPr/>
            </p:nvSpPr>
            <p:spPr>
              <a:xfrm>
                <a:off x="3849839" y="2809090"/>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a:solidFill>
                      <a:schemeClr val="tx1"/>
                    </a:solidFill>
                  </a:rPr>
                  <a:t>Operating System</a:t>
                </a:r>
              </a:p>
            </p:txBody>
          </p:sp>
          <p:sp>
            <p:nvSpPr>
              <p:cNvPr id="8" name="Rectangle 7"/>
              <p:cNvSpPr/>
              <p:nvPr/>
            </p:nvSpPr>
            <p:spPr>
              <a:xfrm>
                <a:off x="3849839" y="3160891"/>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a:solidFill>
                      <a:schemeClr val="tx1"/>
                    </a:solidFill>
                  </a:rPr>
                  <a:t>Apache</a:t>
                </a:r>
              </a:p>
            </p:txBody>
          </p:sp>
          <p:sp>
            <p:nvSpPr>
              <p:cNvPr id="9" name="Rectangle 8"/>
              <p:cNvSpPr/>
              <p:nvPr/>
            </p:nvSpPr>
            <p:spPr>
              <a:xfrm>
                <a:off x="3849839" y="3519432"/>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a:solidFill>
                      <a:schemeClr val="tx1"/>
                    </a:solidFill>
                  </a:rPr>
                  <a:t>MySQL / </a:t>
                </a:r>
                <a:r>
                  <a:rPr lang="de-CH" sz="1050" dirty="0" err="1">
                    <a:solidFill>
                      <a:schemeClr val="tx1"/>
                    </a:solidFill>
                  </a:rPr>
                  <a:t>MariaDB</a:t>
                </a:r>
                <a:endParaRPr lang="de-CH" sz="1050" dirty="0">
                  <a:solidFill>
                    <a:schemeClr val="tx1"/>
                  </a:solidFill>
                </a:endParaRPr>
              </a:p>
            </p:txBody>
          </p:sp>
          <p:sp>
            <p:nvSpPr>
              <p:cNvPr id="10" name="Rectangle 9"/>
              <p:cNvSpPr/>
              <p:nvPr/>
            </p:nvSpPr>
            <p:spPr>
              <a:xfrm>
                <a:off x="3849839" y="3877973"/>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a:solidFill>
                      <a:schemeClr val="tx1"/>
                    </a:solidFill>
                  </a:rPr>
                  <a:t>Containers</a:t>
                </a:r>
              </a:p>
            </p:txBody>
          </p:sp>
          <p:sp>
            <p:nvSpPr>
              <p:cNvPr id="11" name="Rectangle 10"/>
              <p:cNvSpPr/>
              <p:nvPr/>
            </p:nvSpPr>
            <p:spPr>
              <a:xfrm>
                <a:off x="3851920" y="4235493"/>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err="1">
                    <a:solidFill>
                      <a:schemeClr val="tx1"/>
                    </a:solidFill>
                  </a:rPr>
                  <a:t>omsconfig</a:t>
                </a:r>
                <a:endParaRPr lang="de-CH" sz="1050" dirty="0">
                  <a:solidFill>
                    <a:schemeClr val="tx1"/>
                  </a:solidFill>
                </a:endParaRPr>
              </a:p>
            </p:txBody>
          </p:sp>
          <p:sp>
            <p:nvSpPr>
              <p:cNvPr id="12" name="Rectangle 11"/>
              <p:cNvSpPr/>
              <p:nvPr/>
            </p:nvSpPr>
            <p:spPr>
              <a:xfrm>
                <a:off x="3851920" y="4593013"/>
                <a:ext cx="2160240" cy="282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050" dirty="0">
                    <a:solidFill>
                      <a:schemeClr val="tx1"/>
                    </a:solidFill>
                  </a:rPr>
                  <a:t>PowerShell DSC</a:t>
                </a:r>
              </a:p>
            </p:txBody>
          </p:sp>
        </p:grpSp>
        <p:sp>
          <p:nvSpPr>
            <p:cNvPr id="15" name="Rectangle 14"/>
            <p:cNvSpPr/>
            <p:nvPr/>
          </p:nvSpPr>
          <p:spPr>
            <a:xfrm>
              <a:off x="6876256" y="1131591"/>
              <a:ext cx="1800200" cy="432048"/>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err="1">
                  <a:solidFill>
                    <a:schemeClr val="tx1"/>
                  </a:solidFill>
                </a:rPr>
                <a:t>syslog</a:t>
              </a:r>
              <a:endParaRPr lang="de-CH" sz="1200" dirty="0">
                <a:solidFill>
                  <a:schemeClr val="tx1"/>
                </a:solidFill>
              </a:endParaRPr>
            </a:p>
          </p:txBody>
        </p:sp>
        <p:sp>
          <p:nvSpPr>
            <p:cNvPr id="16" name="Rectangle 15"/>
            <p:cNvSpPr/>
            <p:nvPr/>
          </p:nvSpPr>
          <p:spPr>
            <a:xfrm>
              <a:off x="6876256" y="1779662"/>
              <a:ext cx="1800200" cy="432049"/>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err="1">
                  <a:solidFill>
                    <a:schemeClr val="tx1"/>
                  </a:solidFill>
                </a:rPr>
                <a:t>Nagios</a:t>
              </a:r>
              <a:endParaRPr lang="de-CH" sz="1200" dirty="0">
                <a:solidFill>
                  <a:schemeClr val="tx1"/>
                </a:solidFill>
              </a:endParaRPr>
            </a:p>
          </p:txBody>
        </p:sp>
        <p:sp>
          <p:nvSpPr>
            <p:cNvPr id="17" name="Rectangle 16"/>
            <p:cNvSpPr/>
            <p:nvPr/>
          </p:nvSpPr>
          <p:spPr>
            <a:xfrm>
              <a:off x="6876256" y="2427734"/>
              <a:ext cx="1800200" cy="427073"/>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err="1">
                  <a:solidFill>
                    <a:schemeClr val="tx1"/>
                  </a:solidFill>
                </a:rPr>
                <a:t>Zabbix</a:t>
              </a:r>
              <a:endParaRPr lang="de-CH" sz="1200" dirty="0">
                <a:solidFill>
                  <a:schemeClr val="tx1"/>
                </a:solidFill>
              </a:endParaRPr>
            </a:p>
          </p:txBody>
        </p:sp>
        <p:sp>
          <p:nvSpPr>
            <p:cNvPr id="18" name="Rectangle 17"/>
            <p:cNvSpPr/>
            <p:nvPr/>
          </p:nvSpPr>
          <p:spPr>
            <a:xfrm>
              <a:off x="6876256" y="3070832"/>
              <a:ext cx="1800200" cy="422722"/>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chemeClr val="tx1"/>
                  </a:solidFill>
                </a:rPr>
                <a:t>Docker</a:t>
              </a:r>
            </a:p>
          </p:txBody>
        </p:sp>
        <p:sp>
          <p:nvSpPr>
            <p:cNvPr id="19" name="Rectangle 18"/>
            <p:cNvSpPr/>
            <p:nvPr/>
          </p:nvSpPr>
          <p:spPr>
            <a:xfrm>
              <a:off x="6876256" y="3707090"/>
              <a:ext cx="1800200" cy="441940"/>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err="1">
                  <a:solidFill>
                    <a:schemeClr val="tx1"/>
                  </a:solidFill>
                </a:rPr>
                <a:t>collectd</a:t>
              </a:r>
              <a:endParaRPr lang="de-CH" sz="1200" dirty="0">
                <a:solidFill>
                  <a:schemeClr val="tx1"/>
                </a:solidFill>
              </a:endParaRPr>
            </a:p>
          </p:txBody>
        </p:sp>
        <p:cxnSp>
          <p:nvCxnSpPr>
            <p:cNvPr id="21" name="Straight Arrow Connector 20"/>
            <p:cNvCxnSpPr>
              <a:stCxn id="5" idx="2"/>
              <a:endCxn id="6" idx="0"/>
            </p:cNvCxnSpPr>
            <p:nvPr/>
          </p:nvCxnSpPr>
          <p:spPr>
            <a:xfrm>
              <a:off x="4680012" y="1563638"/>
              <a:ext cx="0" cy="396453"/>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1"/>
            </p:cNvCxnSpPr>
            <p:nvPr/>
          </p:nvCxnSpPr>
          <p:spPr>
            <a:xfrm rot="10800000" flipV="1">
              <a:off x="1750938" y="1347613"/>
              <a:ext cx="1452911" cy="142356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rot="10800000">
              <a:off x="6156174" y="1219978"/>
              <a:ext cx="720080"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5" idx="3"/>
              <a:endCxn id="16" idx="1"/>
            </p:cNvCxnSpPr>
            <p:nvPr/>
          </p:nvCxnSpPr>
          <p:spPr>
            <a:xfrm>
              <a:off x="6156176" y="1347614"/>
              <a:ext cx="720080" cy="64807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5" idx="3"/>
              <a:endCxn id="17" idx="1"/>
            </p:cNvCxnSpPr>
            <p:nvPr/>
          </p:nvCxnSpPr>
          <p:spPr>
            <a:xfrm>
              <a:off x="6156176" y="1347614"/>
              <a:ext cx="720080" cy="12936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5" idx="3"/>
              <a:endCxn id="18" idx="1"/>
            </p:cNvCxnSpPr>
            <p:nvPr/>
          </p:nvCxnSpPr>
          <p:spPr>
            <a:xfrm>
              <a:off x="6156176" y="1347614"/>
              <a:ext cx="720080" cy="1934579"/>
            </a:xfrm>
            <a:prstGeom prst="bentConnector3">
              <a:avLst>
                <a:gd name="adj1" fmla="val 50000"/>
              </a:avLst>
            </a:prstGeom>
            <a:ln>
              <a:tailEnd type="non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19" idx="1"/>
              <a:endCxn id="5" idx="3"/>
            </p:cNvCxnSpPr>
            <p:nvPr/>
          </p:nvCxnSpPr>
          <p:spPr>
            <a:xfrm rot="10800000">
              <a:off x="6156176" y="1347614"/>
              <a:ext cx="720080" cy="258044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pic>
          <p:nvPicPr>
            <p:cNvPr id="2050" name="Picture 2" descr="https://lh3.googleusercontent.com/e7ioSomM1-cRX_4fkSpN-rVl7C9cngTh65CF6nLPqE8LIVqMHnw_-fuNPAbQphixo4ge=w3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970" y="2284432"/>
              <a:ext cx="1350948" cy="1350948"/>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Straight Arrow Connector 51"/>
            <p:cNvCxnSpPr/>
            <p:nvPr/>
          </p:nvCxnSpPr>
          <p:spPr>
            <a:xfrm>
              <a:off x="6156174" y="3395417"/>
              <a:ext cx="720081"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52" name="TextBox 2051"/>
            <p:cNvSpPr txBox="1"/>
            <p:nvPr/>
          </p:nvSpPr>
          <p:spPr>
            <a:xfrm>
              <a:off x="334934" y="1596526"/>
              <a:ext cx="2106234" cy="394524"/>
            </a:xfrm>
            <a:prstGeom prst="rect">
              <a:avLst/>
            </a:prstGeom>
            <a:noFill/>
          </p:spPr>
          <p:txBody>
            <a:bodyPr wrap="square" rtlCol="0">
              <a:spAutoFit/>
            </a:bodyPr>
            <a:lstStyle/>
            <a:p>
              <a:r>
                <a:rPr lang="de-CH" sz="1200" dirty="0"/>
                <a:t>Upload Data (https)</a:t>
              </a:r>
            </a:p>
          </p:txBody>
        </p:sp>
        <p:cxnSp>
          <p:nvCxnSpPr>
            <p:cNvPr id="2054" name="Connector: Elbow 2053"/>
            <p:cNvCxnSpPr/>
            <p:nvPr/>
          </p:nvCxnSpPr>
          <p:spPr>
            <a:xfrm rot="10800000">
              <a:off x="1750939" y="3148635"/>
              <a:ext cx="1452908" cy="100039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4" name="TextBox 73"/>
            <p:cNvSpPr txBox="1"/>
            <p:nvPr/>
          </p:nvSpPr>
          <p:spPr>
            <a:xfrm>
              <a:off x="334934" y="3828172"/>
              <a:ext cx="2106234" cy="394524"/>
            </a:xfrm>
            <a:prstGeom prst="rect">
              <a:avLst/>
            </a:prstGeom>
            <a:noFill/>
          </p:spPr>
          <p:txBody>
            <a:bodyPr wrap="square" rtlCol="0">
              <a:spAutoFit/>
            </a:bodyPr>
            <a:lstStyle/>
            <a:p>
              <a:r>
                <a:rPr lang="de-CH" sz="1200" dirty="0"/>
                <a:t>Pull </a:t>
              </a:r>
              <a:r>
                <a:rPr lang="de-CH" sz="1200" dirty="0" err="1"/>
                <a:t>Config</a:t>
              </a:r>
              <a:r>
                <a:rPr lang="de-CH" sz="1200" dirty="0"/>
                <a:t> (https)</a:t>
              </a:r>
            </a:p>
          </p:txBody>
        </p:sp>
      </p:grpSp>
      <p:pic>
        <p:nvPicPr>
          <p:cNvPr id="37" name="Picture 10" descr="http://www.devconf.cz/sites/default/files/redhat_log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7935" y="3922110"/>
            <a:ext cx="1188973" cy="38315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2" descr="http://design.ubuntu.com/wp-content/uploads/logo-ubuntu_su-orange-hex.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83275" y="3689738"/>
            <a:ext cx="1678783" cy="82951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6" descr="http://www.sysadminslife.com/wp-content/uploads/2012/12/centos-logo.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47487" y="3863359"/>
            <a:ext cx="1184021" cy="45195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8" descr="https://countability.me/wp-content/uploads/2016/03/aws-logo-large_white-300x11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0842" y="3902153"/>
            <a:ext cx="1035712" cy="38321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0" descr="https://upload.wikimedia.org/wikipedia/commons/thumb/5/50/Oracle_logo.svg/663px-Oracle_logo.svg.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4098" y="4025151"/>
            <a:ext cx="1119292" cy="15869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2" descr="https://ev.kde.org/images/supportingmembers/suse.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83068" y="3968853"/>
            <a:ext cx="576181" cy="36491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4" descr="http://www.nixtech.net/sites/default/files/styles/large/public/debian-logo.png?itok=fAlwGPXx"/>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396054" y="3968853"/>
            <a:ext cx="751348" cy="363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85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OMS </a:t>
            </a:r>
            <a:r>
              <a:rPr lang="en-US" dirty="0" err="1"/>
              <a:t>CollectD</a:t>
            </a:r>
            <a:endParaRPr lang="en-US" dirty="0"/>
          </a:p>
        </p:txBody>
      </p:sp>
      <p:sp>
        <p:nvSpPr>
          <p:cNvPr id="3" name="Content Placeholder 2"/>
          <p:cNvSpPr>
            <a:spLocks noGrp="1"/>
          </p:cNvSpPr>
          <p:nvPr>
            <p:ph idx="1"/>
          </p:nvPr>
        </p:nvSpPr>
        <p:spPr>
          <a:xfrm>
            <a:off x="250825" y="935268"/>
            <a:ext cx="8642350" cy="1482449"/>
          </a:xfrm>
        </p:spPr>
        <p:txBody>
          <a:bodyPr/>
          <a:lstStyle/>
          <a:p>
            <a:r>
              <a:rPr lang="en-US" sz="1800" b="1" dirty="0" err="1"/>
              <a:t>collectd</a:t>
            </a:r>
            <a:r>
              <a:rPr lang="en-US" sz="1800" dirty="0"/>
              <a:t> is a Unix daemon that collects, transfers and stores performance data of computers and network equipment.</a:t>
            </a:r>
            <a:endParaRPr lang="de-CH" sz="1800" dirty="0"/>
          </a:p>
          <a:p>
            <a:r>
              <a:rPr lang="de-CH" sz="1800" dirty="0"/>
              <a:t>«</a:t>
            </a:r>
            <a:r>
              <a:rPr lang="de-CH" sz="1800" dirty="0" err="1"/>
              <a:t>read</a:t>
            </a:r>
            <a:r>
              <a:rPr lang="de-CH" sz="1800" dirty="0"/>
              <a:t> </a:t>
            </a:r>
            <a:r>
              <a:rPr lang="de-CH" sz="1800" dirty="0" err="1"/>
              <a:t>plug-ins</a:t>
            </a:r>
            <a:r>
              <a:rPr lang="de-CH" sz="1800" dirty="0"/>
              <a:t>» </a:t>
            </a:r>
            <a:r>
              <a:rPr lang="de-CH" sz="1800" dirty="0" err="1"/>
              <a:t>collect</a:t>
            </a:r>
            <a:r>
              <a:rPr lang="de-CH" sz="1800" dirty="0"/>
              <a:t> </a:t>
            </a:r>
            <a:r>
              <a:rPr lang="de-CH" sz="1800" dirty="0" err="1"/>
              <a:t>data</a:t>
            </a:r>
            <a:endParaRPr lang="en-US" sz="1800" dirty="0">
              <a:solidFill>
                <a:srgbClr val="FFFF00"/>
              </a:solidFill>
            </a:endParaRPr>
          </a:p>
          <a:p>
            <a:r>
              <a:rPr lang="de-CH" sz="1800" dirty="0"/>
              <a:t>«</a:t>
            </a:r>
            <a:r>
              <a:rPr lang="en-US" sz="1800" dirty="0"/>
              <a:t>write plug-ins</a:t>
            </a:r>
            <a:r>
              <a:rPr lang="de-CH" sz="1800" dirty="0"/>
              <a:t>» </a:t>
            </a:r>
            <a:r>
              <a:rPr lang="en-US" sz="1800" dirty="0"/>
              <a:t>send data over the network to a remote instance of the daemon</a:t>
            </a:r>
            <a:endParaRPr lang="en-US" sz="1800" dirty="0">
              <a:solidFill>
                <a:srgbClr val="FFFF00"/>
              </a:solidFill>
            </a:endParaRPr>
          </a:p>
        </p:txBody>
      </p:sp>
      <p:grpSp>
        <p:nvGrpSpPr>
          <p:cNvPr id="23" name="Group 22"/>
          <p:cNvGrpSpPr/>
          <p:nvPr/>
        </p:nvGrpSpPr>
        <p:grpSpPr>
          <a:xfrm>
            <a:off x="1344755" y="2355726"/>
            <a:ext cx="6624736" cy="2294560"/>
            <a:chOff x="279353" y="1018692"/>
            <a:chExt cx="7867203" cy="2983522"/>
          </a:xfrm>
        </p:grpSpPr>
        <p:pic>
          <p:nvPicPr>
            <p:cNvPr id="24" name="Picture 2" descr="https://lh3.googleusercontent.com/e7ioSomM1-cRX_4fkSpN-rVl7C9cngTh65CF6nLPqE8LIVqMHnw_-fuNPAbQphixo4ge=w3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5608" y="2033579"/>
              <a:ext cx="1350948" cy="1350948"/>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279353" y="1018692"/>
              <a:ext cx="5473303" cy="2983522"/>
              <a:chOff x="279353" y="1199370"/>
              <a:chExt cx="5473303" cy="2983522"/>
            </a:xfrm>
          </p:grpSpPr>
          <p:sp>
            <p:nvSpPr>
              <p:cNvPr id="27" name="Rectangle 26"/>
              <p:cNvSpPr/>
              <p:nvPr/>
            </p:nvSpPr>
            <p:spPr>
              <a:xfrm>
                <a:off x="279353" y="1199370"/>
                <a:ext cx="5473303" cy="2983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sz="1100" dirty="0"/>
              </a:p>
            </p:txBody>
          </p:sp>
          <p:grpSp>
            <p:nvGrpSpPr>
              <p:cNvPr id="28" name="Group 27"/>
              <p:cNvGrpSpPr/>
              <p:nvPr/>
            </p:nvGrpSpPr>
            <p:grpSpPr>
              <a:xfrm>
                <a:off x="420193" y="1799856"/>
                <a:ext cx="1533736" cy="1663065"/>
                <a:chOff x="527112" y="1146869"/>
                <a:chExt cx="1533736" cy="1663065"/>
              </a:xfrm>
            </p:grpSpPr>
            <p:pic>
              <p:nvPicPr>
                <p:cNvPr id="35" name="Picture 8" descr="User-Clients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112" y="1146869"/>
                  <a:ext cx="609600" cy="6096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6" name="Picture 2" descr="Cpu-intel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408" y="1469454"/>
                  <a:ext cx="792560" cy="792561"/>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7" name="Picture 4" descr="K-cm-memory ic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5664" y="1602102"/>
                  <a:ext cx="1075184" cy="107518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8" name="Picture 6" descr="https://wiki.postgresql.org/images/3/30/PostgreSQL_logo.3colors.120x120.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160" y="2078821"/>
                  <a:ext cx="731112" cy="73111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9" name="Picture 10" descr="https://raw.githubusercontent.com/dperson/openvpn-client/master/logo.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09272" y="2193478"/>
                  <a:ext cx="519299" cy="519299"/>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29" name="Picture 2" descr="http://www.hops.io/sites/default/files/styles/portfolio_detail/public/collectd_0.png?itok=Hynph6vq"/>
              <p:cNvPicPr>
                <a:picLocks noChangeAspect="1" noChangeArrowheads="1"/>
              </p:cNvPicPr>
              <p:nvPr/>
            </p:nvPicPr>
            <p:blipFill rotWithShape="1">
              <a:blip r:embed="rId9">
                <a:extLst>
                  <a:ext uri="{28A0092B-C50C-407E-A947-70E740481C1C}">
                    <a14:useLocalDpi xmlns:a14="http://schemas.microsoft.com/office/drawing/2010/main" val="0"/>
                  </a:ext>
                </a:extLst>
              </a:blip>
              <a:srcRect l="23610" t="14606" r="24084" b="43878"/>
              <a:stretch/>
            </p:blipFill>
            <p:spPr bwMode="auto">
              <a:xfrm>
                <a:off x="2703384" y="1382143"/>
                <a:ext cx="3024336" cy="1161086"/>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30" name="Straight Arrow Connector 29"/>
              <p:cNvCxnSpPr/>
              <p:nvPr/>
            </p:nvCxnSpPr>
            <p:spPr>
              <a:xfrm flipV="1">
                <a:off x="1618297" y="2056620"/>
                <a:ext cx="1009487" cy="251705"/>
              </a:xfrm>
              <a:prstGeom prst="straightConnector1">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2299416" y="3344905"/>
                <a:ext cx="1815220" cy="5760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400" dirty="0" err="1"/>
                  <a:t>omsagent</a:t>
                </a:r>
                <a:endParaRPr lang="de-CH" sz="1400" dirty="0"/>
              </a:p>
            </p:txBody>
          </p:sp>
          <p:cxnSp>
            <p:nvCxnSpPr>
              <p:cNvPr id="32" name="Straight Arrow Connector 31"/>
              <p:cNvCxnSpPr/>
              <p:nvPr/>
            </p:nvCxnSpPr>
            <p:spPr>
              <a:xfrm>
                <a:off x="3196406" y="2543229"/>
                <a:ext cx="0" cy="73074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253748" y="2610534"/>
                <a:ext cx="1584176" cy="400190"/>
              </a:xfrm>
              <a:prstGeom prst="rect">
                <a:avLst/>
              </a:prstGeom>
              <a:noFill/>
              <a:ln>
                <a:noFill/>
              </a:ln>
            </p:spPr>
            <p:txBody>
              <a:bodyPr wrap="square" rtlCol="0">
                <a:spAutoFit/>
              </a:bodyPr>
              <a:lstStyle/>
              <a:p>
                <a:r>
                  <a:rPr lang="de-CH" sz="1400" dirty="0" err="1">
                    <a:solidFill>
                      <a:schemeClr val="accent1"/>
                    </a:solidFill>
                  </a:rPr>
                  <a:t>write_http</a:t>
                </a:r>
                <a:endParaRPr lang="de-CH" sz="1400" dirty="0">
                  <a:solidFill>
                    <a:schemeClr val="accent1"/>
                  </a:solidFill>
                </a:endParaRPr>
              </a:p>
            </p:txBody>
          </p:sp>
          <p:sp>
            <p:nvSpPr>
              <p:cNvPr id="34" name="TextBox 33"/>
              <p:cNvSpPr txBox="1"/>
              <p:nvPr/>
            </p:nvSpPr>
            <p:spPr>
              <a:xfrm>
                <a:off x="306218" y="1199370"/>
                <a:ext cx="2664296" cy="340161"/>
              </a:xfrm>
              <a:prstGeom prst="rect">
                <a:avLst/>
              </a:prstGeom>
              <a:noFill/>
              <a:ln>
                <a:noFill/>
              </a:ln>
            </p:spPr>
            <p:txBody>
              <a:bodyPr wrap="square" rtlCol="0">
                <a:spAutoFit/>
              </a:bodyPr>
              <a:lstStyle/>
              <a:p>
                <a:r>
                  <a:rPr lang="de-CH" sz="1100" dirty="0"/>
                  <a:t>Linux Server</a:t>
                </a:r>
              </a:p>
            </p:txBody>
          </p:sp>
        </p:grpSp>
        <p:cxnSp>
          <p:nvCxnSpPr>
            <p:cNvPr id="26" name="Straight Arrow Connector 25"/>
            <p:cNvCxnSpPr/>
            <p:nvPr/>
          </p:nvCxnSpPr>
          <p:spPr>
            <a:xfrm flipV="1">
              <a:off x="4215552" y="2734324"/>
              <a:ext cx="2534167" cy="717935"/>
            </a:xfrm>
            <a:prstGeom prst="straightConnector1">
              <a:avLst/>
            </a:prstGeom>
            <a:ln w="317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TextBox 39"/>
          <p:cNvSpPr txBox="1"/>
          <p:nvPr/>
        </p:nvSpPr>
        <p:spPr>
          <a:xfrm>
            <a:off x="278552" y="4768770"/>
            <a:ext cx="8757143" cy="369332"/>
          </a:xfrm>
          <a:prstGeom prst="rect">
            <a:avLst/>
          </a:prstGeom>
          <a:noFill/>
        </p:spPr>
        <p:txBody>
          <a:bodyPr wrap="square" rtlCol="0">
            <a:spAutoFit/>
          </a:bodyPr>
          <a:lstStyle/>
          <a:p>
            <a:r>
              <a:rPr lang="en-US" dirty="0">
                <a:solidFill>
                  <a:schemeClr val="bg1">
                    <a:lumMod val="85000"/>
                  </a:schemeClr>
                </a:solidFill>
              </a:rPr>
              <a:t>List of available plugins: </a:t>
            </a:r>
            <a:r>
              <a:rPr lang="en-US" u="sng" dirty="0">
                <a:solidFill>
                  <a:schemeClr val="bg1">
                    <a:lumMod val="85000"/>
                  </a:schemeClr>
                </a:solidFill>
              </a:rPr>
              <a:t>https://collectd.org/wiki/index.php/Table_of_Plugins</a:t>
            </a:r>
            <a:endParaRPr lang="de-CH" u="sng" dirty="0">
              <a:solidFill>
                <a:schemeClr val="bg1">
                  <a:lumMod val="85000"/>
                </a:schemeClr>
              </a:solidFill>
            </a:endParaRPr>
          </a:p>
        </p:txBody>
      </p:sp>
    </p:spTree>
    <p:extLst>
      <p:ext uri="{BB962C8B-B14F-4D97-AF65-F5344CB8AC3E}">
        <p14:creationId xmlns:p14="http://schemas.microsoft.com/office/powerpoint/2010/main" val="2112608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0" y="1131590"/>
            <a:ext cx="9149266" cy="3620591"/>
          </a:xfrm>
          <a:prstGeom prst="rect">
            <a:avLst/>
          </a:prstGeom>
        </p:spPr>
      </p:pic>
      <p:sp>
        <p:nvSpPr>
          <p:cNvPr id="4" name="Title 3"/>
          <p:cNvSpPr>
            <a:spLocks noGrp="1"/>
          </p:cNvSpPr>
          <p:nvPr>
            <p:ph type="title"/>
          </p:nvPr>
        </p:nvSpPr>
        <p:spPr/>
        <p:txBody>
          <a:bodyPr/>
          <a:lstStyle/>
          <a:p>
            <a:r>
              <a:rPr lang="de-CH" dirty="0"/>
              <a:t>Custom Dashboard</a:t>
            </a:r>
          </a:p>
        </p:txBody>
      </p:sp>
    </p:spTree>
    <p:extLst>
      <p:ext uri="{BB962C8B-B14F-4D97-AF65-F5344CB8AC3E}">
        <p14:creationId xmlns:p14="http://schemas.microsoft.com/office/powerpoint/2010/main" val="35447380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33399" y="1365250"/>
            <a:ext cx="8287073" cy="1121025"/>
          </a:xfrm>
        </p:spPr>
        <p:txBody>
          <a:bodyPr/>
          <a:lstStyle/>
          <a:p>
            <a:r>
              <a:rPr lang="en-US" dirty="0"/>
              <a:t>Demo:</a:t>
            </a:r>
            <a:br>
              <a:rPr lang="en-US" dirty="0"/>
            </a:br>
            <a:r>
              <a:rPr lang="en-US" dirty="0"/>
              <a:t>OMS Agent for Linux and </a:t>
            </a:r>
            <a:r>
              <a:rPr lang="en-US" dirty="0" err="1"/>
              <a:t>CollectD</a:t>
            </a:r>
            <a:r>
              <a:rPr lang="en-US" dirty="0"/>
              <a:t> Metrics</a:t>
            </a:r>
            <a:endParaRPr lang="de-DE" dirty="0">
              <a:solidFill>
                <a:srgbClr val="FFFF00"/>
              </a:solidFill>
            </a:endParaRPr>
          </a:p>
        </p:txBody>
      </p:sp>
    </p:spTree>
    <p:extLst>
      <p:ext uri="{BB962C8B-B14F-4D97-AF65-F5344CB8AC3E}">
        <p14:creationId xmlns:p14="http://schemas.microsoft.com/office/powerpoint/2010/main" val="398859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OMS Syslog</a:t>
            </a:r>
          </a:p>
        </p:txBody>
      </p:sp>
      <p:sp>
        <p:nvSpPr>
          <p:cNvPr id="3" name="Content Placeholder 2"/>
          <p:cNvSpPr>
            <a:spLocks noGrp="1"/>
          </p:cNvSpPr>
          <p:nvPr>
            <p:ph idx="1"/>
          </p:nvPr>
        </p:nvSpPr>
        <p:spPr>
          <a:xfrm>
            <a:off x="250825" y="935268"/>
            <a:ext cx="4465191" cy="3868730"/>
          </a:xfrm>
        </p:spPr>
        <p:txBody>
          <a:bodyPr vert="horz" lIns="0" tIns="0" rIns="0" bIns="0" rtlCol="0" anchor="t">
            <a:noAutofit/>
          </a:bodyPr>
          <a:lstStyle/>
          <a:p>
            <a:pPr>
              <a:buFont typeface="Wingdings" panose="05000000000000000000" pitchFamily="2" charset="2"/>
              <a:buChar char="§"/>
            </a:pPr>
            <a:r>
              <a:rPr lang="en-US" sz="1800" dirty="0"/>
              <a:t>Either </a:t>
            </a:r>
            <a:r>
              <a:rPr lang="en-US" sz="1800" b="1" dirty="0" err="1"/>
              <a:t>rsyslog</a:t>
            </a:r>
            <a:r>
              <a:rPr lang="en-US" sz="1800" dirty="0"/>
              <a:t> or </a:t>
            </a:r>
            <a:r>
              <a:rPr lang="en-US" sz="1800" b="1" dirty="0"/>
              <a:t>syslog-ng </a:t>
            </a:r>
            <a:r>
              <a:rPr lang="en-US" sz="1800" dirty="0"/>
              <a:t>are required to collect syslog messages.</a:t>
            </a:r>
            <a:r>
              <a:rPr lang="en-US" sz="2000" dirty="0"/>
              <a:t> </a:t>
            </a:r>
            <a:endParaRPr lang="DE-DE" sz="2000" dirty="0">
              <a:solidFill>
                <a:schemeClr val="tx1"/>
              </a:solidFill>
            </a:endParaRPr>
          </a:p>
          <a:p>
            <a:pPr lvl="1">
              <a:buFont typeface="Wingdings" panose="05000000000000000000" pitchFamily="2" charset="2"/>
              <a:buChar char="§"/>
            </a:pPr>
            <a:r>
              <a:rPr lang="en-US" sz="1600" b="1" i="1" dirty="0" err="1"/>
              <a:t>sysklog</a:t>
            </a:r>
            <a:r>
              <a:rPr lang="en-US" sz="1600" i="1" dirty="0"/>
              <a:t> is not supported</a:t>
            </a:r>
            <a:endParaRPr lang="en-US" sz="1600" dirty="0">
              <a:solidFill>
                <a:srgbClr val="000000"/>
              </a:solidFill>
            </a:endParaRPr>
          </a:p>
          <a:p>
            <a:pPr>
              <a:buFont typeface="Wingdings" panose="05000000000000000000" pitchFamily="2" charset="2"/>
              <a:buChar char="§"/>
            </a:pPr>
            <a:r>
              <a:rPr lang="en-US" sz="1800" dirty="0">
                <a:solidFill>
                  <a:srgbClr val="D9D9D9"/>
                </a:solidFill>
              </a:rPr>
              <a:t>Use OMS portal for centralized facility and severity management</a:t>
            </a:r>
            <a:endParaRPr lang="en-US" sz="1800" dirty="0">
              <a:solidFill>
                <a:schemeClr val="tx1"/>
              </a:solidFill>
            </a:endParaRPr>
          </a:p>
          <a:p>
            <a:pPr>
              <a:buFont typeface="Wingdings" panose="05000000000000000000" pitchFamily="2" charset="2"/>
              <a:buChar char="§"/>
            </a:pPr>
            <a:r>
              <a:rPr lang="en-US" sz="1800" dirty="0"/>
              <a:t>Default all managed agents get OMS configuration. Selective disable:</a:t>
            </a:r>
            <a:endParaRPr lang="EN-US" sz="1800" dirty="0">
              <a:solidFill>
                <a:schemeClr val="tx1"/>
              </a:solidFill>
            </a:endParaRPr>
          </a:p>
          <a:p>
            <a:pPr marL="649288" lvl="1" indent="-285750">
              <a:buFont typeface="Wingdings" panose="05000000000000000000" pitchFamily="2" charset="2"/>
              <a:buChar char="§"/>
            </a:pPr>
            <a:r>
              <a:rPr lang="en-US" sz="1400" b="1" dirty="0"/>
              <a:t>OMS_MetaConfigHelper.py –disable</a:t>
            </a:r>
            <a:endParaRPr lang="en-US" sz="1800" dirty="0">
              <a:solidFill>
                <a:schemeClr val="tx1"/>
              </a:solidFill>
            </a:endParaRPr>
          </a:p>
          <a:p>
            <a:pPr>
              <a:buFont typeface="Wingdings" panose="05000000000000000000" pitchFamily="2" charset="2"/>
              <a:buChar char="§"/>
            </a:pPr>
            <a:r>
              <a:rPr lang="en-US" sz="1800" dirty="0"/>
              <a:t>&gt; 500 messages/seconds (daemon =&gt; agent) needs change to TCP protocol </a:t>
            </a:r>
            <a:endParaRPr lang="en-US" sz="1800" dirty="0">
              <a:solidFill>
                <a:schemeClr val="tx1"/>
              </a:solidFill>
            </a:endParaRPr>
          </a:p>
          <a:p>
            <a:pPr>
              <a:buFont typeface="Wingdings" panose="05000000000000000000" pitchFamily="2" charset="2"/>
              <a:buChar char="§"/>
            </a:pPr>
            <a:r>
              <a:rPr lang="en-US" sz="1800" dirty="0"/>
              <a:t>Routing syslog messages directly to OMS agent possible (passing by syslog daemon)</a:t>
            </a:r>
            <a:endParaRPr lang="en-US" sz="1800" dirty="0">
              <a:solidFill>
                <a:schemeClr val="tx1"/>
              </a:solidFill>
            </a:endParaRPr>
          </a:p>
          <a:p>
            <a:endParaRPr lang="en-US" sz="1800" dirty="0">
              <a:solidFill>
                <a:schemeClr val="tx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1275606"/>
            <a:ext cx="4250115" cy="282886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32516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Demo:</a:t>
            </a:r>
            <a:br>
              <a:rPr lang="en-US"/>
            </a:br>
            <a:r>
              <a:rPr lang="en-US"/>
              <a:t>Syslog</a:t>
            </a:r>
            <a:br>
              <a:rPr lang="en-US" dirty="0"/>
            </a:br>
            <a:endParaRPr lang="de-DE" dirty="0">
              <a:solidFill>
                <a:srgbClr val="FFFF00"/>
              </a:solidFill>
            </a:endParaRPr>
          </a:p>
        </p:txBody>
      </p:sp>
    </p:spTree>
    <p:extLst>
      <p:ext uri="{BB962C8B-B14F-4D97-AF65-F5344CB8AC3E}">
        <p14:creationId xmlns:p14="http://schemas.microsoft.com/office/powerpoint/2010/main" val="250712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a:t>Additional Resources</a:t>
            </a:r>
          </a:p>
        </p:txBody>
      </p:sp>
      <p:sp>
        <p:nvSpPr>
          <p:cNvPr id="3" name="Content Placeholder 2"/>
          <p:cNvSpPr>
            <a:spLocks noGrp="1"/>
          </p:cNvSpPr>
          <p:nvPr>
            <p:ph idx="1"/>
          </p:nvPr>
        </p:nvSpPr>
        <p:spPr>
          <a:xfrm>
            <a:off x="250825" y="1018692"/>
            <a:ext cx="8642350" cy="3819872"/>
          </a:xfrm>
        </p:spPr>
        <p:txBody>
          <a:bodyPr/>
          <a:lstStyle/>
          <a:p>
            <a:r>
              <a:rPr lang="de-CH" sz="1400" b="1" dirty="0"/>
              <a:t>OMS Agent </a:t>
            </a:r>
            <a:r>
              <a:rPr lang="de-CH" sz="1400" b="1" dirty="0" err="1"/>
              <a:t>for</a:t>
            </a:r>
            <a:r>
              <a:rPr lang="de-CH" sz="1400" b="1" dirty="0"/>
              <a:t> Linux </a:t>
            </a:r>
            <a:r>
              <a:rPr lang="de-CH" sz="1400" b="1" dirty="0" err="1"/>
              <a:t>Documentation</a:t>
            </a:r>
            <a:br>
              <a:rPr lang="de-CH" sz="1400" b="1" dirty="0"/>
            </a:br>
            <a:r>
              <a:rPr lang="de-CH" sz="1400" b="1" dirty="0">
                <a:hlinkClick r:id="rId3"/>
              </a:rPr>
              <a:t>https://github.com/Microsoft/OMS-Agent-for-Linux/blob/master/docs/OMS-Agent-for-Linux.md#install-the-oms-agent-for-linux</a:t>
            </a:r>
            <a:endParaRPr lang="de-CH" sz="1400" b="1" dirty="0"/>
          </a:p>
          <a:p>
            <a:r>
              <a:rPr lang="de-CH" sz="1400" b="1" dirty="0"/>
              <a:t>Troubleshooting Guide:</a:t>
            </a:r>
            <a:br>
              <a:rPr lang="de-CH" sz="1400" dirty="0"/>
            </a:br>
            <a:r>
              <a:rPr lang="de-CH" sz="1400" dirty="0">
                <a:hlinkClick r:id="rId4"/>
              </a:rPr>
              <a:t>https://github.com/Microsoft/OMS-Agent-for-Linux/blob/master/docs/Troubleshooting.md</a:t>
            </a:r>
            <a:endParaRPr lang="de-CH" sz="1400" dirty="0"/>
          </a:p>
          <a:p>
            <a:r>
              <a:rPr lang="en-US" sz="1400" b="1" dirty="0"/>
              <a:t>Bring your custom </a:t>
            </a:r>
            <a:r>
              <a:rPr lang="en-US" sz="1400" b="1" dirty="0" err="1"/>
              <a:t>collectd</a:t>
            </a:r>
            <a:r>
              <a:rPr lang="en-US" sz="1400" b="1" dirty="0"/>
              <a:t> metrics into the OMS Log Analytics platform</a:t>
            </a:r>
            <a:br>
              <a:rPr lang="en-US" sz="1400" b="1" dirty="0"/>
            </a:br>
            <a:r>
              <a:rPr lang="de-CH" sz="1400" dirty="0">
                <a:hlinkClick r:id="rId5"/>
              </a:rPr>
              <a:t>https://blogs.technet.microsoft.com/msoms/2016/07/14/bring-your-custom-collectd-metrics-into-the-oms-log-analytics-platform/</a:t>
            </a:r>
            <a:endParaRPr lang="de-CH" sz="1400" dirty="0"/>
          </a:p>
          <a:p>
            <a:r>
              <a:rPr lang="de-CH" sz="1400" b="1" dirty="0" err="1"/>
              <a:t>Syslog</a:t>
            </a:r>
            <a:r>
              <a:rPr lang="de-CH" sz="1400" b="1" dirty="0"/>
              <a:t> </a:t>
            </a:r>
            <a:r>
              <a:rPr lang="de-CH" sz="1400" b="1" dirty="0" err="1"/>
              <a:t>collection</a:t>
            </a:r>
            <a:r>
              <a:rPr lang="de-CH" sz="1400" b="1" dirty="0"/>
              <a:t> in Operations Management Suite</a:t>
            </a:r>
            <a:br>
              <a:rPr lang="de-CH" sz="1400" b="1" dirty="0"/>
            </a:br>
            <a:r>
              <a:rPr lang="de-CH" sz="1400" b="1" dirty="0">
                <a:hlinkClick r:id="rId6"/>
              </a:rPr>
              <a:t>https://blogs.technet.microsoft.com/msoms/2016/05/12/syslog-collection-in-operations-management-suite/</a:t>
            </a:r>
            <a:endParaRPr lang="de-CH" sz="1400" b="1" dirty="0"/>
          </a:p>
          <a:p>
            <a:r>
              <a:rPr lang="en-US" sz="1400" b="1" dirty="0"/>
              <a:t>Enable Log Analytics in MS OMS on Azure virtual machines</a:t>
            </a:r>
            <a:br>
              <a:rPr lang="en-US" sz="1400" b="1" dirty="0"/>
            </a:br>
            <a:r>
              <a:rPr lang="en-US" sz="1400" b="1" dirty="0">
                <a:hlinkClick r:id="rId7"/>
              </a:rPr>
              <a:t>https://blogs.technet.microsoft.com/msoms/2016/02/09/1474/</a:t>
            </a:r>
            <a:endParaRPr lang="en-US" sz="1400" b="1" dirty="0"/>
          </a:p>
          <a:p>
            <a:r>
              <a:rPr lang="en-US" sz="1400" b="1" dirty="0"/>
              <a:t>Bring your Custom JSON data to Log Analytics (OMS) with Twitter Data Example</a:t>
            </a:r>
            <a:br>
              <a:rPr lang="en-US" sz="1400" b="1" dirty="0"/>
            </a:br>
            <a:r>
              <a:rPr lang="en-US" sz="1400" b="1" dirty="0">
                <a:hlinkClick r:id="rId8"/>
              </a:rPr>
              <a:t>https://blogs.technet.microsoft.com/msoms/2016/07/21/bring-your-custom-json-data-to-log-analytics-oms-with-twitter-data-example/</a:t>
            </a:r>
            <a:endParaRPr lang="en-US" sz="1400" b="1" dirty="0"/>
          </a:p>
          <a:p>
            <a:r>
              <a:rPr lang="de-CH" sz="1400" b="1" dirty="0"/>
              <a:t>Inside </a:t>
            </a:r>
            <a:r>
              <a:rPr lang="de-CH" sz="1400" b="1" dirty="0" err="1"/>
              <a:t>the</a:t>
            </a:r>
            <a:r>
              <a:rPr lang="de-CH" sz="1400" b="1" dirty="0"/>
              <a:t> Microsoft Operations Management Suite [</a:t>
            </a:r>
            <a:r>
              <a:rPr lang="de-CH" sz="1400" b="1" dirty="0" err="1"/>
              <a:t>e-book</a:t>
            </a:r>
            <a:r>
              <a:rPr lang="de-CH" sz="1400" b="1" dirty="0"/>
              <a:t>]</a:t>
            </a:r>
            <a:br>
              <a:rPr lang="de-CH" sz="1400" b="1" dirty="0"/>
            </a:br>
            <a:r>
              <a:rPr lang="en-US" sz="1400" b="1" dirty="0">
                <a:hlinkClick r:id="rId9"/>
              </a:rPr>
              <a:t>https://gallery.technet.microsoft.com/Inside-the-Operations-2928e342</a:t>
            </a:r>
            <a:endParaRPr lang="en-US" sz="1400" b="1" dirty="0"/>
          </a:p>
          <a:p>
            <a:endParaRPr lang="de-CH" sz="1600" dirty="0"/>
          </a:p>
          <a:p>
            <a:endParaRPr lang="de-CH" dirty="0"/>
          </a:p>
        </p:txBody>
      </p:sp>
    </p:spTree>
    <p:extLst>
      <p:ext uri="{BB962C8B-B14F-4D97-AF65-F5344CB8AC3E}">
        <p14:creationId xmlns:p14="http://schemas.microsoft.com/office/powerpoint/2010/main" val="223932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dirty="0" err="1"/>
              <a:t>Upcoming</a:t>
            </a:r>
            <a:r>
              <a:rPr lang="de-CH" dirty="0"/>
              <a:t> OMS Sessions</a:t>
            </a:r>
          </a:p>
        </p:txBody>
      </p:sp>
      <p:sp>
        <p:nvSpPr>
          <p:cNvPr id="3" name="Content Placeholder 2"/>
          <p:cNvSpPr>
            <a:spLocks noGrp="1"/>
          </p:cNvSpPr>
          <p:nvPr>
            <p:ph idx="1"/>
          </p:nvPr>
        </p:nvSpPr>
        <p:spPr>
          <a:xfrm>
            <a:off x="250825" y="1034935"/>
            <a:ext cx="8642350" cy="3819872"/>
          </a:xfrm>
        </p:spPr>
        <p:txBody>
          <a:bodyPr/>
          <a:lstStyle/>
          <a:p>
            <a:r>
              <a:rPr lang="en-US" sz="1700" b="1" dirty="0"/>
              <a:t>Wednesday, August 24 • 15:15 - 16:15 </a:t>
            </a:r>
          </a:p>
          <a:p>
            <a:r>
              <a:rPr lang="en-US" sz="1700" dirty="0"/>
              <a:t>Automation in a modern world </a:t>
            </a:r>
          </a:p>
          <a:p>
            <a:r>
              <a:rPr lang="en-US" sz="1700" b="1" dirty="0"/>
              <a:t>Thursday, August 25 • 14:00 - 15:00 </a:t>
            </a:r>
          </a:p>
          <a:p>
            <a:r>
              <a:rPr lang="en-US" sz="1700" dirty="0"/>
              <a:t>Lessons learned from Microsoft Premier Support - Implementing OMS</a:t>
            </a:r>
          </a:p>
          <a:p>
            <a:r>
              <a:rPr lang="en-US" sz="1700" b="1" dirty="0"/>
              <a:t>Thursday, August 25 • 16:15 - 16:45 </a:t>
            </a:r>
          </a:p>
          <a:p>
            <a:r>
              <a:rPr lang="en-US" sz="1700" dirty="0"/>
              <a:t>Ask-the-Experts: Focus 'OMS'</a:t>
            </a:r>
          </a:p>
          <a:p>
            <a:r>
              <a:rPr lang="en-US" sz="1700" b="1" dirty="0"/>
              <a:t>Thursday, August 25 • 16:45 - 17:45 </a:t>
            </a:r>
          </a:p>
          <a:p>
            <a:r>
              <a:rPr lang="en-US" sz="1700" dirty="0"/>
              <a:t>Using your OM skills to hack OMS </a:t>
            </a:r>
          </a:p>
          <a:p>
            <a:r>
              <a:rPr lang="en-US" sz="1700" b="1" dirty="0"/>
              <a:t>Friday, August 26 • 10:45 - 11:45 </a:t>
            </a:r>
          </a:p>
          <a:p>
            <a:r>
              <a:rPr lang="en-US" sz="1700" dirty="0"/>
              <a:t>Rocket science OMS and German Cloud? Must compliance be complex?</a:t>
            </a:r>
          </a:p>
          <a:p>
            <a:r>
              <a:rPr lang="en-US" sz="1700" b="1" dirty="0"/>
              <a:t>Friday, August 26 • 14:00 - 15:00 </a:t>
            </a:r>
          </a:p>
          <a:p>
            <a:r>
              <a:rPr lang="en-US" sz="1700" dirty="0"/>
              <a:t>How to Manage your Azure RemoteApp environment with OMS</a:t>
            </a:r>
          </a:p>
          <a:p>
            <a:endParaRPr lang="de-CH" dirty="0"/>
          </a:p>
        </p:txBody>
      </p:sp>
    </p:spTree>
    <p:extLst>
      <p:ext uri="{BB962C8B-B14F-4D97-AF65-F5344CB8AC3E}">
        <p14:creationId xmlns:p14="http://schemas.microsoft.com/office/powerpoint/2010/main" val="3334381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Thank you!</a:t>
            </a:r>
            <a:endParaRPr lang="de-DE" dirty="0"/>
          </a:p>
        </p:txBody>
      </p:sp>
      <p:sp>
        <p:nvSpPr>
          <p:cNvPr id="3" name="Inhaltsplatzhalter 2"/>
          <p:cNvSpPr>
            <a:spLocks noGrp="1"/>
          </p:cNvSpPr>
          <p:nvPr>
            <p:ph idx="1"/>
          </p:nvPr>
        </p:nvSpPr>
        <p:spPr/>
        <p:txBody>
          <a:bodyPr/>
          <a:lstStyle/>
          <a:p>
            <a:r>
              <a:rPr lang="en-US" dirty="0"/>
              <a:t>We need your feedback!</a:t>
            </a:r>
          </a:p>
          <a:p>
            <a:pPr lvl="1"/>
            <a:r>
              <a:rPr lang="en-US" dirty="0"/>
              <a:t>Please </a:t>
            </a:r>
            <a:r>
              <a:rPr lang="en-US"/>
              <a:t>rate this session</a:t>
            </a:r>
            <a:endParaRPr lang="en-US" dirty="0"/>
          </a:p>
          <a:p>
            <a:pPr lvl="1"/>
            <a:r>
              <a:rPr lang="en-US" dirty="0"/>
              <a:t>Use the “Happy-Or-Not” devices at the exit</a:t>
            </a:r>
          </a:p>
          <a:p>
            <a:r>
              <a:rPr lang="en-US" dirty="0"/>
              <a:t>Thanks to all our conference sponsors!</a:t>
            </a:r>
            <a:endParaRPr lang="de-DE" dirty="0"/>
          </a:p>
        </p:txBody>
      </p:sp>
      <p:sp>
        <p:nvSpPr>
          <p:cNvPr id="5" name="Rechteck 4"/>
          <p:cNvSpPr/>
          <p:nvPr/>
        </p:nvSpPr>
        <p:spPr>
          <a:xfrm>
            <a:off x="-76200" y="3409950"/>
            <a:ext cx="9296400" cy="1752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950" y="3477658"/>
            <a:ext cx="1524000" cy="522514"/>
          </a:xfrm>
          <a:prstGeom prst="rect">
            <a:avLst/>
          </a:prstGeom>
        </p:spPr>
      </p:pic>
      <p:pic>
        <p:nvPicPr>
          <p:cNvPr id="7" name="Grafik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851" y="3451304"/>
            <a:ext cx="1581150" cy="542109"/>
          </a:xfrm>
          <a:prstGeom prst="rect">
            <a:avLst/>
          </a:prstGeom>
        </p:spPr>
      </p:pic>
      <p:pic>
        <p:nvPicPr>
          <p:cNvPr id="8" name="Grafik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67600" y="3495215"/>
            <a:ext cx="1369806" cy="473561"/>
          </a:xfrm>
          <a:prstGeom prst="rect">
            <a:avLst/>
          </a:prstGeom>
        </p:spPr>
      </p:pic>
      <p:pic>
        <p:nvPicPr>
          <p:cNvPr id="9" name="Grafik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9205" y="4189143"/>
            <a:ext cx="895949" cy="292158"/>
          </a:xfrm>
          <a:prstGeom prst="rect">
            <a:avLst/>
          </a:prstGeom>
        </p:spPr>
      </p:pic>
      <p:pic>
        <p:nvPicPr>
          <p:cNvPr id="10" name="Grafik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97242" y="4175985"/>
            <a:ext cx="1066800" cy="347870"/>
          </a:xfrm>
          <a:prstGeom prst="rect">
            <a:avLst/>
          </a:prstGeom>
        </p:spPr>
      </p:pic>
      <p:pic>
        <p:nvPicPr>
          <p:cNvPr id="11" name="Grafik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94389" y="4180464"/>
            <a:ext cx="997549" cy="329625"/>
          </a:xfrm>
          <a:prstGeom prst="rect">
            <a:avLst/>
          </a:prstGeom>
        </p:spPr>
      </p:pic>
      <p:pic>
        <p:nvPicPr>
          <p:cNvPr id="12" name="Grafik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08201" y="4637132"/>
            <a:ext cx="1106852" cy="353251"/>
          </a:xfrm>
          <a:prstGeom prst="rect">
            <a:avLst/>
          </a:prstGeom>
        </p:spPr>
      </p:pic>
      <p:pic>
        <p:nvPicPr>
          <p:cNvPr id="14" name="Grafik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4024" y="4612420"/>
            <a:ext cx="1146175" cy="365801"/>
          </a:xfrm>
          <a:prstGeom prst="rect">
            <a:avLst/>
          </a:prstGeom>
        </p:spPr>
      </p:pic>
      <p:pic>
        <p:nvPicPr>
          <p:cNvPr id="15" name="Grafik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963748" y="4185154"/>
            <a:ext cx="885074" cy="289870"/>
          </a:xfrm>
          <a:prstGeom prst="rect">
            <a:avLst/>
          </a:prstGeom>
        </p:spPr>
      </p:pic>
      <p:pic>
        <p:nvPicPr>
          <p:cNvPr id="16" name="Grafik 1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11541" y="4696852"/>
            <a:ext cx="764921" cy="252756"/>
          </a:xfrm>
          <a:prstGeom prst="rect">
            <a:avLst/>
          </a:prstGeom>
        </p:spPr>
      </p:pic>
      <p:pic>
        <p:nvPicPr>
          <p:cNvPr id="17" name="Grafik 1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799877" y="4691547"/>
            <a:ext cx="776918" cy="256721"/>
          </a:xfrm>
          <a:prstGeom prst="rect">
            <a:avLst/>
          </a:prstGeom>
        </p:spPr>
      </p:pic>
      <p:pic>
        <p:nvPicPr>
          <p:cNvPr id="18" name="Grafik 1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264037" y="4634101"/>
            <a:ext cx="820799" cy="376049"/>
          </a:xfrm>
          <a:prstGeom prst="rect">
            <a:avLst/>
          </a:prstGeom>
        </p:spPr>
      </p:pic>
      <p:pic>
        <p:nvPicPr>
          <p:cNvPr id="20" name="Grafik 1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144606" y="4191520"/>
            <a:ext cx="943037" cy="307512"/>
          </a:xfrm>
          <a:prstGeom prst="rect">
            <a:avLst/>
          </a:prstGeom>
        </p:spPr>
      </p:pic>
      <p:pic>
        <p:nvPicPr>
          <p:cNvPr id="21" name="Grafik 20"/>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317451" y="4621287"/>
            <a:ext cx="1180480" cy="384940"/>
          </a:xfrm>
          <a:prstGeom prst="rect">
            <a:avLst/>
          </a:prstGeom>
        </p:spPr>
      </p:pic>
      <p:pic>
        <p:nvPicPr>
          <p:cNvPr id="22" name="Grafik 2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787436" y="4662759"/>
            <a:ext cx="1024570" cy="327624"/>
          </a:xfrm>
          <a:prstGeom prst="rect">
            <a:avLst/>
          </a:prstGeom>
        </p:spPr>
      </p:pic>
      <p:pic>
        <p:nvPicPr>
          <p:cNvPr id="13" name="Grafik 12"/>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628168" y="4125551"/>
            <a:ext cx="1138137" cy="371131"/>
          </a:xfrm>
          <a:prstGeom prst="rect">
            <a:avLst/>
          </a:prstGeom>
        </p:spPr>
      </p:pic>
      <p:pic>
        <p:nvPicPr>
          <p:cNvPr id="24" name="Grafik 2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435918" y="4235031"/>
            <a:ext cx="890472" cy="190116"/>
          </a:xfrm>
          <a:prstGeom prst="rect">
            <a:avLst/>
          </a:prstGeom>
        </p:spPr>
      </p:pic>
    </p:spTree>
    <p:extLst>
      <p:ext uri="{BB962C8B-B14F-4D97-AF65-F5344CB8AC3E}">
        <p14:creationId xmlns:p14="http://schemas.microsoft.com/office/powerpoint/2010/main" val="3660535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UE16.pptx" id="{94F1B876-72D2-49A0-80FC-ABEC861A77DC}" vid="{F2FC4574-7EF8-49CB-86BA-036B306C57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AFE6CDE7E8D3854299588C462EE7158C" ma:contentTypeVersion="0" ma:contentTypeDescription="Ein neues Dokument erstellen." ma:contentTypeScope="" ma:versionID="0149c9c28cf33bab5520f985629d591a">
  <xsd:schema xmlns:xsd="http://www.w3.org/2001/XMLSchema" xmlns:xs="http://www.w3.org/2001/XMLSchema" xmlns:p="http://schemas.microsoft.com/office/2006/metadata/properties" targetNamespace="http://schemas.microsoft.com/office/2006/metadata/properties" ma:root="true" ma:fieldsID="3a3c5d5d24c77b3bb7d005d3ee4c8b6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43EF43-B44D-49D4-8B6A-6AB10D8F3513}">
  <ds:schemaRefs>
    <ds:schemaRef ds:uri="http://schemas.microsoft.com/office/2006/metadata/propertie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6D0F3EA-E864-41FC-BEFD-8F5B4739EE3D}">
  <ds:schemaRefs>
    <ds:schemaRef ds:uri="http://schemas.microsoft.com/sharepoint/v3/contenttype/forms"/>
  </ds:schemaRefs>
</ds:datastoreItem>
</file>

<file path=customXml/itemProps3.xml><?xml version="1.0" encoding="utf-8"?>
<ds:datastoreItem xmlns:ds="http://schemas.openxmlformats.org/officeDocument/2006/customXml" ds:itemID="{09DDFF30-BB42-42AA-B10E-FC1133A7C4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1239</Words>
  <Application>Microsoft Office PowerPoint</Application>
  <PresentationFormat>On-screen Show (16:9)</PresentationFormat>
  <Paragraphs>279</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Segoe UI</vt:lpstr>
      <vt:lpstr>Segoe UI Light</vt:lpstr>
      <vt:lpstr>Segoe UI Semilight</vt:lpstr>
      <vt:lpstr>Symbol</vt:lpstr>
      <vt:lpstr>Wingdings</vt:lpstr>
      <vt:lpstr>Wingdings 2</vt:lpstr>
      <vt:lpstr>Larissa</vt:lpstr>
      <vt:lpstr>Linux + SCOM + OMS = </vt:lpstr>
      <vt:lpstr>30 SAC (30 Seconds Audience Check)</vt:lpstr>
      <vt:lpstr>PowerPoint Presentation</vt:lpstr>
      <vt:lpstr>PowerPoint Presentation</vt:lpstr>
      <vt:lpstr>Agenda</vt:lpstr>
      <vt:lpstr>Once upon a Time…</vt:lpstr>
      <vt:lpstr>A Miracle Happened…</vt:lpstr>
      <vt:lpstr>Linux in System Center: increasing momentum</vt:lpstr>
      <vt:lpstr>Architectural Overview</vt:lpstr>
      <vt:lpstr>Built-In Monitoring</vt:lpstr>
      <vt:lpstr>Apache Monitoring Architecture</vt:lpstr>
      <vt:lpstr>Demo Apache Monitoring</vt:lpstr>
      <vt:lpstr>MySQL Monitoring Architecture</vt:lpstr>
      <vt:lpstr>Demo MySQL Monitoring</vt:lpstr>
      <vt:lpstr>Demo Overview SCOM 2016 Features</vt:lpstr>
      <vt:lpstr>OMS Agent for Linux</vt:lpstr>
      <vt:lpstr>Big Picture</vt:lpstr>
      <vt:lpstr>Architectural Overview</vt:lpstr>
      <vt:lpstr>OMS CollectD</vt:lpstr>
      <vt:lpstr>Custom Dashboard</vt:lpstr>
      <vt:lpstr>Demo: OMS Agent for Linux and CollectD Metrics</vt:lpstr>
      <vt:lpstr>OMS Syslog</vt:lpstr>
      <vt:lpstr>Demo: Syslog </vt:lpstr>
      <vt:lpstr>Additional Resources</vt:lpstr>
      <vt:lpstr>Upcoming OMS Sessions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 SCOM + OMS =</dc:title>
  <dc:subject>Slide Deck Template</dc:subject>
  <dc:creator>Stefan Roth</dc:creator>
  <cp:keywords>SCUE; SCUE16; SCU; SCU16</cp:keywords>
  <cp:lastModifiedBy>Stefan Johner</cp:lastModifiedBy>
  <cp:revision>164</cp:revision>
  <cp:lastPrinted>2016-08-24T07:55:50Z</cp:lastPrinted>
  <dcterms:created xsi:type="dcterms:W3CDTF">2016-07-18T18:32:08Z</dcterms:created>
  <dcterms:modified xsi:type="dcterms:W3CDTF">2016-08-24T13:02:39Z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0x010100AFE6CDE7E8D3854299588C462EE7158C</vt:lpwstr>
  </property>
</Properties>
</file>